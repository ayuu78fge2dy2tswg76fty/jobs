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3" clrIdx="0">
    <p:extLst>
      <p:ext uri="{19B8F6BF-5375-455C-9EA6-DF929625EA0E}">
        <p15:presenceInfo xmlns:p15="http://schemas.microsoft.com/office/powerpoint/2012/main" userId="646ffc8951fc44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Test Results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rgbClr val="1E5FA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Sheet1!$A$2:$A$7</c:f>
              <c:strCache>
                <c:ptCount val="6"/>
                <c:pt idx="0">
                  <c:v>Auth Forms</c:v>
                </c:pt>
                <c:pt idx="1">
                  <c:v>Login/Logout</c:v>
                </c:pt>
                <c:pt idx="2">
                  <c:v>Job Creation</c:v>
                </c:pt>
                <c:pt idx="3">
                  <c:v>Job Search</c:v>
                </c:pt>
                <c:pt idx="4">
                  <c:v>Application Submit</c:v>
                </c:pt>
                <c:pt idx="5">
                  <c:v>Duplicate Check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9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13295248"/>
        <c:axId val="913297968"/>
      </c:barChart>
      <c:catAx>
        <c:axId val="913295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913297968"/>
        <c:crosses val="autoZero"/>
        <c:auto val="1"/>
        <c:lblAlgn val="ctr"/>
        <c:lblOffset val="100"/>
        <c:noMultiLvlLbl val="1"/>
      </c:catAx>
      <c:valAx>
        <c:axId val="91329796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913295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Excellent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Registration</c:v>
                </c:pt>
                <c:pt idx="1">
                  <c:v>Navigation</c:v>
                </c:pt>
                <c:pt idx="2">
                  <c:v>Job Search</c:v>
                </c:pt>
                <c:pt idx="3">
                  <c:v>Apply Process</c:v>
                </c:pt>
                <c:pt idx="4">
                  <c:v>App Tracking</c:v>
                </c:pt>
                <c:pt idx="5">
                  <c:v>Overall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63</c:v>
                </c:pt>
                <c:pt idx="2">
                  <c:v>75</c:v>
                </c:pt>
                <c:pt idx="3">
                  <c:v>88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1E5FA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Registration</c:v>
                </c:pt>
                <c:pt idx="1">
                  <c:v>Navigation</c:v>
                </c:pt>
                <c:pt idx="2">
                  <c:v>Job Search</c:v>
                </c:pt>
                <c:pt idx="3">
                  <c:v>Apply Process</c:v>
                </c:pt>
                <c:pt idx="4">
                  <c:v>App Tracking</c:v>
                </c:pt>
                <c:pt idx="5">
                  <c:v>Overall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37</c:v>
                </c:pt>
                <c:pt idx="2">
                  <c:v>25</c:v>
                </c:pt>
                <c:pt idx="3">
                  <c:v>12</c:v>
                </c:pt>
                <c:pt idx="4">
                  <c:v>25</c:v>
                </c:pt>
                <c:pt idx="5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913296880"/>
        <c:axId val="913303408"/>
      </c:barChart>
      <c:catAx>
        <c:axId val="913296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913303408"/>
        <c:crosses val="autoZero"/>
        <c:auto val="1"/>
        <c:lblAlgn val="ctr"/>
        <c:lblOffset val="100"/>
        <c:noMultiLvlLbl val="1"/>
      </c:catAx>
      <c:valAx>
        <c:axId val="913303408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91329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1T05:51:37.712" idx="3">
    <p:pos x="10" y="10"/>
    <p:text>auth_user = admin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86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21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67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31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96128" y="419100"/>
            <a:ext cx="3474720" cy="3474720"/>
          </a:xfrm>
          <a:prstGeom prst="ellipse">
            <a:avLst/>
          </a:prstGeom>
          <a:solidFill>
            <a:srgbClr val="1E5FAD">
              <a:alpha val="22000"/>
            </a:srgbClr>
          </a:solidFill>
          <a:ln w="12700">
            <a:noFill/>
            <a:prstDash val="solid"/>
          </a:ln>
          <a:effectLst>
            <a:glow rad="228600">
              <a:schemeClr val="tx1">
                <a:alpha val="40000"/>
              </a:schemeClr>
            </a:glow>
            <a:reflection blurRad="6350" stA="50000" endA="300" endPos="55500" dist="50800" dir="5400000" sy="-100000" algn="bl" rotWithShape="0"/>
            <a:softEdge rad="31750"/>
          </a:effectLst>
          <a:scene3d>
            <a:camera prst="perspectiveRight"/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029" y="1306068"/>
            <a:ext cx="1554480" cy="15544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bliqueTopLeft"/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365760" y="228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PUNTLAND UNIVERSITY OF SCIENCE AND TECHNOLOGY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and Information Technology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FURSAD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Job Portal System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944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31821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Sundus Ahmed Mohamed  |  Ayub Sicid Cabdiraxman  |  Ibrahim Ahmed Abdulahi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438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Mr. Omar Gaciye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– 2027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4114800"/>
            <a:ext cx="2560320" cy="384048"/>
          </a:xfrm>
          <a:prstGeom prst="rect">
            <a:avLst/>
          </a:prstGeom>
          <a:solidFill>
            <a:srgbClr val="1E5FAD"/>
          </a:solidFill>
          <a:ln w="127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16" name="Text 13"/>
          <p:cNvSpPr/>
          <p:nvPr/>
        </p:nvSpPr>
        <p:spPr>
          <a:xfrm>
            <a:off x="365760" y="4114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DEFENSE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in Computer Science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3931920" cy="33832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87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Puntland still relies on informal, manual recruitment channels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graduates remain unemployed due to information gaps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(LinkedIn, Indeed) do not serve local needs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centralized, digital recruitment platform exists locally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Internet-driven recruitment emerged globally since mid-1990s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914400"/>
            <a:ext cx="4389120" cy="33832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987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0" y="153619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46320" y="1490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job listing source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0" y="1965960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paper-based applications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0" y="239572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candidate management for employers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0" y="282549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27797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status transparency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0" y="3255264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32095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risks via informal channels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0" y="368503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constraints limit access</a:t>
            </a:r>
            <a:endParaRPr lang="en-US" sz="1050" dirty="0"/>
          </a:p>
        </p:txBody>
      </p:sp>
      <p:sp>
        <p:nvSpPr>
          <p:cNvPr id="23" name="Shape 0"/>
          <p:cNvSpPr/>
          <p:nvPr/>
        </p:nvSpPr>
        <p:spPr>
          <a:xfrm>
            <a:off x="0" y="6096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Aim, Objectives &amp;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1A4B8C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9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50976"/>
            <a:ext cx="7726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Design, develop, and implement Fursad – a secure, user-friendly web-based job portal that modernizes recruitment in the local context.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1645920"/>
            <a:ext cx="5029200" cy="2788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1907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6916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2148840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Review existing online job portal systems &amp; best practices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457200" y="247802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Gather requirements from HR professionals &amp; job seekers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457200" y="2807208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Design Django MVT architecture with MSSQL schema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457200" y="3136392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Implement all core modules: auth, profiles, jobs, applications</a:t>
            </a:r>
            <a:endParaRPr lang="en-US" sz="980" dirty="0"/>
          </a:p>
        </p:txBody>
      </p:sp>
      <p:sp>
        <p:nvSpPr>
          <p:cNvPr id="14" name="Text 10"/>
          <p:cNvSpPr/>
          <p:nvPr/>
        </p:nvSpPr>
        <p:spPr>
          <a:xfrm>
            <a:off x="457200" y="3465576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responsive Bootstrap 5 UI (desktop &amp; mobile)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57200" y="3794760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Integrate CSRF, XSS, SQL injection &amp; RBAC security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457200" y="412394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Perform unit, integration &amp; UAT testing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532120" y="1645920"/>
            <a:ext cx="3291840" cy="2788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17190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62472" y="1691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650992" y="2176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to bridge the gap between job seekers &amp; employers digitally?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650992" y="27249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features are essential for a modern local job portal?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650992" y="32735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can Django build a secure, scalable system within academic constraints?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650992" y="38221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What testing methodologies best validate a web recruitment system?</a:t>
            </a:r>
            <a:endParaRPr lang="en-US" sz="950" dirty="0"/>
          </a:p>
        </p:txBody>
      </p:sp>
      <p:sp>
        <p:nvSpPr>
          <p:cNvPr id="24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160020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" y="14630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930M+ members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9768" y="17373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networking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9768" y="201168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White-collar focus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" y="228600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local market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960120"/>
            <a:ext cx="2651760" cy="1600200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721608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82696" y="14630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aggregator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282696" y="17373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 listings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82696" y="201168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employer control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82696" y="228600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local focus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25896" y="960120"/>
            <a:ext cx="2651760" cy="1600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574536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35624" y="14630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reviews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135624" y="17373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insights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135624" y="201168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critical mass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135624" y="228600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locally viable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2697480"/>
            <a:ext cx="85039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284088" y="2724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 — Why Django?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614363" y="281025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61664" y="269138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Auth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403011" y="2829951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14072" y="2705217"/>
            <a:ext cx="8544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ORM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223608" y="279806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345416" y="2728946"/>
            <a:ext cx="132646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 err="1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AutoCSRF</a:t>
            </a:r>
            <a:r>
              <a:rPr lang="en-US" sz="8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/XS/SQL-</a:t>
            </a:r>
            <a:r>
              <a:rPr lang="en-US" sz="800" dirty="0" err="1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</a:t>
            </a:r>
            <a:r>
              <a:rPr lang="en-US" sz="8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342657" y="2807985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511703" y="2670825"/>
            <a:ext cx="103772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architecture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6361861" y="281877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503711" y="2679969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community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7339341" y="2807985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35226" y="2661681"/>
            <a:ext cx="114862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100M+ users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320040" y="3429000"/>
            <a:ext cx="8503920" cy="114300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5"/>
          <p:cNvSpPr/>
          <p:nvPr/>
        </p:nvSpPr>
        <p:spPr>
          <a:xfrm>
            <a:off x="50292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Project Justification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02920" y="38039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Gap: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digital recruitment platform exists for Puntland's local employment market.  </a:t>
            </a: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Gap: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global platforms are inaccessible to users with limited digital literacy.  </a:t>
            </a: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Gap: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combines local focus, simplicity, and modern web security.</a:t>
            </a:r>
            <a:endParaRPr lang="en-US" sz="1000" dirty="0"/>
          </a:p>
        </p:txBody>
      </p:sp>
      <p:sp>
        <p:nvSpPr>
          <p:cNvPr id="43" name="Oval 42"/>
          <p:cNvSpPr/>
          <p:nvPr/>
        </p:nvSpPr>
        <p:spPr>
          <a:xfrm>
            <a:off x="356147" y="983361"/>
            <a:ext cx="438912" cy="438912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56147" y="978408"/>
            <a:ext cx="438912" cy="43891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249168" y="1005840"/>
            <a:ext cx="438912" cy="438912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249168" y="1003187"/>
            <a:ext cx="438912" cy="438912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6121791" y="1022648"/>
            <a:ext cx="438912" cy="438912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121791" y="1016699"/>
            <a:ext cx="438912" cy="438912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6121791" y="1014046"/>
            <a:ext cx="438912" cy="438912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121791" y="1019995"/>
            <a:ext cx="438912" cy="438912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FF0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— Agile Scrum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65960" cy="251460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502920"/>
          </a:xfrm>
          <a:prstGeom prst="rect">
            <a:avLst/>
          </a:prstGeom>
          <a:solidFill>
            <a:srgbClr val="1E5FA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Project setup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schema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Auth (Register / Login / Logout)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50592" y="960120"/>
            <a:ext cx="1965960" cy="2514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Seeker Profile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Company Profile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Posting Module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79192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81144" y="960120"/>
            <a:ext cx="1965960" cy="251460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81144" y="960120"/>
            <a:ext cx="1965960" cy="502920"/>
          </a:xfrm>
          <a:prstGeom prst="rect">
            <a:avLst/>
          </a:prstGeom>
          <a:solidFill>
            <a:srgbClr val="145A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72584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72584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Search &amp; Filter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72584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Submission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72584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9744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11696" y="960120"/>
            <a:ext cx="1965960" cy="251460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11696" y="960120"/>
            <a:ext cx="1965960" cy="502920"/>
          </a:xfrm>
          <a:prstGeom prst="rect">
            <a:avLst/>
          </a:prstGeom>
          <a:solidFill>
            <a:srgbClr val="7D660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03136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03136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Admin Dashboard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03136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UI Refinement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03136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Testing &amp; Bug Fixes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40296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566160"/>
            <a:ext cx="8503920" cy="105156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Interviews: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sessions with Mr. Omar Gaciye for guidance on requirements &amp; architecture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3756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 Surveys: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3756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responses: 85% difficulty finding jobs; 79% want tracking; 92% prioritize ease of use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7220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Analysis: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review of LinkedIn, Indeed, and Glassdoor for feature benchmarking</a:t>
            </a:r>
            <a:endParaRPr lang="en-US" sz="850" dirty="0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Django MVT (4-Layer)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969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 |  Employers  |  Administrators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12984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Bootstrap 5  •  JavaScript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8503920" cy="749808"/>
          </a:xfrm>
          <a:prstGeom prst="rect">
            <a:avLst/>
          </a:prstGeom>
          <a:solidFill>
            <a:srgbClr val="0E2F4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01368"/>
            <a:ext cx="109728" cy="7498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Application Server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Handling  •  URL Routing  •  Response Generation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21854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6.0.4 LTS  •  Python 3.12  •  WSGI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850392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88336"/>
            <a:ext cx="109728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340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2990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Architecture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1261872" cy="877824"/>
          </a:xfrm>
          <a:prstGeom prst="rect">
            <a:avLst/>
          </a:prstGeom>
          <a:solidFill>
            <a:srgbClr val="1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01952" y="3218688"/>
            <a:ext cx="1261872" cy="877824"/>
          </a:xfrm>
          <a:prstGeom prst="rect">
            <a:avLst/>
          </a:prstGeom>
          <a:solidFill>
            <a:srgbClr val="1E5F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5002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4324" y="3218688"/>
            <a:ext cx="1261872" cy="877824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1974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companyapp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3826" y="3218688"/>
            <a:ext cx="1261872" cy="877824"/>
          </a:xfrm>
          <a:prstGeom prst="rect">
            <a:avLst/>
          </a:prstGeom>
          <a:solidFill>
            <a:srgbClr val="145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0521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shaqodoonapp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99048" y="3218688"/>
            <a:ext cx="1261872" cy="877824"/>
          </a:xfrm>
          <a:prstGeom prst="rect">
            <a:avLst/>
          </a:prstGeom>
          <a:solidFill>
            <a:srgbClr val="6E2F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1979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3218688"/>
            <a:ext cx="1261872" cy="877824"/>
          </a:xfrm>
          <a:prstGeom prst="rect">
            <a:avLst/>
          </a:prstGeom>
          <a:solidFill>
            <a:srgbClr val="7D3C9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3437" y="3204135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28940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Applications: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334256"/>
            <a:ext cx="8503920" cy="640080"/>
          </a:xfrm>
          <a:prstGeom prst="rect">
            <a:avLst/>
          </a:prstGeom>
          <a:solidFill>
            <a:srgbClr val="1A0A2E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334256"/>
            <a:ext cx="109728" cy="6400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379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" y="4636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2014 (v12.0.2269.0)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0" y="4389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•  Profiles  •  Jobs  •  Applications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0" y="47183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auth_user | JobSeekerProfile | CompanyProfile | Job | JobApplication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34840" y="1676908"/>
            <a:ext cx="274320" cy="109728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563876"/>
            <a:ext cx="274320" cy="109728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4209288"/>
            <a:ext cx="274320" cy="109728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946" y="3348990"/>
            <a:ext cx="797814" cy="79781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970" y="3252470"/>
            <a:ext cx="930910" cy="93091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545" y="3499484"/>
            <a:ext cx="429657" cy="295725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992" y="3218688"/>
            <a:ext cx="749689" cy="749689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51" y="3320684"/>
            <a:ext cx="629995" cy="62999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97" y="3197352"/>
            <a:ext cx="713232" cy="71323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0" name="Shape 0"/>
          <p:cNvSpPr/>
          <p:nvPr/>
        </p:nvSpPr>
        <p:spPr>
          <a:xfrm>
            <a:off x="0" y="6096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Microsoft SQL Server 2014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1A4B8C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5097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509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 •  Version 12.0.2269.0  • 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 •  Django ORM Integration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2633472" cy="138988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508760"/>
            <a:ext cx="2633472" cy="384048"/>
          </a:xfrm>
          <a:prstGeom prst="rect">
            <a:avLst/>
          </a:prstGeom>
          <a:solidFill>
            <a:srgbClr val="1E5F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54533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19659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" y="2203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username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768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" y="2679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 (hashed)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1508760"/>
            <a:ext cx="2633472" cy="1389888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508760"/>
            <a:ext cx="2633472" cy="384048"/>
          </a:xfrm>
          <a:prstGeom prst="rect">
            <a:avLst/>
          </a:prstGeom>
          <a:solidFill>
            <a:srgbClr val="145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64408" y="154533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JobSeekerProfile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82696" y="19659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 err="1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sh_username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82696" y="2203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skills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82696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resume (FILE)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82696" y="2679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25896" y="1508760"/>
            <a:ext cx="2633472" cy="1389888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25896" y="1508760"/>
            <a:ext cx="2633472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17336" y="154533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CompanyProfile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35624" y="19659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 err="1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c_username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35624" y="2203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company_name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35624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description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35624" y="2679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lenses 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063240"/>
            <a:ext cx="2633472" cy="1389888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063240"/>
            <a:ext cx="2633472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309981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29768" y="35204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title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29768" y="3758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 (FK→Company)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29768" y="39959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job_type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29768" y="42336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is_active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172968" y="3063240"/>
            <a:ext cx="2633472" cy="1389888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172968" y="3063240"/>
            <a:ext cx="2633472" cy="384048"/>
          </a:xfrm>
          <a:prstGeom prst="rect">
            <a:avLst/>
          </a:prstGeom>
          <a:solidFill>
            <a:srgbClr val="6E2F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64408" y="309981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JobApplication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282696" y="35204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 (FK→Job)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82696" y="3758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applicant (FK→Seeker)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282696" y="39959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282696" y="42336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applied_date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20040" y="4553712"/>
            <a:ext cx="8503920" cy="411480"/>
          </a:xfrm>
          <a:prstGeom prst="rect">
            <a:avLst/>
          </a:prstGeom>
          <a:solidFill>
            <a:srgbClr val="11224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02920" y="4608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691640" y="460857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Company_DB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Job (1:N) | Job → </a:t>
            </a:r>
            <a:r>
              <a:rPr lang="en-US" sz="9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Application_DB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(1:N) | </a:t>
            </a:r>
            <a:r>
              <a:rPr lang="en-US" sz="9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shaqod_DB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Application_DB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(1:N)</a:t>
            </a:r>
            <a:endParaRPr lang="en-US" sz="900" dirty="0"/>
          </a:p>
        </p:txBody>
      </p:sp>
      <p:sp>
        <p:nvSpPr>
          <p:cNvPr id="45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331720" cy="676656"/>
          </a:xfrm>
          <a:prstGeom prst="rect">
            <a:avLst/>
          </a:prstGeom>
          <a:solidFill>
            <a:srgbClr val="3B6A9A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6968" y="1353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3.12.10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86968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2075688"/>
            <a:ext cx="2331720" cy="676656"/>
          </a:xfrm>
          <a:prstGeom prst="rect">
            <a:avLst/>
          </a:prstGeom>
          <a:solidFill>
            <a:srgbClr val="0C4B33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671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6968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6.0.4 LTS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86968" y="2423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0" y="960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0" y="1298448"/>
            <a:ext cx="2331720" cy="676656"/>
          </a:xfrm>
          <a:prstGeom prst="rect">
            <a:avLst/>
          </a:prstGeom>
          <a:solidFill>
            <a:srgbClr val="8B250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3898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1353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310128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Style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743200" y="2075688"/>
            <a:ext cx="2331720" cy="676656"/>
          </a:xfrm>
          <a:prstGeom prst="rect">
            <a:avLst/>
          </a:prstGeom>
          <a:solidFill>
            <a:srgbClr val="6F42C1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3310128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3310128" y="2423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743200" y="2852928"/>
            <a:ext cx="2331720" cy="676656"/>
          </a:xfrm>
          <a:prstGeom prst="rect">
            <a:avLst/>
          </a:prstGeom>
          <a:solidFill>
            <a:srgbClr val="8A691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3310128" y="290779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310128" y="3200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166360" y="960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Tools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166360" y="1298448"/>
            <a:ext cx="2331720" cy="676656"/>
          </a:xfrm>
          <a:prstGeom prst="rect">
            <a:avLst/>
          </a:prstGeom>
          <a:solidFill>
            <a:srgbClr val="1A3A6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38988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33288" y="1353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733288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v12.0.2269.0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166360" y="2066544"/>
            <a:ext cx="2331720" cy="676656"/>
          </a:xfrm>
          <a:prstGeom prst="rect">
            <a:avLst/>
          </a:prstGeom>
          <a:solidFill>
            <a:srgbClr val="2B2B2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27"/>
          <p:cNvSpPr/>
          <p:nvPr/>
        </p:nvSpPr>
        <p:spPr>
          <a:xfrm>
            <a:off x="5733288" y="2121408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2.40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733288" y="241401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166360" y="2843784"/>
            <a:ext cx="2331720" cy="676656"/>
          </a:xfrm>
          <a:prstGeom prst="rect">
            <a:avLst/>
          </a:prstGeom>
          <a:solidFill>
            <a:srgbClr val="0078D7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0"/>
          <p:cNvSpPr/>
          <p:nvPr/>
        </p:nvSpPr>
        <p:spPr>
          <a:xfrm>
            <a:off x="5733288" y="2898648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1.85</a:t>
            </a:r>
            <a:endParaRPr lang="en-US" sz="1050" dirty="0"/>
          </a:p>
        </p:txBody>
      </p:sp>
      <p:sp>
        <p:nvSpPr>
          <p:cNvPr id="42" name="Text 31"/>
          <p:cNvSpPr/>
          <p:nvPr/>
        </p:nvSpPr>
        <p:spPr>
          <a:xfrm>
            <a:off x="5733288" y="31912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900" dirty="0"/>
          </a:p>
        </p:txBody>
      </p:sp>
      <p:sp>
        <p:nvSpPr>
          <p:cNvPr id="47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561" y="2944368"/>
            <a:ext cx="449199" cy="44919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000" y="1751076"/>
            <a:ext cx="1726064" cy="1293876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112" y="2871216"/>
            <a:ext cx="694944" cy="69494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112" y="2112264"/>
            <a:ext cx="676075" cy="56779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1347787"/>
            <a:ext cx="614553" cy="61455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&amp; Key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33472" cy="192024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515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9768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registration paths (Seeker/Employer)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429768" y="18288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PBKDF2-SHA256 password </a:t>
            </a:r>
            <a:r>
              <a:rPr lang="en-US" sz="88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for admin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429768" y="21671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 (RBAC)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429768" y="25054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session management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172968" y="960120"/>
            <a:ext cx="2633472" cy="192024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515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82696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Seeker: skills, resume</a:t>
            </a:r>
            <a:r>
              <a:rPr lang="en-US" sz="88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3282696" y="18288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Employer: company info, logo, industry</a:t>
            </a:r>
            <a:endParaRPr lang="en-US" sz="880" dirty="0"/>
          </a:p>
        </p:txBody>
      </p:sp>
      <p:sp>
        <p:nvSpPr>
          <p:cNvPr id="16" name="Text 12"/>
          <p:cNvSpPr/>
          <p:nvPr/>
        </p:nvSpPr>
        <p:spPr>
          <a:xfrm>
            <a:off x="3282696" y="21671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upload (</a:t>
            </a:r>
            <a:r>
              <a:rPr lang="en-US" sz="88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PDF/DOC)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3282696" y="25054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photo with Pillow processing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6025896" y="960120"/>
            <a:ext cx="2633472" cy="192024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5156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56248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Management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35624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CRUD for job listings</a:t>
            </a:r>
            <a:endParaRPr lang="en-US" sz="880" dirty="0"/>
          </a:p>
        </p:txBody>
      </p:sp>
      <p:sp>
        <p:nvSpPr>
          <p:cNvPr id="22" name="Text 17"/>
          <p:cNvSpPr/>
          <p:nvPr/>
        </p:nvSpPr>
        <p:spPr>
          <a:xfrm>
            <a:off x="6135624" y="18288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types: Full-time, Part-time, Contract</a:t>
            </a:r>
            <a:endParaRPr lang="en-US" sz="880" dirty="0"/>
          </a:p>
        </p:txBody>
      </p:sp>
      <p:sp>
        <p:nvSpPr>
          <p:cNvPr id="23" name="Text 18"/>
          <p:cNvSpPr/>
          <p:nvPr/>
        </p:nvSpPr>
        <p:spPr>
          <a:xfrm>
            <a:off x="6135624" y="21671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Activate/deactivate without deleting</a:t>
            </a:r>
            <a:endParaRPr lang="en-US" sz="880" dirty="0"/>
          </a:p>
        </p:txBody>
      </p:sp>
      <p:sp>
        <p:nvSpPr>
          <p:cNvPr id="24" name="Text 19"/>
          <p:cNvSpPr/>
          <p:nvPr/>
        </p:nvSpPr>
        <p:spPr>
          <a:xfrm>
            <a:off x="6135624" y="25054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 dashboard with stats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320040" y="3063240"/>
            <a:ext cx="2633472" cy="1920240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5468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0392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&amp; Apply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29768" y="35935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search (title + description)</a:t>
            </a:r>
            <a:endParaRPr lang="en-US" sz="880" dirty="0"/>
          </a:p>
        </p:txBody>
      </p:sp>
      <p:sp>
        <p:nvSpPr>
          <p:cNvPr id="29" name="Text 23"/>
          <p:cNvSpPr/>
          <p:nvPr/>
        </p:nvSpPr>
        <p:spPr>
          <a:xfrm>
            <a:off x="429768" y="39319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location &amp; job type</a:t>
            </a:r>
            <a:endParaRPr lang="en-US" sz="880" dirty="0"/>
          </a:p>
        </p:txBody>
      </p:sp>
      <p:sp>
        <p:nvSpPr>
          <p:cNvPr id="30" name="Text 24"/>
          <p:cNvSpPr/>
          <p:nvPr/>
        </p:nvSpPr>
        <p:spPr>
          <a:xfrm>
            <a:off x="429768" y="42702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application submission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429768" y="460857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application prevention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3172968" y="3063240"/>
            <a:ext cx="2633472" cy="1920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3154680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0332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3282696" y="35935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8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display for seekers</a:t>
            </a:r>
            <a:endParaRPr lang="en-US" sz="880" dirty="0"/>
          </a:p>
        </p:txBody>
      </p:sp>
      <p:sp>
        <p:nvSpPr>
          <p:cNvPr id="36" name="Text 29"/>
          <p:cNvSpPr/>
          <p:nvPr/>
        </p:nvSpPr>
        <p:spPr>
          <a:xfrm>
            <a:off x="3282696" y="39319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Pending → Under Review → Accepted/Rejected</a:t>
            </a:r>
            <a:endParaRPr lang="en-US" sz="880" dirty="0"/>
          </a:p>
        </p:txBody>
      </p:sp>
      <p:sp>
        <p:nvSpPr>
          <p:cNvPr id="37" name="Text 30"/>
          <p:cNvSpPr/>
          <p:nvPr/>
        </p:nvSpPr>
        <p:spPr>
          <a:xfrm>
            <a:off x="3282696" y="42702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 badges (color-coded)</a:t>
            </a:r>
            <a:endParaRPr lang="en-US" sz="880" dirty="0"/>
          </a:p>
        </p:txBody>
      </p:sp>
      <p:sp>
        <p:nvSpPr>
          <p:cNvPr id="38" name="Text 31"/>
          <p:cNvSpPr/>
          <p:nvPr/>
        </p:nvSpPr>
        <p:spPr>
          <a:xfrm>
            <a:off x="3282696" y="460857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 full applicant profile view</a:t>
            </a:r>
            <a:endParaRPr lang="en-US" sz="880" dirty="0"/>
          </a:p>
        </p:txBody>
      </p:sp>
      <p:sp>
        <p:nvSpPr>
          <p:cNvPr id="39" name="Shape 32"/>
          <p:cNvSpPr/>
          <p:nvPr/>
        </p:nvSpPr>
        <p:spPr>
          <a:xfrm>
            <a:off x="6025896" y="3063240"/>
            <a:ext cx="2633472" cy="1920240"/>
          </a:xfrm>
          <a:prstGeom prst="rect">
            <a:avLst/>
          </a:prstGeom>
          <a:solidFill>
            <a:srgbClr val="5D2E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3154680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556248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135624" y="35935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built-in admin panel</a:t>
            </a:r>
            <a:endParaRPr lang="en-US" sz="880" dirty="0"/>
          </a:p>
        </p:txBody>
      </p:sp>
      <p:sp>
        <p:nvSpPr>
          <p:cNvPr id="43" name="Text 35"/>
          <p:cNvSpPr/>
          <p:nvPr/>
        </p:nvSpPr>
        <p:spPr>
          <a:xfrm>
            <a:off x="6135624" y="39319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for all models</a:t>
            </a:r>
            <a:endParaRPr lang="en-US" sz="880" dirty="0"/>
          </a:p>
        </p:txBody>
      </p:sp>
      <p:sp>
        <p:nvSpPr>
          <p:cNvPr id="44" name="Text 36"/>
          <p:cNvSpPr/>
          <p:nvPr/>
        </p:nvSpPr>
        <p:spPr>
          <a:xfrm>
            <a:off x="6135624" y="42702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Search, filter &amp; monitor platform</a:t>
            </a:r>
            <a:endParaRPr lang="en-US" sz="880" dirty="0"/>
          </a:p>
        </p:txBody>
      </p:sp>
      <p:sp>
        <p:nvSpPr>
          <p:cNvPr id="45" name="Text 37"/>
          <p:cNvSpPr/>
          <p:nvPr/>
        </p:nvSpPr>
        <p:spPr>
          <a:xfrm>
            <a:off x="6135624" y="460857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activity overview</a:t>
            </a:r>
            <a:endParaRPr lang="en-US" sz="880" dirty="0"/>
          </a:p>
        </p:txBody>
      </p:sp>
      <p:sp>
        <p:nvSpPr>
          <p:cNvPr id="46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846320" cy="397764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register as job seeker or employer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379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88720" y="1837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log in/out securely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76856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2276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create/edit profiles &amp; upload resume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1576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8872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post, edit &amp; delete job listings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8872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search and filter job listings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9359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88720" y="3593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apply for jobs with single click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32504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3250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88720" y="40325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view status of submitted applications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71416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71416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88720" y="4471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view and manage received applications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960120"/>
            <a:ext cx="3474720" cy="397764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40680" y="1399032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32120" y="142646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44768" y="14264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16733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via PBKDF2-SHA256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0680" y="2240280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32120" y="22677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4768" y="2267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25146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usable on 320px screens and above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40680" y="3081528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3212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44768" y="3108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32120" y="33558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&lt; 3 seconds under normal conditions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40680" y="3922776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32120" y="39502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44768" y="39502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32120" y="4197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with clear user messages</a:t>
            </a:r>
            <a:endParaRPr lang="en-US" sz="950" dirty="0"/>
          </a:p>
        </p:txBody>
      </p:sp>
      <p:sp>
        <p:nvSpPr>
          <p:cNvPr id="48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33472" cy="175564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515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9768" y="1472184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CsrfViewMiddleware enabled on all forms. Every form includes csrf_token tag. Prevents cross-site request forgery attacks. Invalid tokens return HTTP 403 Forbidden.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72968" y="960120"/>
            <a:ext cx="2633472" cy="1755648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515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82696" y="1472184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uses parameterized queries throughout. All database interactions filtered via ORM abstraction. All injection attempts blocked in security testing.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25896" y="960120"/>
            <a:ext cx="2633472" cy="1755648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515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6248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135624" y="1472184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HTML escaping in all Django templates. User-submitted content sanitized before rendering. All injected script tags neutralized.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20040" y="2898648"/>
            <a:ext cx="2633472" cy="1755648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99008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" y="2990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29768" y="34107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algorithm with 180,000 iterations and random salt. No plain-text passwords stored. Django password strength validators enforced.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172968" y="2898648"/>
            <a:ext cx="2633472" cy="1755648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29900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2990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282696" y="34107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 decorator on all sensitive views. Role checks prevent cross-role access (seeker ↔ employer). Unauthenticated access redirected to login page.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025896" y="2898648"/>
            <a:ext cx="2633472" cy="1755648"/>
          </a:xfrm>
          <a:prstGeom prst="rect">
            <a:avLst/>
          </a:prstGeom>
          <a:solidFill>
            <a:srgbClr val="5D2E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299008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56248" y="2990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Upload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135624" y="34107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and size validation </a:t>
            </a:r>
            <a:r>
              <a:rPr lang="en-US" sz="9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stored outside web root in </a:t>
            </a:r>
            <a:r>
              <a:rPr lang="en-US" sz="9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directory</a:t>
            </a: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Served via Django's file serving, not direct URL access.</a:t>
            </a:r>
            <a:endParaRPr lang="en-US" sz="900" dirty="0"/>
          </a:p>
        </p:txBody>
      </p:sp>
      <p:sp>
        <p:nvSpPr>
          <p:cNvPr id="28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Unit Testing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554480" cy="77724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 cases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20824" y="960120"/>
            <a:ext cx="1554480" cy="77724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0824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0824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scenarios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21608" y="960120"/>
            <a:ext cx="1554480" cy="77724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21608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22392" y="960120"/>
            <a:ext cx="1554480" cy="777240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22392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users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23176" y="960120"/>
            <a:ext cx="155448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3176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SQL/XSS/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tested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43/43 Passed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602404285"/>
              </p:ext>
            </p:extLst>
          </p:nvPr>
        </p:nvGraphicFramePr>
        <p:xfrm>
          <a:off x="320040" y="219456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623560" y="1874520"/>
            <a:ext cx="3200400" cy="29260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6072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 Results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98080" y="2286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2688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Attack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98080" y="268833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60720" y="30906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Forgery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98080" y="30906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✓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60720" y="3493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 Access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498080" y="34930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✓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60720" y="38953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Cross-Access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498080" y="38953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✓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760720" y="4297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</a:t>
            </a:r>
            <a:r>
              <a:rPr lang="en-US" sz="95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for admin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498080" y="4297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STORED ✓</a:t>
            </a:r>
            <a:endParaRPr lang="en-US" sz="900" dirty="0"/>
          </a:p>
        </p:txBody>
      </p:sp>
      <p:sp>
        <p:nvSpPr>
          <p:cNvPr id="35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-6578"/>
            <a:ext cx="8898591" cy="515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249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0"/>
            <a:ext cx="8956646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510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0"/>
            <a:ext cx="89794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323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2199640"/>
        </p:xfrm>
        <a:graphic>
          <a:graphicData uri="http://schemas.openxmlformats.org/drawingml/2006/table">
            <a:tbl>
              <a:tblPr/>
              <a:tblGrid>
                <a:gridCol w="594360"/>
                <a:gridCol w="2743200"/>
                <a:gridCol w="3886200"/>
                <a:gridCol w="822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/ Actual Outcome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 registers → completes profile → views listings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User created; profile saved; listings display correctly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 registers → posts job → job appears in search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 account &amp; job listing saved; appears in public search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Seeker applies → employer sees application → updates status → seeker sees update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Full application lifecycle with real-time status sync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Unauthenticated user attempts to apply for a job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User redirected to login page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 attempts to access employer dashboard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Redirected to home with access denied message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 deactivates job listing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disappears from public search immediately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 applies twice to the same job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Second application rejected; user sees 'already applied' message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Integration Scenarios: ALL PASSED  |  System modules interact correctly across all tested workflows</a:t>
            </a:r>
            <a:endParaRPr lang="en-US" sz="1050" dirty="0"/>
          </a:p>
        </p:txBody>
      </p:sp>
      <p:sp>
        <p:nvSpPr>
          <p:cNvPr id="7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5097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Participants: 4 Job Seekers (recent graduates) + 4 HR Professionals as Employers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29844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298448"/>
            <a:ext cx="2971800" cy="804672"/>
          </a:xfrm>
          <a:prstGeom prst="rect">
            <a:avLst/>
          </a:prstGeom>
          <a:solidFill>
            <a:srgbClr val="0A3A2A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335024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32320" y="140817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Good or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Overall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231136"/>
            <a:ext cx="2971800" cy="804672"/>
          </a:xfrm>
          <a:prstGeom prst="rect">
            <a:avLst/>
          </a:prstGeom>
          <a:solidFill>
            <a:srgbClr val="0A2A3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267712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132320" y="234086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Apply Process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3163824"/>
            <a:ext cx="2971800" cy="804672"/>
          </a:xfrm>
          <a:prstGeom prst="rect">
            <a:avLst/>
          </a:prstGeom>
          <a:solidFill>
            <a:srgbClr val="2A200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32004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132320" y="327355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4096512"/>
            <a:ext cx="2971800" cy="804672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4133088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132320" y="4206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004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Feedback: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240280" y="48463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&amp; professional interface"  •  "Application tracking feature was excellent"  •  "Significant improvement over paper-based processes"</a:t>
            </a:r>
            <a:endParaRPr lang="en-US" sz="900" dirty="0"/>
          </a:p>
        </p:txBody>
      </p:sp>
      <p:sp>
        <p:nvSpPr>
          <p:cNvPr id="20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 — All Requirements Met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781300"/>
        </p:xfrm>
        <a:graphic>
          <a:graphicData uri="http://schemas.openxmlformats.org/drawingml/2006/table">
            <a:tbl>
              <a:tblPr/>
              <a:tblGrid>
                <a:gridCol w="640080"/>
                <a:gridCol w="1051560"/>
                <a:gridCol w="5852160"/>
                <a:gridCol w="9601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Requirement Description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Users register as job seeker or employer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Registered users log in and log out securely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create/edit profiles, upload resume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Employers post, edit, and delete job listings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search and filter job listings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apply for jobs with single click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view status of submitted applications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Employers view and manage received applications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Security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Passwords hashed using PBKDF2-SHA256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Usability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System usable on screens 320px and above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Performance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Page load times under three seconds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Reliability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System handles user errors gracefully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 Requirements — 100% Fully Met</a:t>
            </a:r>
            <a:endParaRPr lang="en-US" sz="1100" dirty="0"/>
          </a:p>
        </p:txBody>
      </p:sp>
      <p:sp>
        <p:nvSpPr>
          <p:cNvPr id="7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Contributions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33472" cy="274320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241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Contributions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554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" y="1554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deployable web application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06654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" y="206654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real recruitment problems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57860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5528" y="25786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roles with distinct dashboards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09067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5528" y="309067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defined requirements fulfilled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3172968" y="960120"/>
            <a:ext cx="2633472" cy="274320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1024128"/>
            <a:ext cx="411480" cy="4114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767328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55448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648456" y="1554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with MS SQL Server integration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066544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648456" y="206654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passing unit tests &amp; 7 integration scenarios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578608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648456" y="25786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 (CSRF, XSS, SQLi, RBAC)</a:t>
            </a:r>
            <a:endParaRPr lang="en-US" sz="9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090672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648456" y="309067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Bootstrap 5 UI (320px+)</a:t>
            </a:r>
            <a:endParaRPr lang="en-US" sz="950" dirty="0"/>
          </a:p>
        </p:txBody>
      </p:sp>
      <p:sp>
        <p:nvSpPr>
          <p:cNvPr id="26" name="Shape 14"/>
          <p:cNvSpPr/>
          <p:nvPr/>
        </p:nvSpPr>
        <p:spPr>
          <a:xfrm>
            <a:off x="6025896" y="960120"/>
            <a:ext cx="2633472" cy="274320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1024128"/>
            <a:ext cx="411480" cy="4114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620256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Contributions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554480"/>
            <a:ext cx="274320" cy="27432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501384" y="1554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modern web dev for local context</a:t>
            </a:r>
            <a:endParaRPr lang="en-US" sz="95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66544"/>
            <a:ext cx="274320" cy="27432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501384" y="206654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applied end-to-end</a:t>
            </a:r>
            <a:endParaRPr lang="en-US" sz="95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578608"/>
            <a:ext cx="274320" cy="27432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501384" y="25786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technology for social impact</a:t>
            </a:r>
            <a:endParaRPr lang="en-US" sz="95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090672"/>
            <a:ext cx="274320" cy="27432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501384" y="309067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future developers in the region</a:t>
            </a:r>
            <a:endParaRPr lang="en-US" sz="950" dirty="0"/>
          </a:p>
        </p:txBody>
      </p:sp>
      <p:sp>
        <p:nvSpPr>
          <p:cNvPr id="37" name="Shape 20"/>
          <p:cNvSpPr/>
          <p:nvPr/>
        </p:nvSpPr>
        <p:spPr>
          <a:xfrm>
            <a:off x="320040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21"/>
          <p:cNvSpPr/>
          <p:nvPr/>
        </p:nvSpPr>
        <p:spPr>
          <a:xfrm>
            <a:off x="320040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39" name="Text 22"/>
          <p:cNvSpPr/>
          <p:nvPr/>
        </p:nvSpPr>
        <p:spPr>
          <a:xfrm>
            <a:off x="32004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850" dirty="0"/>
          </a:p>
        </p:txBody>
      </p:sp>
      <p:sp>
        <p:nvSpPr>
          <p:cNvPr id="40" name="Shape 23"/>
          <p:cNvSpPr/>
          <p:nvPr/>
        </p:nvSpPr>
        <p:spPr>
          <a:xfrm>
            <a:off x="2020824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24"/>
          <p:cNvSpPr/>
          <p:nvPr/>
        </p:nvSpPr>
        <p:spPr>
          <a:xfrm>
            <a:off x="2020824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2200" dirty="0"/>
          </a:p>
        </p:txBody>
      </p:sp>
      <p:sp>
        <p:nvSpPr>
          <p:cNvPr id="42" name="Text 25"/>
          <p:cNvSpPr/>
          <p:nvPr/>
        </p:nvSpPr>
        <p:spPr>
          <a:xfrm>
            <a:off x="2020824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Scenarios</a:t>
            </a:r>
            <a:endParaRPr lang="en-US" sz="850" dirty="0"/>
          </a:p>
        </p:txBody>
      </p:sp>
      <p:sp>
        <p:nvSpPr>
          <p:cNvPr id="43" name="Shape 26"/>
          <p:cNvSpPr/>
          <p:nvPr/>
        </p:nvSpPr>
        <p:spPr>
          <a:xfrm>
            <a:off x="3721608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27"/>
          <p:cNvSpPr/>
          <p:nvPr/>
        </p:nvSpPr>
        <p:spPr>
          <a:xfrm>
            <a:off x="3721608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45" name="Text 28"/>
          <p:cNvSpPr/>
          <p:nvPr/>
        </p:nvSpPr>
        <p:spPr>
          <a:xfrm>
            <a:off x="3721608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Satisfaction</a:t>
            </a:r>
            <a:endParaRPr lang="en-US" sz="850" dirty="0"/>
          </a:p>
        </p:txBody>
      </p:sp>
      <p:sp>
        <p:nvSpPr>
          <p:cNvPr id="46" name="Shape 29"/>
          <p:cNvSpPr/>
          <p:nvPr/>
        </p:nvSpPr>
        <p:spPr>
          <a:xfrm>
            <a:off x="5422392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30"/>
          <p:cNvSpPr/>
          <p:nvPr/>
        </p:nvSpPr>
        <p:spPr>
          <a:xfrm>
            <a:off x="5422392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2200" dirty="0"/>
          </a:p>
        </p:txBody>
      </p:sp>
      <p:sp>
        <p:nvSpPr>
          <p:cNvPr id="48" name="Text 31"/>
          <p:cNvSpPr/>
          <p:nvPr/>
        </p:nvSpPr>
        <p:spPr>
          <a:xfrm>
            <a:off x="5422392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850" dirty="0"/>
          </a:p>
        </p:txBody>
      </p:sp>
      <p:sp>
        <p:nvSpPr>
          <p:cNvPr id="49" name="Shape 32"/>
          <p:cNvSpPr/>
          <p:nvPr/>
        </p:nvSpPr>
        <p:spPr>
          <a:xfrm>
            <a:off x="7123176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33"/>
          <p:cNvSpPr/>
          <p:nvPr/>
        </p:nvSpPr>
        <p:spPr>
          <a:xfrm>
            <a:off x="7123176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1" name="Text 34"/>
          <p:cNvSpPr/>
          <p:nvPr/>
        </p:nvSpPr>
        <p:spPr>
          <a:xfrm>
            <a:off x="7123176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850" dirty="0"/>
          </a:p>
        </p:txBody>
      </p:sp>
      <p:sp>
        <p:nvSpPr>
          <p:cNvPr id="5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3931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4813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Fursad is a fully functional, secure web-based job portal</a:t>
            </a:r>
            <a:endParaRPr lang="en-US" sz="98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9808" y="19385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addresses informal recruitment challenges in Puntland</a:t>
            </a:r>
            <a:endParaRPr lang="en-US" sz="98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" y="23957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+ MSSQL proved ideal for this multi-role platform</a:t>
            </a:r>
            <a:endParaRPr lang="en-US" sz="98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808" y="28529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requirements met; 100% UAT satisfaction achieved</a:t>
            </a:r>
            <a:endParaRPr lang="en-US" sz="98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9808" y="33101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modern web tech can solve local real-world problems</a:t>
            </a:r>
            <a:endParaRPr lang="en-US" sz="98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19456" cy="2194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49808" y="37673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ensured structured, iterative delivery</a:t>
            </a:r>
            <a:endParaRPr lang="en-US" sz="98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1960"/>
            <a:ext cx="219456" cy="21945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49808" y="42245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 ready for deployment and further development</a:t>
            </a:r>
            <a:endParaRPr lang="en-US" sz="980" dirty="0"/>
          </a:p>
        </p:txBody>
      </p:sp>
      <p:sp>
        <p:nvSpPr>
          <p:cNvPr id="21" name="Shape 11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24128"/>
            <a:ext cx="384048" cy="38404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30368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4" name="Shape 13"/>
          <p:cNvSpPr/>
          <p:nvPr/>
        </p:nvSpPr>
        <p:spPr>
          <a:xfrm>
            <a:off x="4773168" y="15087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5065776" y="14813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Notifications: </a:t>
            </a:r>
            <a:endParaRPr lang="en-US" sz="950" dirty="0"/>
          </a:p>
        </p:txBody>
      </p:sp>
      <p:sp>
        <p:nvSpPr>
          <p:cNvPr id="26" name="Text 15"/>
          <p:cNvSpPr/>
          <p:nvPr/>
        </p:nvSpPr>
        <p:spPr>
          <a:xfrm>
            <a:off x="5065776" y="16642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alerts via SendGrid/Mailgun on status changes</a:t>
            </a:r>
            <a:endParaRPr lang="en-US" sz="850" dirty="0"/>
          </a:p>
        </p:txBody>
      </p:sp>
      <p:sp>
        <p:nvSpPr>
          <p:cNvPr id="27" name="Shape 16"/>
          <p:cNvSpPr/>
          <p:nvPr/>
        </p:nvSpPr>
        <p:spPr>
          <a:xfrm>
            <a:off x="4773168" y="19659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065776" y="19385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Matching: </a:t>
            </a:r>
            <a:endParaRPr lang="en-US" sz="950" dirty="0"/>
          </a:p>
        </p:txBody>
      </p:sp>
      <p:sp>
        <p:nvSpPr>
          <p:cNvPr id="29" name="Text 18"/>
          <p:cNvSpPr/>
          <p:nvPr/>
        </p:nvSpPr>
        <p:spPr>
          <a:xfrm>
            <a:off x="5065776" y="21214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NLP recommendation engine</a:t>
            </a:r>
            <a:endParaRPr lang="en-US" sz="850" dirty="0"/>
          </a:p>
        </p:txBody>
      </p:sp>
      <p:sp>
        <p:nvSpPr>
          <p:cNvPr id="30" name="Shape 19"/>
          <p:cNvSpPr/>
          <p:nvPr/>
        </p:nvSpPr>
        <p:spPr>
          <a:xfrm>
            <a:off x="4773168" y="24231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5065776" y="23957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App: 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5065776" y="25786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with Django REST API</a:t>
            </a:r>
            <a:endParaRPr lang="en-US" sz="850" dirty="0"/>
          </a:p>
        </p:txBody>
      </p:sp>
      <p:sp>
        <p:nvSpPr>
          <p:cNvPr id="33" name="Shape 22"/>
          <p:cNvSpPr/>
          <p:nvPr/>
        </p:nvSpPr>
        <p:spPr>
          <a:xfrm>
            <a:off x="4773168" y="28803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5065776" y="28529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Messaging: 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065776" y="30358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 + WebSockets for employer-seeker chat</a:t>
            </a:r>
            <a:endParaRPr lang="en-US" sz="850" dirty="0"/>
          </a:p>
        </p:txBody>
      </p:sp>
      <p:sp>
        <p:nvSpPr>
          <p:cNvPr id="36" name="Shape 25"/>
          <p:cNvSpPr/>
          <p:nvPr/>
        </p:nvSpPr>
        <p:spPr>
          <a:xfrm>
            <a:off x="4773168" y="33375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5065776" y="33101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Dashboard: 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5065776" y="34930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usage, job market trends, skills insights</a:t>
            </a:r>
            <a:endParaRPr lang="en-US" sz="850" dirty="0"/>
          </a:p>
        </p:txBody>
      </p:sp>
      <p:sp>
        <p:nvSpPr>
          <p:cNvPr id="39" name="Shape 28"/>
          <p:cNvSpPr/>
          <p:nvPr/>
        </p:nvSpPr>
        <p:spPr>
          <a:xfrm>
            <a:off x="4773168" y="37947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065776" y="37673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Authentication: </a:t>
            </a:r>
            <a:endParaRPr lang="en-US" sz="950" dirty="0"/>
          </a:p>
        </p:txBody>
      </p:sp>
      <p:sp>
        <p:nvSpPr>
          <p:cNvPr id="41" name="Text 30"/>
          <p:cNvSpPr/>
          <p:nvPr/>
        </p:nvSpPr>
        <p:spPr>
          <a:xfrm>
            <a:off x="5065776" y="39502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2.0: Google / LinkedIn sign-in</a:t>
            </a:r>
            <a:endParaRPr lang="en-US" sz="850" dirty="0"/>
          </a:p>
        </p:txBody>
      </p:sp>
      <p:sp>
        <p:nvSpPr>
          <p:cNvPr id="42" name="Shape 31"/>
          <p:cNvSpPr/>
          <p:nvPr/>
        </p:nvSpPr>
        <p:spPr>
          <a:xfrm>
            <a:off x="4773168" y="42519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065776" y="42245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Parsing: 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5065776" y="44074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 profile from uploaded resume files</a:t>
            </a:r>
            <a:endParaRPr lang="en-US" sz="850" dirty="0"/>
          </a:p>
        </p:txBody>
      </p:sp>
      <p:sp>
        <p:nvSpPr>
          <p:cNvPr id="45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822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FURSAD — Web-Based Job Portal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30428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423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Puntland University of Science and Technology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B.Sc. Graduation Project  |  2026–2027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33649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Sundus Ahmed Mohamed  |  Ayub Sicid Cabdiraxman  |  Ibrahim Ahmed Abdulahi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36210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Mr. Omar Gaciye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4206240"/>
            <a:ext cx="3200400" cy="457200"/>
          </a:xfrm>
          <a:prstGeom prst="rect">
            <a:avLst/>
          </a:prstGeom>
          <a:solidFill>
            <a:srgbClr val="1E5FA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7" name="Shape 1"/>
          <p:cNvSpPr/>
          <p:nvPr/>
        </p:nvSpPr>
        <p:spPr>
          <a:xfrm>
            <a:off x="5596128" y="419100"/>
            <a:ext cx="3474720" cy="3474720"/>
          </a:xfrm>
          <a:prstGeom prst="ellipse">
            <a:avLst/>
          </a:prstGeom>
          <a:solidFill>
            <a:srgbClr val="1E5FAD">
              <a:alpha val="22000"/>
            </a:srgbClr>
          </a:solidFill>
          <a:ln w="12700">
            <a:noFill/>
            <a:prstDash val="solid"/>
          </a:ln>
          <a:effectLst>
            <a:glow rad="228600">
              <a:schemeClr val="tx1">
                <a:alpha val="40000"/>
              </a:schemeClr>
            </a:glow>
            <a:reflection blurRad="6350" stA="50000" endA="300" endPos="55500" dist="50800" dir="5400000" sy="-100000" algn="bl" rotWithShape="0"/>
            <a:softEdge rad="31750"/>
          </a:effectLst>
          <a:scene3d>
            <a:camera prst="perspectiveRight"/>
            <a:lightRig rig="contrasting" dir="t">
              <a:rot lat="0" lon="0" rev="7800000"/>
            </a:lightRig>
          </a:scene3d>
          <a:sp3d>
            <a:bevelT w="139700" h="139700"/>
          </a:sp3d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029" y="1306068"/>
            <a:ext cx="1554480" cy="15544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bliqueTopLeft"/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4">
    <wetp:webextensionref xmlns:r="http://schemas.openxmlformats.org/officeDocument/2006/relationships" r:id="rId1"/>
  </wetp:taskpane>
  <wetp:taskpane dockstate="right" visibility="0" width="437" row="5">
    <wetp:webextensionref xmlns:r="http://schemas.openxmlformats.org/officeDocument/2006/relationships" r:id="rId2"/>
  </wetp:taskpane>
  <wetp:taskpane dockstate="right" visibility="0" width="437" row="6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6CFF6EB5-FBEC-4912-A2C7-64E011047A08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8CFACEC-D101-4ACD-AF75-02940A33652A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46E8300-5AE2-419E-A9D3-7C8A80304B2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1965</Words>
  <Application>Microsoft Office PowerPoint</Application>
  <PresentationFormat>On-screen Show (16:9)</PresentationFormat>
  <Paragraphs>453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Fursad – Web-Based Job Portal System</dc:title>
  <dc:subject>PptxGenJS Presentation</dc:subject>
  <dc:creator>PptxGenJS</dc:creator>
  <cp:lastModifiedBy>Microsoft account</cp:lastModifiedBy>
  <cp:revision>39</cp:revision>
  <dcterms:created xsi:type="dcterms:W3CDTF">2026-06-08T19:47:14Z</dcterms:created>
  <dcterms:modified xsi:type="dcterms:W3CDTF">2026-06-13T08:04:45Z</dcterms:modified>
</cp:coreProperties>
</file>