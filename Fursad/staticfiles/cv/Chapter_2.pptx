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82" r:id="rId2"/>
    <p:sldId id="265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85" r:id="rId16"/>
    <p:sldId id="279" r:id="rId17"/>
    <p:sldId id="280" r:id="rId18"/>
    <p:sldId id="283" r:id="rId19"/>
    <p:sldId id="284" r:id="rId20"/>
    <p:sldId id="286" r:id="rId21"/>
    <p:sldId id="287" r:id="rId22"/>
    <p:sldId id="288" r:id="rId23"/>
    <p:sldId id="289" r:id="rId24"/>
    <p:sldId id="290" r:id="rId25"/>
    <p:sldId id="281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759BC"/>
    <a:srgbClr val="69D8FF"/>
    <a:srgbClr val="FFFFFF"/>
    <a:srgbClr val="3FE8FF"/>
    <a:srgbClr val="FF9B9B"/>
    <a:srgbClr val="309C2F"/>
    <a:srgbClr val="214DA4"/>
    <a:srgbClr val="285DC5"/>
    <a:srgbClr val="295C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0921" autoAdjust="0"/>
  </p:normalViewPr>
  <p:slideViewPr>
    <p:cSldViewPr snapToGrid="0">
      <p:cViewPr varScale="1">
        <p:scale>
          <a:sx n="60" d="100"/>
          <a:sy n="60" d="100"/>
        </p:scale>
        <p:origin x="90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38D1FD6-05EF-41F9-84F8-7CFF19E5C612}" type="doc">
      <dgm:prSet loTypeId="urn:microsoft.com/office/officeart/2005/8/layout/b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8525583-F746-4C99-B17E-A0E82D496E2E}">
      <dgm:prSet/>
      <dgm:spPr/>
      <dgm:t>
        <a:bodyPr/>
        <a:lstStyle/>
        <a:p>
          <a:r>
            <a:rPr lang="en-US" dirty="0">
              <a:latin typeface="Bahnschrift" panose="020B0502040204020203" pitchFamily="34" charset="0"/>
            </a:rPr>
            <a:t>ANY QUESTIONS?</a:t>
          </a:r>
        </a:p>
      </dgm:t>
    </dgm:pt>
    <dgm:pt modelId="{115B036B-381B-4834-8CC8-E493DF9BE158}" type="parTrans" cxnId="{4D100C1A-1823-4988-A4D1-5D038905C4DC}">
      <dgm:prSet/>
      <dgm:spPr/>
      <dgm:t>
        <a:bodyPr/>
        <a:lstStyle/>
        <a:p>
          <a:endParaRPr lang="en-US"/>
        </a:p>
      </dgm:t>
    </dgm:pt>
    <dgm:pt modelId="{CD4308D5-D97E-4AEA-B546-BE05C9AD046F}" type="sibTrans" cxnId="{4D100C1A-1823-4988-A4D1-5D038905C4DC}">
      <dgm:prSet/>
      <dgm:spPr/>
      <dgm:t>
        <a:bodyPr/>
        <a:lstStyle/>
        <a:p>
          <a:endParaRPr lang="en-US"/>
        </a:p>
      </dgm:t>
    </dgm:pt>
    <dgm:pt modelId="{E983CA72-7AEE-4057-A275-DAE2250DF5DF}" type="pres">
      <dgm:prSet presAssocID="{B38D1FD6-05EF-41F9-84F8-7CFF19E5C612}" presName="diagram" presStyleCnt="0">
        <dgm:presLayoutVars>
          <dgm:dir/>
          <dgm:animLvl val="lvl"/>
          <dgm:resizeHandles val="exact"/>
        </dgm:presLayoutVars>
      </dgm:prSet>
      <dgm:spPr/>
    </dgm:pt>
    <dgm:pt modelId="{BDE3A3D0-B4C7-4078-B267-1231591683B5}" type="pres">
      <dgm:prSet presAssocID="{D8525583-F746-4C99-B17E-A0E82D496E2E}" presName="compNode" presStyleCnt="0"/>
      <dgm:spPr/>
    </dgm:pt>
    <dgm:pt modelId="{8CD94552-2A91-42C7-AD04-AF60AFDB9FB6}" type="pres">
      <dgm:prSet presAssocID="{D8525583-F746-4C99-B17E-A0E82D496E2E}" presName="childRect" presStyleLbl="bgAcc1" presStyleIdx="0" presStyleCnt="1">
        <dgm:presLayoutVars>
          <dgm:bulletEnabled val="1"/>
        </dgm:presLayoutVars>
      </dgm:prSet>
      <dgm:spPr/>
    </dgm:pt>
    <dgm:pt modelId="{ED0713CB-217C-4C72-9C6D-CE514FEFC66C}" type="pres">
      <dgm:prSet presAssocID="{D8525583-F746-4C99-B17E-A0E82D496E2E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5D4E7B17-D64C-432E-946A-C86509FE047C}" type="pres">
      <dgm:prSet presAssocID="{D8525583-F746-4C99-B17E-A0E82D496E2E}" presName="parentRect" presStyleLbl="alignNode1" presStyleIdx="0" presStyleCnt="1"/>
      <dgm:spPr/>
    </dgm:pt>
    <dgm:pt modelId="{C52746C6-54F6-42B5-9945-37BE65E5EF1D}" type="pres">
      <dgm:prSet presAssocID="{D8525583-F746-4C99-B17E-A0E82D496E2E}" presName="adorn" presStyleLbl="fgAccFollowNode1" presStyleIdx="0" presStyleCnt="1"/>
      <dgm:spPr>
        <a:blipFill>
          <a:blip xmlns:r="http://schemas.openxmlformats.org/officeDocument/2006/relationships" r:embed="rId1"/>
          <a:srcRect/>
          <a:stretch>
            <a:fillRect l="-29000" r="-29000"/>
          </a:stretch>
        </a:blipFill>
      </dgm:spPr>
    </dgm:pt>
  </dgm:ptLst>
  <dgm:cxnLst>
    <dgm:cxn modelId="{4D100C1A-1823-4988-A4D1-5D038905C4DC}" srcId="{B38D1FD6-05EF-41F9-84F8-7CFF19E5C612}" destId="{D8525583-F746-4C99-B17E-A0E82D496E2E}" srcOrd="0" destOrd="0" parTransId="{115B036B-381B-4834-8CC8-E493DF9BE158}" sibTransId="{CD4308D5-D97E-4AEA-B546-BE05C9AD046F}"/>
    <dgm:cxn modelId="{1696531A-26D2-486B-B7D8-339ACDFAE5FD}" type="presOf" srcId="{B38D1FD6-05EF-41F9-84F8-7CFF19E5C612}" destId="{E983CA72-7AEE-4057-A275-DAE2250DF5DF}" srcOrd="0" destOrd="0" presId="urn:microsoft.com/office/officeart/2005/8/layout/bList2"/>
    <dgm:cxn modelId="{F6037331-CA01-40DD-AC06-8ADE08726E28}" type="presOf" srcId="{D8525583-F746-4C99-B17E-A0E82D496E2E}" destId="{5D4E7B17-D64C-432E-946A-C86509FE047C}" srcOrd="1" destOrd="0" presId="urn:microsoft.com/office/officeart/2005/8/layout/bList2"/>
    <dgm:cxn modelId="{3F0EB1DE-D437-4771-A3FF-E67AE9E6816F}" type="presOf" srcId="{D8525583-F746-4C99-B17E-A0E82D496E2E}" destId="{ED0713CB-217C-4C72-9C6D-CE514FEFC66C}" srcOrd="0" destOrd="0" presId="urn:microsoft.com/office/officeart/2005/8/layout/bList2"/>
    <dgm:cxn modelId="{93B08BCE-3016-4780-8CDD-90D580161D26}" type="presParOf" srcId="{E983CA72-7AEE-4057-A275-DAE2250DF5DF}" destId="{BDE3A3D0-B4C7-4078-B267-1231591683B5}" srcOrd="0" destOrd="0" presId="urn:microsoft.com/office/officeart/2005/8/layout/bList2"/>
    <dgm:cxn modelId="{5E729288-6736-45AC-82CD-D6D7182CCF8D}" type="presParOf" srcId="{BDE3A3D0-B4C7-4078-B267-1231591683B5}" destId="{8CD94552-2A91-42C7-AD04-AF60AFDB9FB6}" srcOrd="0" destOrd="0" presId="urn:microsoft.com/office/officeart/2005/8/layout/bList2"/>
    <dgm:cxn modelId="{B86B71CC-4D21-4158-A0C0-69A91303131B}" type="presParOf" srcId="{BDE3A3D0-B4C7-4078-B267-1231591683B5}" destId="{ED0713CB-217C-4C72-9C6D-CE514FEFC66C}" srcOrd="1" destOrd="0" presId="urn:microsoft.com/office/officeart/2005/8/layout/bList2"/>
    <dgm:cxn modelId="{DDAFCF50-E1CE-448E-9083-DB9CE3CDE975}" type="presParOf" srcId="{BDE3A3D0-B4C7-4078-B267-1231591683B5}" destId="{5D4E7B17-D64C-432E-946A-C86509FE047C}" srcOrd="2" destOrd="0" presId="urn:microsoft.com/office/officeart/2005/8/layout/bList2"/>
    <dgm:cxn modelId="{9071D028-27DC-48ED-AEE1-0316F9CD324D}" type="presParOf" srcId="{BDE3A3D0-B4C7-4078-B267-1231591683B5}" destId="{C52746C6-54F6-42B5-9945-37BE65E5EF1D}" srcOrd="3" destOrd="0" presId="urn:microsoft.com/office/officeart/2005/8/layout/b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D94552-2A91-42C7-AD04-AF60AFDB9FB6}">
      <dsp:nvSpPr>
        <dsp:cNvPr id="0" name=""/>
        <dsp:cNvSpPr/>
      </dsp:nvSpPr>
      <dsp:spPr>
        <a:xfrm>
          <a:off x="3421910" y="3427"/>
          <a:ext cx="4658950" cy="3477808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4E7B17-D64C-432E-946A-C86509FE047C}">
      <dsp:nvSpPr>
        <dsp:cNvPr id="0" name=""/>
        <dsp:cNvSpPr/>
      </dsp:nvSpPr>
      <dsp:spPr>
        <a:xfrm>
          <a:off x="3421910" y="3481235"/>
          <a:ext cx="4658950" cy="14954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0" rIns="53340" bIns="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>
              <a:latin typeface="Bahnschrift" panose="020B0502040204020203" pitchFamily="34" charset="0"/>
            </a:rPr>
            <a:t>ANY QUESTIONS?</a:t>
          </a:r>
        </a:p>
      </dsp:txBody>
      <dsp:txXfrm>
        <a:off x="3421910" y="3481235"/>
        <a:ext cx="3280951" cy="1495457"/>
      </dsp:txXfrm>
    </dsp:sp>
    <dsp:sp modelId="{C52746C6-54F6-42B5-9945-37BE65E5EF1D}">
      <dsp:nvSpPr>
        <dsp:cNvPr id="0" name=""/>
        <dsp:cNvSpPr/>
      </dsp:nvSpPr>
      <dsp:spPr>
        <a:xfrm>
          <a:off x="6834656" y="3718775"/>
          <a:ext cx="1630632" cy="1630632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 l="-29000" r="-29000"/>
          </a:stretch>
        </a:blip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List2">
  <dgm:title val=""/>
  <dgm:desc val=""/>
  <dgm:catLst>
    <dgm:cat type="list" pri="7000"/>
    <dgm:cat type="convert" pri="16000"/>
    <dgm:cat type="picture" pri="28000"/>
    <dgm:cat type="pictureconvert" pri="28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dir/>
      <dgm:animLvl val="lvl"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08"/>
      <dgm:constr type="sp" refType="w" refFor="ch" refForName="compNode" op="equ" fact="0.16"/>
      <dgm:constr type="primFontSz" for="des" forName="parentText" op="equ" val="65"/>
      <dgm:constr type="primFontSz" for="des" forName="childRect" op="equ" val="65"/>
    </dgm:constrLst>
    <dgm:ruleLst/>
    <dgm:forEach name="nodesForEach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/>
        <dgm:choose name="Name3">
          <dgm:if name="Name4" axis="self" func="var" arg="dir" op="equ" val="norm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l" for="ch" forName="childRect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l" for="ch" forName="parentText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l" for="ch" forName="parentRect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r" for="ch" forName="adorn" refType="w"/>
            </dgm:constrLst>
          </dgm:if>
          <dgm:else name="Name5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r" for="ch" forName="childRect" refType="w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r" for="ch" forName="parentText" refType="w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r" for="ch" forName="parentRect" refType="w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l" for="ch" forName="adorn"/>
            </dgm:constrLst>
          </dgm:else>
        </dgm:choose>
        <dgm:ruleLst/>
        <dgm:layoutNode name="childRect" styleLbl="b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2SameRect" r:blip="">
            <dgm:adjLst>
              <dgm:adj idx="1" val="0.08"/>
            </dgm:adjLst>
          </dgm:shape>
          <dgm:presOf axis="des" ptType="node"/>
          <dgm:constrLst>
            <dgm:constr type="secFontSz" refType="primFontSz"/>
            <dgm:constr type="tMarg" refType="primFontSz" fact="0.3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Text">
          <dgm:varLst>
            <dgm:chMax val="0"/>
            <dgm:bulletEnabled val="1"/>
          </dgm:varLst>
          <dgm:choose name="Name6">
            <dgm:if name="Name7" func="var" arg="dir" op="equ" val="norm">
              <dgm:alg type="tx">
                <dgm:param type="parTxLTRAlign" val="l"/>
                <dgm:param type="parTxRTLAlign" val="l"/>
              </dgm:alg>
            </dgm:if>
            <dgm:else name="Name8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ect" r:blip="" zOrderOff="1" hideGeom="1">
            <dgm:adjLst/>
          </dgm:shape>
          <dgm:presOf axis="self" ptType="node"/>
          <dgm:constrLst>
            <dgm:constr type="tMarg"/>
            <dgm:constr type="bMarg"/>
            <dgm:constr type="lMarg" refType="primFontSz" fact="0.3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Rect" styleLbl="alignNode1">
          <dgm:alg type="sp"/>
          <dgm:shape xmlns:r="http://schemas.openxmlformats.org/officeDocument/2006/relationships" type="rect" r:blip="">
            <dgm:adjLst/>
          </dgm:shape>
          <dgm:presOf axis="self" ptType="node"/>
          <dgm:constrLst/>
          <dgm:ruleLst/>
        </dgm:layoutNode>
        <dgm:layoutNode name="adorn" styleLbl="fgAccFollowNod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w" val="1"/>
            <dgm:constr type="h" refType="w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12A8B7-4080-4A5F-880E-A36915E81067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F1641B-CEE4-402A-B057-C922B46C47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61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1DD66-CE3E-4D2B-AD80-5234E022FE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477934-A6D3-492E-8132-2E3CB35260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005DC-1860-4F37-ABC3-B62CFB96E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1AF7D-E318-4EA4-977A-FA1E299321FE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56E488-DE01-4EF7-B9C3-37623F174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83F2FC-6808-4728-AEA6-DBC1AAA5D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CAF70-6121-403F-A3EA-FC9CDBB66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041853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DE107-6922-4AF6-919F-1E780C8AF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5D39B-589D-4353-8D08-45E5615FE1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42065B-D1BF-4CD8-A03C-D336488B7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1AF7D-E318-4EA4-977A-FA1E299321FE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961DF-B612-4553-B7B5-017B2455A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5F8D41-5B15-4ED6-80D9-FF9876099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CAF70-6121-403F-A3EA-FC9CDBB66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561574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01802-A291-4043-BE20-3378DA471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CE5049-6F2E-4C5F-BF52-92AC771722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556C5B-BF6D-4B21-9556-DCF933458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1AF7D-E318-4EA4-977A-FA1E299321FE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3FB397-3668-41DB-BD3F-02A3CD437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9774FE-1168-48A6-A93C-6ED8BA274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CAF70-6121-403F-A3EA-FC9CDBB66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859791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F32C3-5572-4374-B64B-B38BEDCED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164D9-FA89-4276-AD09-053D033E3D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753943-6E1C-431B-8DBB-4C3689D9D5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52070D-18B2-450F-BB68-78F6DCB97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1AF7D-E318-4EA4-977A-FA1E299321FE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82DA70-E4A2-4972-92A2-1EE4EC165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18E47A-E956-4E3D-9593-98ECC6D3E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CAF70-6121-403F-A3EA-FC9CDBB66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545439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DD83A-9745-4807-9B46-88108C16A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F3DAE6-ED5C-4EE6-B643-783BE1ECE4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43CA26-7EFF-4F22-8C69-E9791D8DF0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82D9B4-60E4-4C8A-90ED-7525C6ACDA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5A3509-6B8A-443B-9EBE-33571A3306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F989A4-0DD0-4F92-8ACE-82ABC7109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1AF7D-E318-4EA4-977A-FA1E299321FE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D01C8D-644A-47DA-B74C-E1A8EF28B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94286F-2F70-4291-895D-AB2D22BB7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CAF70-6121-403F-A3EA-FC9CDBB66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595956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1CCF2-9D9C-4CE8-BAEE-D1F22D946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2F2B9C-078D-4E9B-B686-F58DCAA54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1AF7D-E318-4EA4-977A-FA1E299321FE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E07BFA-B698-4C89-992D-3D0CC4F16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9BDECF-7FA5-4EDF-9CB0-079E68385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CAF70-6121-403F-A3EA-FC9CDBB66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697062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4A8021-6B60-4E10-8D6D-0DC7BBCFA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1AF7D-E318-4EA4-977A-FA1E299321FE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A19C1B-3465-4396-9854-BCE37F91E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4B622B-8DDD-4DDB-A7C4-4E09D9DD7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CAF70-6121-403F-A3EA-FC9CDBB66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276696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A1832-B58B-4BA3-BAFD-52C7BAF02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937D3-67B8-4B4C-A3A4-17A01E4997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9E59A7-90BA-434E-8C9E-864752CC41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879D29-46E6-4870-92AB-AE25C92FF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1AF7D-E318-4EA4-977A-FA1E299321FE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6B2D3C-04D7-40BE-A60C-90046BE3F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B29513-0CED-40B0-A310-FBDB428D5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CAF70-6121-403F-A3EA-FC9CDBB66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026323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B5C9B-2C29-43A7-B6C7-4C9026AB9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38DF2F-2D99-400D-9B8B-1E21200A42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E957CA-D847-40C7-9FD2-14C22CA58A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615639-1F4E-4050-B118-C0286324E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1AF7D-E318-4EA4-977A-FA1E299321FE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E35B3A-AC87-4C98-B32A-8FA822324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674FE9-E64B-4A44-B973-4A9451D8E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CAF70-6121-403F-A3EA-FC9CDBB66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922959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C71C7-EAE1-4B64-A358-20367083E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1373A0-59D1-4496-87D2-0F5628C3DB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C1F1C-10EC-4EDD-81AA-11A7F33A6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1AF7D-E318-4EA4-977A-FA1E299321FE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81E9B0-066A-4959-B661-BB1E27CD2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6A0A92-86FC-4663-A8D6-10A6EE656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CAF70-6121-403F-A3EA-FC9CDBB66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150734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B6A5E4-C1CB-4DC6-96FF-2FE3CEAF6B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DAF691-12C0-4DC7-982B-EF2468D450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2DC8D7-0D57-4957-BE7D-8AC92BD25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1AF7D-E318-4EA4-977A-FA1E299321FE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3EFB5-FA96-4BCE-8D0D-340BBFD27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DB9AD1-69D4-44D3-B2A8-C2E5AC5D5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CAF70-6121-403F-A3EA-FC9CDBB66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292717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42A336-D811-4A79-B297-78287CFE1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D9D219-E49D-4B30-B4DD-AFCB8EF37C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2436E-7B73-4A4A-8B60-DDD8642063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01AF7D-E318-4EA4-977A-FA1E299321FE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8E3A7-83FB-4BC0-B543-77B923E201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14422F-B5A0-4216-B9BC-9101C4793D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ECAF70-6121-403F-A3EA-FC9CDBB66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594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AB915-0F45-48D9-08B1-F6FE0AF575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4340" y="3115340"/>
            <a:ext cx="9407703" cy="1818167"/>
          </a:xfrm>
        </p:spPr>
        <p:txBody>
          <a:bodyPr/>
          <a:lstStyle/>
          <a:p>
            <a:r>
              <a:rPr lang="en-US" dirty="0">
                <a:solidFill>
                  <a:srgbClr val="2759BC"/>
                </a:solidFill>
                <a:latin typeface="Bebas Neue" panose="020B0606020202050201" pitchFamily="34" charset="0"/>
              </a:rPr>
              <a:t>Research Planning </a:t>
            </a:r>
            <a:br>
              <a:rPr lang="en-US" dirty="0">
                <a:solidFill>
                  <a:srgbClr val="2759BC"/>
                </a:solidFill>
                <a:latin typeface="Bebas Neue" panose="020B0606020202050201" pitchFamily="34" charset="0"/>
              </a:rPr>
            </a:br>
            <a:r>
              <a:rPr lang="en-US" dirty="0">
                <a:solidFill>
                  <a:srgbClr val="2759BC"/>
                </a:solidFill>
                <a:latin typeface="Bebas Neue" panose="020B0606020202050201" pitchFamily="34" charset="0"/>
              </a:rPr>
              <a:t>&amp; System Design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7B1D7E-8E5D-6C05-4E8E-F54A5CBD38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21665" y="5137077"/>
            <a:ext cx="5716851" cy="773219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00B050"/>
                </a:solidFill>
                <a:latin typeface="Bebas Neue" panose="020B0606020202050201" pitchFamily="34" charset="0"/>
              </a:rPr>
              <a:t>Chapter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AED19C-D9E4-0BC1-4DC4-2F6BA3C9C3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5199" y="-220946"/>
            <a:ext cx="2801602" cy="2721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80886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8618C-6621-F45E-A20A-5089D691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109610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Bebas Neue" panose="020B0606020202050201" pitchFamily="34" charset="0"/>
              </a:rPr>
              <a:t>Why </a:t>
            </a:r>
            <a:r>
              <a:rPr lang="en-US" sz="4800" dirty="0">
                <a:solidFill>
                  <a:srgbClr val="FFFF00"/>
                </a:solidFill>
                <a:latin typeface="Bebas Neue" panose="020B0606020202050201" pitchFamily="34" charset="0"/>
              </a:rPr>
              <a:t>Research Planning </a:t>
            </a:r>
            <a:r>
              <a:rPr lang="en-US" sz="4800" dirty="0">
                <a:solidFill>
                  <a:schemeClr val="bg1"/>
                </a:solidFill>
                <a:latin typeface="Bebas Neue" panose="020B0606020202050201" pitchFamily="34" charset="0"/>
              </a:rPr>
              <a:t>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373A0-F20D-5023-B324-54C0CF24E4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564" y="1273996"/>
            <a:ext cx="11887200" cy="5352835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2759BC"/>
                </a:solidFill>
                <a:latin typeface="Bahnschrift" panose="020B0502040204020203" pitchFamily="34" charset="0"/>
              </a:rPr>
              <a:t>Without Planning</a:t>
            </a:r>
            <a:endParaRPr lang="en-US" sz="3200" dirty="0">
              <a:solidFill>
                <a:srgbClr val="2759BC"/>
              </a:solidFill>
              <a:latin typeface="Bahnschrift" panose="020B0502040204020203" pitchFamily="34" charset="0"/>
            </a:endParaRPr>
          </a:p>
          <a:p>
            <a:pPr lvl="1"/>
            <a:r>
              <a:rPr lang="en-US" sz="2800" dirty="0">
                <a:latin typeface="Bahnschrift" panose="020B0502040204020203" pitchFamily="34" charset="0"/>
              </a:rPr>
              <a:t>Projects fail or delay</a:t>
            </a:r>
          </a:p>
          <a:p>
            <a:pPr lvl="1"/>
            <a:r>
              <a:rPr lang="en-US" sz="2800" dirty="0">
                <a:latin typeface="Bahnschrift" panose="020B0502040204020203" pitchFamily="34" charset="0"/>
              </a:rPr>
              <a:t>Budget waste</a:t>
            </a:r>
          </a:p>
          <a:p>
            <a:pPr lvl="1"/>
            <a:r>
              <a:rPr lang="en-US" sz="2800" dirty="0">
                <a:latin typeface="Bahnschrift" panose="020B0502040204020203" pitchFamily="34" charset="0"/>
              </a:rPr>
              <a:t>Poor system quality</a:t>
            </a:r>
          </a:p>
          <a:p>
            <a:r>
              <a:rPr lang="en-US" sz="3200" b="1" dirty="0">
                <a:solidFill>
                  <a:srgbClr val="2759BC"/>
                </a:solidFill>
                <a:latin typeface="Bahnschrift" panose="020B0502040204020203" pitchFamily="34" charset="0"/>
              </a:rPr>
              <a:t>With Planning</a:t>
            </a:r>
            <a:endParaRPr lang="en-US" sz="3200" dirty="0">
              <a:solidFill>
                <a:srgbClr val="2759BC"/>
              </a:solidFill>
              <a:latin typeface="Bahnschrift" panose="020B0502040204020203" pitchFamily="34" charset="0"/>
            </a:endParaRPr>
          </a:p>
          <a:p>
            <a:pPr lvl="1"/>
            <a:r>
              <a:rPr lang="en-US" sz="2800" dirty="0">
                <a:latin typeface="Bahnschrift" panose="020B0502040204020203" pitchFamily="34" charset="0"/>
              </a:rPr>
              <a:t>Clear direction</a:t>
            </a:r>
          </a:p>
          <a:p>
            <a:pPr lvl="1"/>
            <a:r>
              <a:rPr lang="en-US" sz="2800" dirty="0">
                <a:latin typeface="Bahnschrift" panose="020B0502040204020203" pitchFamily="34" charset="0"/>
              </a:rPr>
              <a:t>Efficient resource use</a:t>
            </a:r>
          </a:p>
          <a:p>
            <a:pPr lvl="1"/>
            <a:r>
              <a:rPr lang="en-US" sz="2800" dirty="0">
                <a:latin typeface="Bahnschrift" panose="020B0502040204020203" pitchFamily="34" charset="0"/>
              </a:rPr>
              <a:t>Higher success probability</a:t>
            </a:r>
          </a:p>
          <a:p>
            <a:r>
              <a:rPr lang="en-US" sz="3200" dirty="0">
                <a:latin typeface="Bahnschrift" panose="020B0502040204020203" pitchFamily="34" charset="0"/>
              </a:rPr>
              <a:t>Planning aligns stakeholders (supervisors, team members, clients) so everyone agrees on what will be delivered and when.</a:t>
            </a:r>
          </a:p>
          <a:p>
            <a:endParaRPr lang="en-US" sz="32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1939773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F3D6E-6BF8-CD6F-6369-5DB96C97F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29754-48E4-D13E-35AC-7B62185CE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109610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Bebas Neue" panose="020B0606020202050201" pitchFamily="34" charset="0"/>
              </a:rPr>
              <a:t>From </a:t>
            </a:r>
            <a:r>
              <a:rPr lang="en-US" sz="4800" dirty="0">
                <a:solidFill>
                  <a:srgbClr val="FFFF00"/>
                </a:solidFill>
                <a:latin typeface="Bebas Neue" panose="020B0606020202050201" pitchFamily="34" charset="0"/>
              </a:rPr>
              <a:t>Idea </a:t>
            </a:r>
            <a:r>
              <a:rPr lang="en-US" sz="4800" dirty="0">
                <a:solidFill>
                  <a:schemeClr val="bg1"/>
                </a:solidFill>
                <a:latin typeface="Bebas Neue" panose="020B0606020202050201" pitchFamily="34" charset="0"/>
              </a:rPr>
              <a:t>to Technical Execution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64ADA-A8AF-EA51-C11C-5003BD3CEE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564" y="1273996"/>
            <a:ext cx="11887200" cy="5352835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2759BC"/>
                </a:solidFill>
                <a:latin typeface="Bahnschrift" panose="020B0502040204020203" pitchFamily="34" charset="0"/>
              </a:rPr>
              <a:t>Research Flow</a:t>
            </a:r>
            <a:br>
              <a:rPr lang="en-US" sz="3200" dirty="0">
                <a:latin typeface="Bahnschrift" panose="020B0502040204020203" pitchFamily="34" charset="0"/>
              </a:rPr>
            </a:br>
            <a:r>
              <a:rPr lang="en-US" sz="3200" dirty="0">
                <a:latin typeface="Bahnschrift" panose="020B0502040204020203" pitchFamily="34" charset="0"/>
              </a:rPr>
              <a:t>Problem → Objectives → Technical Tasks → Implementation → Evaluation</a:t>
            </a:r>
          </a:p>
          <a:p>
            <a:r>
              <a:rPr lang="en-US" sz="3200" dirty="0">
                <a:latin typeface="Bahnschrift" panose="020B0502040204020203" pitchFamily="34" charset="0"/>
              </a:rPr>
              <a:t>The </a:t>
            </a:r>
            <a:r>
              <a:rPr lang="en-US" sz="3200" b="1" dirty="0">
                <a:solidFill>
                  <a:srgbClr val="FF0000"/>
                </a:solidFill>
                <a:latin typeface="Bahnschrift" panose="020B0502040204020203" pitchFamily="34" charset="0"/>
              </a:rPr>
              <a:t>problem</a:t>
            </a:r>
            <a:r>
              <a:rPr lang="en-US" sz="3200" dirty="0">
                <a:latin typeface="Bahnschrift" panose="020B0502040204020203" pitchFamily="34" charset="0"/>
              </a:rPr>
              <a:t> defines what is wrong or missing; the </a:t>
            </a:r>
            <a:r>
              <a:rPr lang="en-US" sz="3200" b="1" dirty="0">
                <a:solidFill>
                  <a:schemeClr val="accent6"/>
                </a:solidFill>
                <a:latin typeface="Bahnschrift" panose="020B0502040204020203" pitchFamily="34" charset="0"/>
              </a:rPr>
              <a:t>objectives</a:t>
            </a:r>
            <a:r>
              <a:rPr lang="en-US" sz="3200" dirty="0">
                <a:latin typeface="Bahnschrift" panose="020B0502040204020203" pitchFamily="34" charset="0"/>
              </a:rPr>
              <a:t> specify what success looks like in clear, measurable terms.</a:t>
            </a:r>
          </a:p>
          <a:p>
            <a:r>
              <a:rPr lang="en-US" sz="3200" dirty="0">
                <a:latin typeface="Bahnschrift" panose="020B0502040204020203" pitchFamily="34" charset="0"/>
              </a:rPr>
              <a:t>Technical tasks translate these objectives into concrete actions (e.g., “design database schema”, “train model”, “deploy API”) that can be scheduled and assigned.</a:t>
            </a:r>
          </a:p>
        </p:txBody>
      </p:sp>
    </p:spTree>
    <p:extLst>
      <p:ext uri="{BB962C8B-B14F-4D97-AF65-F5344CB8AC3E}">
        <p14:creationId xmlns:p14="http://schemas.microsoft.com/office/powerpoint/2010/main" val="2434247325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50E56-12C5-BF73-0827-B1EBE4D8D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0CFFF-5ECC-A3E9-F5DA-ECA991004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109610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Bebas Neue" panose="020B0606020202050201" pitchFamily="34" charset="0"/>
              </a:rPr>
              <a:t>Translating </a:t>
            </a:r>
            <a:r>
              <a:rPr lang="en-US" sz="4800" dirty="0">
                <a:solidFill>
                  <a:srgbClr val="FFFF00"/>
                </a:solidFill>
                <a:latin typeface="Bebas Neue" panose="020B0606020202050201" pitchFamily="34" charset="0"/>
              </a:rPr>
              <a:t>Objectives</a:t>
            </a:r>
            <a:r>
              <a:rPr lang="en-US" sz="4800" dirty="0">
                <a:solidFill>
                  <a:schemeClr val="bg1"/>
                </a:solidFill>
                <a:latin typeface="Bebas Neue" panose="020B0606020202050201" pitchFamily="34" charset="0"/>
              </a:rPr>
              <a:t> into Technical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68877-BB06-3D35-79D3-0181587722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564" y="1273996"/>
            <a:ext cx="11887200" cy="5352835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Bahnschrift" panose="020B0502040204020203" pitchFamily="34" charset="0"/>
              </a:rPr>
              <a:t>Objective: </a:t>
            </a:r>
            <a:r>
              <a:rPr lang="en-US" sz="3200" dirty="0">
                <a:latin typeface="Bahnschrift" panose="020B0502040204020203" pitchFamily="34" charset="0"/>
              </a:rPr>
              <a:t>Develop Online Appointment System</a:t>
            </a:r>
          </a:p>
          <a:p>
            <a:r>
              <a:rPr lang="en-US" sz="3200" b="1" dirty="0">
                <a:solidFill>
                  <a:srgbClr val="2759BC"/>
                </a:solidFill>
                <a:latin typeface="Bahnschrift" panose="020B0502040204020203" pitchFamily="34" charset="0"/>
              </a:rPr>
              <a:t>Technical Tasks:</a:t>
            </a:r>
          </a:p>
          <a:p>
            <a:pPr lvl="1"/>
            <a:r>
              <a:rPr lang="en-US" sz="2800" dirty="0">
                <a:latin typeface="Bahnschrift" panose="020B0502040204020203" pitchFamily="34" charset="0"/>
              </a:rPr>
              <a:t>Database design</a:t>
            </a:r>
          </a:p>
          <a:p>
            <a:pPr lvl="1"/>
            <a:r>
              <a:rPr lang="en-US" sz="2800" dirty="0">
                <a:latin typeface="Bahnschrift" panose="020B0502040204020203" pitchFamily="34" charset="0"/>
              </a:rPr>
              <a:t>UI design</a:t>
            </a:r>
          </a:p>
          <a:p>
            <a:pPr lvl="1"/>
            <a:r>
              <a:rPr lang="en-US" sz="2800" dirty="0">
                <a:latin typeface="Bahnschrift" panose="020B0502040204020203" pitchFamily="34" charset="0"/>
              </a:rPr>
              <a:t>API development</a:t>
            </a:r>
          </a:p>
          <a:p>
            <a:pPr lvl="1"/>
            <a:r>
              <a:rPr lang="en-US" sz="2800" dirty="0">
                <a:latin typeface="Bahnschrift" panose="020B0502040204020203" pitchFamily="34" charset="0"/>
              </a:rPr>
              <a:t>Testing</a:t>
            </a:r>
          </a:p>
          <a:p>
            <a:pPr lvl="1"/>
            <a:r>
              <a:rPr lang="en-US" sz="2800" dirty="0">
                <a:latin typeface="Bahnschrift" panose="020B0502040204020203" pitchFamily="34" charset="0"/>
              </a:rPr>
              <a:t>Deployment</a:t>
            </a:r>
          </a:p>
          <a:p>
            <a:r>
              <a:rPr lang="en-US" sz="3200" dirty="0">
                <a:latin typeface="Bahnschrift" panose="020B0502040204020203" pitchFamily="34" charset="0"/>
              </a:rPr>
              <a:t>Each task can be further detailed, for example “Database design → identify entities, define tables and relationships, choose DBMS, create ERD, implement schema.”</a:t>
            </a:r>
          </a:p>
        </p:txBody>
      </p:sp>
    </p:spTree>
    <p:extLst>
      <p:ext uri="{BB962C8B-B14F-4D97-AF65-F5344CB8AC3E}">
        <p14:creationId xmlns:p14="http://schemas.microsoft.com/office/powerpoint/2010/main" val="1614195470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EAE2F-43CA-0E43-5A65-63DF159A8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8A265-DF85-2CD9-F3F4-7313E93BD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109610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Bebas Neue" panose="020B0606020202050201" pitchFamily="34" charset="0"/>
              </a:rPr>
              <a:t>Practical Example (</a:t>
            </a:r>
            <a:r>
              <a:rPr lang="en-US" sz="4800" dirty="0">
                <a:solidFill>
                  <a:srgbClr val="FFFF00"/>
                </a:solidFill>
                <a:latin typeface="Bebas Neue" panose="020B0606020202050201" pitchFamily="34" charset="0"/>
              </a:rPr>
              <a:t>Student Project</a:t>
            </a:r>
            <a:r>
              <a:rPr lang="en-US" sz="4800" dirty="0">
                <a:solidFill>
                  <a:schemeClr val="bg1"/>
                </a:solidFill>
                <a:latin typeface="Bebas Neue" panose="020B0606020202050201" pitchFamily="34" charset="0"/>
              </a:rPr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582A4D-AB35-252B-8CF6-FD7E71F58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564" y="1273996"/>
            <a:ext cx="11887200" cy="535283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Bahnschrift" panose="020B0502040204020203" pitchFamily="34" charset="0"/>
              </a:rPr>
              <a:t>If objective = Build Smart Campus Navigation System</a:t>
            </a:r>
          </a:p>
          <a:p>
            <a:r>
              <a:rPr lang="en-US" sz="3200" b="1" dirty="0">
                <a:solidFill>
                  <a:srgbClr val="2759BC"/>
                </a:solidFill>
                <a:latin typeface="Bahnschrift" panose="020B0502040204020203" pitchFamily="34" charset="0"/>
              </a:rPr>
              <a:t>Tasks may include:</a:t>
            </a:r>
          </a:p>
          <a:p>
            <a:pPr lvl="1"/>
            <a:r>
              <a:rPr lang="en-US" sz="2800" dirty="0">
                <a:latin typeface="Bahnschrift" panose="020B0502040204020203" pitchFamily="34" charset="0"/>
              </a:rPr>
              <a:t>Requirement gathering</a:t>
            </a:r>
          </a:p>
          <a:p>
            <a:pPr lvl="1"/>
            <a:r>
              <a:rPr lang="en-US" sz="2800" dirty="0">
                <a:latin typeface="Bahnschrift" panose="020B0502040204020203" pitchFamily="34" charset="0"/>
              </a:rPr>
              <a:t>Map data collection</a:t>
            </a:r>
          </a:p>
          <a:p>
            <a:pPr lvl="1"/>
            <a:r>
              <a:rPr lang="en-US" sz="2800" dirty="0">
                <a:latin typeface="Bahnschrift" panose="020B0502040204020203" pitchFamily="34" charset="0"/>
              </a:rPr>
              <a:t>Backend API development</a:t>
            </a:r>
          </a:p>
          <a:p>
            <a:pPr lvl="1"/>
            <a:r>
              <a:rPr lang="en-US" sz="2800" dirty="0">
                <a:latin typeface="Bahnschrift" panose="020B0502040204020203" pitchFamily="34" charset="0"/>
              </a:rPr>
              <a:t>Mobile/Web interface</a:t>
            </a:r>
          </a:p>
          <a:p>
            <a:pPr lvl="1"/>
            <a:r>
              <a:rPr lang="en-US" sz="2800" dirty="0">
                <a:latin typeface="Bahnschrift" panose="020B0502040204020203" pitchFamily="34" charset="0"/>
              </a:rPr>
              <a:t>Testing with students</a:t>
            </a:r>
          </a:p>
          <a:p>
            <a:r>
              <a:rPr lang="en-US" sz="3200" dirty="0">
                <a:latin typeface="Bahnschrift" panose="020B0502040204020203" pitchFamily="34" charset="0"/>
              </a:rPr>
              <a:t>Requirement gathering may include interviews, questionnaires, and observation to understand how students currently navigate the campus and what problems they face.</a:t>
            </a:r>
          </a:p>
          <a:p>
            <a:endParaRPr lang="en-US" sz="32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1713526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2D5726-A123-92B8-E17E-0809DBA37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B6CBA-0945-D797-56DE-C2479A8D9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2658140"/>
            <a:ext cx="8839200" cy="1743739"/>
          </a:xfrm>
        </p:spPr>
        <p:txBody>
          <a:bodyPr>
            <a:normAutofit/>
          </a:bodyPr>
          <a:lstStyle/>
          <a:p>
            <a:pPr algn="ctr"/>
            <a:r>
              <a:rPr lang="en-US" sz="5400" dirty="0">
                <a:solidFill>
                  <a:srgbClr val="2759BC"/>
                </a:solidFill>
                <a:latin typeface="Bebas Neue" panose="020B0606020202050201" pitchFamily="34" charset="0"/>
              </a:rPr>
              <a:t> Introduction to System Architecture</a:t>
            </a:r>
          </a:p>
        </p:txBody>
      </p:sp>
    </p:spTree>
    <p:extLst>
      <p:ext uri="{BB962C8B-B14F-4D97-AF65-F5344CB8AC3E}">
        <p14:creationId xmlns:p14="http://schemas.microsoft.com/office/powerpoint/2010/main" val="1453596994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A2B72-335A-AED7-EE8E-F7C790B4B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ACDF3-C93C-CAAF-A283-9B74CC314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109610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Bebas Neue" panose="020B0606020202050201" pitchFamily="34" charset="0"/>
              </a:rPr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EA3B4-D09F-4BAF-FBB9-9BB8F32646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564" y="1273996"/>
            <a:ext cx="11887200" cy="5352835"/>
          </a:xfrm>
        </p:spPr>
        <p:txBody>
          <a:bodyPr>
            <a:normAutofit lnSpcReduction="10000"/>
          </a:bodyPr>
          <a:lstStyle/>
          <a:p>
            <a:r>
              <a:rPr lang="en-US" sz="3200" dirty="0">
                <a:latin typeface="Bahnschrift" panose="020B0502040204020203" pitchFamily="34" charset="0"/>
              </a:rPr>
              <a:t>System Architecture = How system components are structured and interact.</a:t>
            </a:r>
          </a:p>
          <a:p>
            <a:r>
              <a:rPr lang="en-US" sz="3200" b="1" dirty="0">
                <a:solidFill>
                  <a:srgbClr val="2759BC"/>
                </a:solidFill>
                <a:latin typeface="Bahnschrift" panose="020B0502040204020203" pitchFamily="34" charset="0"/>
              </a:rPr>
              <a:t>Includes:</a:t>
            </a:r>
          </a:p>
          <a:p>
            <a:pPr lvl="1"/>
            <a:r>
              <a:rPr lang="en-US" sz="2800" dirty="0">
                <a:latin typeface="Bahnschrift" panose="020B0502040204020203" pitchFamily="34" charset="0"/>
              </a:rPr>
              <a:t>Frontend</a:t>
            </a:r>
          </a:p>
          <a:p>
            <a:pPr lvl="1"/>
            <a:r>
              <a:rPr lang="en-US" sz="2800" dirty="0">
                <a:latin typeface="Bahnschrift" panose="020B0502040204020203" pitchFamily="34" charset="0"/>
              </a:rPr>
              <a:t>Backend</a:t>
            </a:r>
          </a:p>
          <a:p>
            <a:pPr lvl="1"/>
            <a:r>
              <a:rPr lang="en-US" sz="2800" dirty="0">
                <a:latin typeface="Bahnschrift" panose="020B0502040204020203" pitchFamily="34" charset="0"/>
              </a:rPr>
              <a:t>Database</a:t>
            </a:r>
          </a:p>
          <a:p>
            <a:pPr lvl="1"/>
            <a:r>
              <a:rPr lang="en-US" sz="2800" dirty="0">
                <a:latin typeface="Bahnschrift" panose="020B0502040204020203" pitchFamily="34" charset="0"/>
              </a:rPr>
              <a:t>External Services</a:t>
            </a:r>
          </a:p>
          <a:p>
            <a:r>
              <a:rPr lang="en-US" sz="3200" dirty="0">
                <a:latin typeface="Bahnschrift" panose="020B0502040204020203" pitchFamily="34" charset="0"/>
              </a:rPr>
              <a:t>A clear architecture diagram helps you and others visualize data flow from user actions in the frontend to processing in the backend and storage in the database.</a:t>
            </a:r>
          </a:p>
          <a:p>
            <a:r>
              <a:rPr lang="en-US" sz="3200" dirty="0">
                <a:latin typeface="Bahnschrift" panose="020B0502040204020203" pitchFamily="34" charset="0"/>
              </a:rPr>
              <a:t>Architecture decisions affect scalability, performance, security, and maintainability of your research system.</a:t>
            </a:r>
          </a:p>
        </p:txBody>
      </p:sp>
    </p:spTree>
    <p:extLst>
      <p:ext uri="{BB962C8B-B14F-4D97-AF65-F5344CB8AC3E}">
        <p14:creationId xmlns:p14="http://schemas.microsoft.com/office/powerpoint/2010/main" val="2462834817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E22F2-BEC9-1C94-AA9F-3209D6056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1FB59-D436-BF9A-4E49-B9A48566F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109610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Bebas Neue" panose="020B0606020202050201" pitchFamily="34" charset="0"/>
              </a:rPr>
              <a:t>Types of </a:t>
            </a:r>
            <a:r>
              <a:rPr lang="en-US" sz="4800" dirty="0">
                <a:solidFill>
                  <a:srgbClr val="FFFF00"/>
                </a:solidFill>
                <a:latin typeface="Bebas Neue" panose="020B0606020202050201" pitchFamily="34" charset="0"/>
              </a:rPr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5B390-7829-B0B1-3BB2-66B2FD1A9E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564" y="1273996"/>
            <a:ext cx="11887200" cy="5352835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200" dirty="0">
                <a:latin typeface="Bahnschrift" panose="020B0502040204020203" pitchFamily="34" charset="0"/>
              </a:rPr>
              <a:t>Monolithic Architecture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>
                <a:latin typeface="Bahnschrift" panose="020B0502040204020203" pitchFamily="34" charset="0"/>
              </a:rPr>
              <a:t>Client–Server Architecture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>
                <a:latin typeface="Bahnschrift" panose="020B0502040204020203" pitchFamily="34" charset="0"/>
              </a:rPr>
              <a:t>Microservices Architecture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>
                <a:latin typeface="Bahnschrift" panose="020B0502040204020203" pitchFamily="34" charset="0"/>
              </a:rPr>
              <a:t>Cloud-based Architecture</a:t>
            </a:r>
          </a:p>
          <a:p>
            <a:r>
              <a:rPr lang="en-US" sz="3200" dirty="0">
                <a:latin typeface="Bahnschrift" panose="020B0502040204020203" pitchFamily="34" charset="0"/>
              </a:rPr>
              <a:t>Monolithic systems keep all features in one codebase and are simpler to build initially but harder to scale and maintain for large projects.​</a:t>
            </a:r>
          </a:p>
          <a:p>
            <a:r>
              <a:rPr lang="en-US" sz="3200" dirty="0">
                <a:latin typeface="Bahnschrift" panose="020B0502040204020203" pitchFamily="34" charset="0"/>
              </a:rPr>
              <a:t>Microservices and cloud-based architectures split functionality into smaller services and often run on platforms like </a:t>
            </a:r>
            <a:r>
              <a:rPr lang="en-US" sz="3200" b="1" dirty="0">
                <a:solidFill>
                  <a:schemeClr val="accent2"/>
                </a:solidFill>
                <a:latin typeface="Bahnschrift" panose="020B0502040204020203" pitchFamily="34" charset="0"/>
              </a:rPr>
              <a:t>AWS</a:t>
            </a:r>
            <a:r>
              <a:rPr lang="en-US" sz="3200" dirty="0">
                <a:latin typeface="Bahnschrift" panose="020B0502040204020203" pitchFamily="34" charset="0"/>
              </a:rPr>
              <a:t> or </a:t>
            </a:r>
            <a:r>
              <a:rPr lang="en-US" sz="3200" b="1" dirty="0">
                <a:solidFill>
                  <a:schemeClr val="accent5"/>
                </a:solidFill>
                <a:latin typeface="Bahnschrift" panose="020B0502040204020203" pitchFamily="34" charset="0"/>
              </a:rPr>
              <a:t>Azure</a:t>
            </a:r>
            <a:r>
              <a:rPr lang="en-US" sz="3200" dirty="0">
                <a:latin typeface="Bahnschrift" panose="020B0502040204020203" pitchFamily="34" charset="0"/>
              </a:rPr>
              <a:t>, improving scalability but increasing complexity and deployment effort.</a:t>
            </a:r>
          </a:p>
        </p:txBody>
      </p:sp>
    </p:spTree>
    <p:extLst>
      <p:ext uri="{BB962C8B-B14F-4D97-AF65-F5344CB8AC3E}">
        <p14:creationId xmlns:p14="http://schemas.microsoft.com/office/powerpoint/2010/main" val="1853864334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86944-3927-D33B-30DE-575339C43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94B38-6BBA-2D52-DB22-8A4811587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109610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Bebas Neue" panose="020B0606020202050201" pitchFamily="34" charset="0"/>
              </a:rPr>
              <a:t>Conceptual </a:t>
            </a:r>
            <a:r>
              <a:rPr lang="en-US" sz="4800" dirty="0">
                <a:solidFill>
                  <a:srgbClr val="FFFF00"/>
                </a:solidFill>
                <a:latin typeface="Bebas Neue" panose="020B0606020202050201" pitchFamily="34" charset="0"/>
              </a:rPr>
              <a:t>Framework</a:t>
            </a:r>
            <a:r>
              <a:rPr lang="en-US" sz="4800" dirty="0">
                <a:solidFill>
                  <a:schemeClr val="bg1"/>
                </a:solidFill>
                <a:latin typeface="Bebas Neue" panose="020B0606020202050201" pitchFamily="34" charset="0"/>
              </a:rPr>
              <a:t>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FCE23-6AB9-A291-2AE9-14CFCDB5C7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564" y="1273996"/>
            <a:ext cx="11887200" cy="5352835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solidFill>
                  <a:srgbClr val="2759BC"/>
                </a:solidFill>
                <a:latin typeface="Bahnschrift" panose="020B0502040204020203" pitchFamily="34" charset="0"/>
              </a:rPr>
              <a:t>Conceptual Framework shows:</a:t>
            </a:r>
          </a:p>
          <a:p>
            <a:pPr lvl="1"/>
            <a:r>
              <a:rPr lang="en-US" dirty="0">
                <a:latin typeface="Bahnschrift" panose="020B0502040204020203" pitchFamily="34" charset="0"/>
              </a:rPr>
              <a:t>Inputs</a:t>
            </a:r>
          </a:p>
          <a:p>
            <a:pPr lvl="1"/>
            <a:r>
              <a:rPr lang="en-US" dirty="0">
                <a:latin typeface="Bahnschrift" panose="020B0502040204020203" pitchFamily="34" charset="0"/>
              </a:rPr>
              <a:t>Processes</a:t>
            </a:r>
          </a:p>
          <a:p>
            <a:pPr lvl="1"/>
            <a:r>
              <a:rPr lang="en-US" dirty="0">
                <a:latin typeface="Bahnschrift" panose="020B0502040204020203" pitchFamily="34" charset="0"/>
              </a:rPr>
              <a:t>Outputs</a:t>
            </a:r>
          </a:p>
          <a:p>
            <a:pPr lvl="1"/>
            <a:r>
              <a:rPr lang="en-US" dirty="0">
                <a:latin typeface="Bahnschrift" panose="020B0502040204020203" pitchFamily="34" charset="0"/>
              </a:rPr>
              <a:t>Relationships between components</a:t>
            </a:r>
          </a:p>
          <a:p>
            <a:r>
              <a:rPr lang="en-US" b="1" dirty="0">
                <a:solidFill>
                  <a:srgbClr val="2759BC"/>
                </a:solidFill>
                <a:latin typeface="Bahnschrift" panose="020B0502040204020203" pitchFamily="34" charset="0"/>
              </a:rPr>
              <a:t>Used in both:</a:t>
            </a:r>
          </a:p>
          <a:p>
            <a:pPr lvl="1"/>
            <a:r>
              <a:rPr lang="en-US" dirty="0">
                <a:latin typeface="Bahnschrift" panose="020B0502040204020203" pitchFamily="34" charset="0"/>
              </a:rPr>
              <a:t>Software systems</a:t>
            </a:r>
          </a:p>
          <a:p>
            <a:pPr lvl="1"/>
            <a:r>
              <a:rPr lang="en-US" dirty="0">
                <a:latin typeface="Bahnschrift" panose="020B0502040204020203" pitchFamily="34" charset="0"/>
              </a:rPr>
              <a:t>Academic research</a:t>
            </a:r>
          </a:p>
          <a:p>
            <a:r>
              <a:rPr lang="en-US" dirty="0">
                <a:latin typeface="Bahnschrift" panose="020B0502040204020203" pitchFamily="34" charset="0"/>
              </a:rPr>
              <a:t>In academic writing, the conceptual framework visually explains how variables or components in your study are expected to influence each other.</a:t>
            </a:r>
          </a:p>
          <a:p>
            <a:r>
              <a:rPr lang="en-US" dirty="0">
                <a:latin typeface="Bahnschrift" panose="020B0502040204020203" pitchFamily="34" charset="0"/>
              </a:rPr>
              <a:t>For system projects, it provides a high-level picture that connects user needs, system processes, and expected outcomes (e.g., reports, alerts, recommendations).</a:t>
            </a:r>
          </a:p>
        </p:txBody>
      </p:sp>
    </p:spTree>
    <p:extLst>
      <p:ext uri="{BB962C8B-B14F-4D97-AF65-F5344CB8AC3E}">
        <p14:creationId xmlns:p14="http://schemas.microsoft.com/office/powerpoint/2010/main" val="237152975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3B4F1A-0018-EE7B-86D0-B48C34654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8EC85-AFE6-4E14-5B6B-2C941E693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2796363"/>
            <a:ext cx="8881730" cy="1109610"/>
          </a:xfrm>
        </p:spPr>
        <p:txBody>
          <a:bodyPr>
            <a:normAutofit/>
          </a:bodyPr>
          <a:lstStyle/>
          <a:p>
            <a:pPr algn="ctr"/>
            <a:r>
              <a:rPr lang="en-US" sz="5400" dirty="0">
                <a:solidFill>
                  <a:srgbClr val="2759BC"/>
                </a:solidFill>
                <a:latin typeface="Bebas Neue" panose="020B0606020202050201" pitchFamily="34" charset="0"/>
              </a:rPr>
              <a:t>Selecting Tools and Technologies</a:t>
            </a:r>
          </a:p>
        </p:txBody>
      </p:sp>
    </p:spTree>
    <p:extLst>
      <p:ext uri="{BB962C8B-B14F-4D97-AF65-F5344CB8AC3E}">
        <p14:creationId xmlns:p14="http://schemas.microsoft.com/office/powerpoint/2010/main" val="3764207308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FE88A-BF6B-760A-9333-A88B8E9E1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B8E97-B6DD-86B2-DC5A-22A5B6E1A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109610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Bebas Neue" panose="020B0606020202050201" pitchFamily="34" charset="0"/>
              </a:rPr>
              <a:t>Tools and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11836D-AAFB-44F2-036B-21CB55B154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564" y="1273996"/>
            <a:ext cx="11887200" cy="5352835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2759BC"/>
                </a:solidFill>
                <a:latin typeface="Bahnschrift" panose="020B0502040204020203" pitchFamily="34" charset="0"/>
              </a:rPr>
              <a:t>Students must consider:</a:t>
            </a:r>
          </a:p>
          <a:p>
            <a:pPr lvl="1"/>
            <a:r>
              <a:rPr lang="en-US" sz="2800" dirty="0">
                <a:latin typeface="Bahnschrift" panose="020B0502040204020203" pitchFamily="34" charset="0"/>
              </a:rPr>
              <a:t>Project requirements</a:t>
            </a:r>
          </a:p>
          <a:p>
            <a:pPr lvl="1"/>
            <a:r>
              <a:rPr lang="en-US" sz="2800" dirty="0">
                <a:latin typeface="Bahnschrift" panose="020B0502040204020203" pitchFamily="34" charset="0"/>
              </a:rPr>
              <a:t>Available skills</a:t>
            </a:r>
          </a:p>
          <a:p>
            <a:pPr lvl="1"/>
            <a:r>
              <a:rPr lang="en-US" sz="2800" dirty="0">
                <a:latin typeface="Bahnschrift" panose="020B0502040204020203" pitchFamily="34" charset="0"/>
              </a:rPr>
              <a:t>Cost</a:t>
            </a:r>
          </a:p>
          <a:p>
            <a:pPr lvl="1"/>
            <a:r>
              <a:rPr lang="en-US" sz="2800" dirty="0">
                <a:latin typeface="Bahnschrift" panose="020B0502040204020203" pitchFamily="34" charset="0"/>
              </a:rPr>
              <a:t>Performance</a:t>
            </a:r>
          </a:p>
          <a:p>
            <a:pPr lvl="1"/>
            <a:r>
              <a:rPr lang="en-US" sz="2800" dirty="0">
                <a:latin typeface="Bahnschrift" panose="020B0502040204020203" pitchFamily="34" charset="0"/>
              </a:rPr>
              <a:t>Community support</a:t>
            </a:r>
          </a:p>
          <a:p>
            <a:r>
              <a:rPr lang="en-US" sz="3200" dirty="0">
                <a:latin typeface="Bahnschrift" panose="020B0502040204020203" pitchFamily="34" charset="0"/>
              </a:rPr>
              <a:t>Also consider integration needs (how well tools connect with each other) and deployment environment (local, on-premise server, or cloud).</a:t>
            </a:r>
          </a:p>
          <a:p>
            <a:endParaRPr lang="en-US" sz="32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7316095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67A65-5844-561A-7E1B-EC15EA6F0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85621-8334-8A79-B4F5-17FA91DBC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109610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Bebas Neue" panose="020B0606020202050201" pitchFamily="34" charset="0"/>
              </a:rPr>
              <a:t>Example </a:t>
            </a:r>
            <a:r>
              <a:rPr lang="en-US" sz="4800" dirty="0">
                <a:solidFill>
                  <a:srgbClr val="FFFF00"/>
                </a:solidFill>
                <a:latin typeface="Bebas Neue" panose="020B0606020202050201" pitchFamily="34" charset="0"/>
              </a:rPr>
              <a:t>Tool</a:t>
            </a:r>
            <a:r>
              <a:rPr lang="en-US" sz="4800" dirty="0">
                <a:solidFill>
                  <a:schemeClr val="bg1"/>
                </a:solidFill>
                <a:latin typeface="Bebas Neue" panose="020B0606020202050201" pitchFamily="34" charset="0"/>
              </a:rPr>
              <a:t>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06A5CB-E181-88C0-8736-FF9B34EFC1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564" y="1273996"/>
            <a:ext cx="11887200" cy="5352835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2759BC"/>
                </a:solidFill>
                <a:latin typeface="Bahnschrift" panose="020B0502040204020203" pitchFamily="34" charset="0"/>
              </a:rPr>
              <a:t>Frontend:</a:t>
            </a:r>
            <a:r>
              <a:rPr lang="en-US" sz="3200" dirty="0">
                <a:solidFill>
                  <a:srgbClr val="2759BC"/>
                </a:solidFill>
                <a:latin typeface="Bahnschrift" panose="020B0502040204020203" pitchFamily="34" charset="0"/>
              </a:rPr>
              <a:t> </a:t>
            </a:r>
            <a:r>
              <a:rPr lang="en-US" sz="3200" dirty="0">
                <a:latin typeface="Bahnschrift" panose="020B0502040204020203" pitchFamily="34" charset="0"/>
              </a:rPr>
              <a:t>React / Next.js</a:t>
            </a:r>
            <a:br>
              <a:rPr lang="en-US" sz="3200" dirty="0">
                <a:latin typeface="Bahnschrift" panose="020B0502040204020203" pitchFamily="34" charset="0"/>
              </a:rPr>
            </a:br>
            <a:r>
              <a:rPr lang="en-US" sz="3200" b="1" dirty="0">
                <a:solidFill>
                  <a:srgbClr val="2759BC"/>
                </a:solidFill>
                <a:latin typeface="Bahnschrift" panose="020B0502040204020203" pitchFamily="34" charset="0"/>
              </a:rPr>
              <a:t>Backend:</a:t>
            </a:r>
            <a:r>
              <a:rPr lang="en-US" sz="3200" dirty="0">
                <a:solidFill>
                  <a:srgbClr val="2759BC"/>
                </a:solidFill>
                <a:latin typeface="Bahnschrift" panose="020B0502040204020203" pitchFamily="34" charset="0"/>
              </a:rPr>
              <a:t> </a:t>
            </a:r>
            <a:r>
              <a:rPr lang="en-US" sz="3200" dirty="0">
                <a:latin typeface="Bahnschrift" panose="020B0502040204020203" pitchFamily="34" charset="0"/>
              </a:rPr>
              <a:t>Django / Node.js</a:t>
            </a:r>
            <a:br>
              <a:rPr lang="en-US" sz="3200" dirty="0">
                <a:latin typeface="Bahnschrift" panose="020B0502040204020203" pitchFamily="34" charset="0"/>
              </a:rPr>
            </a:br>
            <a:r>
              <a:rPr lang="en-US" sz="3200" b="1" dirty="0">
                <a:solidFill>
                  <a:srgbClr val="2759BC"/>
                </a:solidFill>
                <a:latin typeface="Bahnschrift" panose="020B0502040204020203" pitchFamily="34" charset="0"/>
              </a:rPr>
              <a:t>Database:</a:t>
            </a:r>
            <a:r>
              <a:rPr lang="en-US" sz="3200" dirty="0">
                <a:solidFill>
                  <a:srgbClr val="2759BC"/>
                </a:solidFill>
                <a:latin typeface="Bahnschrift" panose="020B0502040204020203" pitchFamily="34" charset="0"/>
              </a:rPr>
              <a:t> </a:t>
            </a:r>
            <a:r>
              <a:rPr lang="en-US" sz="3200" dirty="0">
                <a:latin typeface="Bahnschrift" panose="020B0502040204020203" pitchFamily="34" charset="0"/>
              </a:rPr>
              <a:t>PostgreSQL / MongoDB</a:t>
            </a:r>
            <a:br>
              <a:rPr lang="en-US" sz="3200" dirty="0">
                <a:latin typeface="Bahnschrift" panose="020B0502040204020203" pitchFamily="34" charset="0"/>
              </a:rPr>
            </a:br>
            <a:r>
              <a:rPr lang="en-US" sz="3200" b="1" dirty="0">
                <a:solidFill>
                  <a:srgbClr val="2759BC"/>
                </a:solidFill>
                <a:latin typeface="Bahnschrift" panose="020B0502040204020203" pitchFamily="34" charset="0"/>
              </a:rPr>
              <a:t>Cloud:</a:t>
            </a:r>
            <a:r>
              <a:rPr lang="en-US" sz="3200" dirty="0">
                <a:solidFill>
                  <a:srgbClr val="2759BC"/>
                </a:solidFill>
                <a:latin typeface="Bahnschrift" panose="020B0502040204020203" pitchFamily="34" charset="0"/>
              </a:rPr>
              <a:t> </a:t>
            </a:r>
            <a:r>
              <a:rPr lang="en-US" sz="3200" dirty="0">
                <a:latin typeface="Bahnschrift" panose="020B0502040204020203" pitchFamily="34" charset="0"/>
              </a:rPr>
              <a:t>AWS / Azure / Local Server</a:t>
            </a:r>
          </a:p>
          <a:p>
            <a:r>
              <a:rPr lang="en-US" sz="3200" dirty="0">
                <a:latin typeface="Bahnschrift" panose="020B0502040204020203" pitchFamily="34" charset="0"/>
              </a:rPr>
              <a:t>React and Next.js support modular UI components and are widely used for modern single-page or server-rendered applications.</a:t>
            </a:r>
          </a:p>
          <a:p>
            <a:r>
              <a:rPr lang="en-US" sz="3200" dirty="0">
                <a:latin typeface="Bahnschrift" panose="020B0502040204020203" pitchFamily="34" charset="0"/>
              </a:rPr>
              <a:t>Django and Node.js provide robust ecosystems for REST APIs, authentication, and database integration, while PostgreSQL and MongoDB cover relational and NoSQL data models respectively.</a:t>
            </a:r>
          </a:p>
          <a:p>
            <a:endParaRPr lang="en-US" sz="32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5831594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079E6-987E-9C02-D5ED-D991514C1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F4014-C2F1-8B47-EED6-D0095F5E9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109610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Bebas Neue" panose="020B0606020202050201" pitchFamily="34" charset="0"/>
              </a:rPr>
              <a:t>Risk Analysis </a:t>
            </a:r>
            <a:r>
              <a:rPr lang="en-US" sz="4800" dirty="0">
                <a:solidFill>
                  <a:srgbClr val="FFFF00"/>
                </a:solidFill>
                <a:latin typeface="Bebas Neue" panose="020B0606020202050201" pitchFamily="34" charset="0"/>
              </a:rPr>
              <a:t>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016C45-C3C2-AA40-4E19-070C3947E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564" y="1273996"/>
            <a:ext cx="11887200" cy="535283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Bahnschrift" panose="020B0502040204020203" pitchFamily="34" charset="0"/>
              </a:rPr>
              <a:t>Risk = Anything that may affect project success</a:t>
            </a:r>
          </a:p>
          <a:p>
            <a:r>
              <a:rPr lang="en-US" sz="3200" b="1" dirty="0">
                <a:solidFill>
                  <a:srgbClr val="2759BC"/>
                </a:solidFill>
                <a:latin typeface="Bahnschrift" panose="020B0502040204020203" pitchFamily="34" charset="0"/>
              </a:rPr>
              <a:t>Types:</a:t>
            </a:r>
          </a:p>
          <a:p>
            <a:pPr lvl="1"/>
            <a:r>
              <a:rPr lang="en-US" sz="2800" dirty="0">
                <a:latin typeface="Bahnschrift" panose="020B0502040204020203" pitchFamily="34" charset="0"/>
              </a:rPr>
              <a:t>Technical Risk</a:t>
            </a:r>
          </a:p>
          <a:p>
            <a:pPr lvl="1"/>
            <a:r>
              <a:rPr lang="en-US" sz="2800" dirty="0">
                <a:latin typeface="Bahnschrift" panose="020B0502040204020203" pitchFamily="34" charset="0"/>
              </a:rPr>
              <a:t>Financial Risk</a:t>
            </a:r>
          </a:p>
          <a:p>
            <a:pPr lvl="1"/>
            <a:r>
              <a:rPr lang="en-US" sz="2800" dirty="0">
                <a:latin typeface="Bahnschrift" panose="020B0502040204020203" pitchFamily="34" charset="0"/>
              </a:rPr>
              <a:t>Time Risk</a:t>
            </a:r>
          </a:p>
          <a:p>
            <a:pPr lvl="1"/>
            <a:r>
              <a:rPr lang="en-US" sz="2800" dirty="0">
                <a:latin typeface="Bahnschrift" panose="020B0502040204020203" pitchFamily="34" charset="0"/>
              </a:rPr>
              <a:t>Resource Risk</a:t>
            </a:r>
          </a:p>
          <a:p>
            <a:r>
              <a:rPr lang="en-US" sz="3200" dirty="0">
                <a:latin typeface="Bahnschrift" panose="020B0502040204020203" pitchFamily="34" charset="0"/>
              </a:rPr>
              <a:t>Technical risks include choosing immature technologies, integration issues, or performance problems under load.</a:t>
            </a:r>
          </a:p>
          <a:p>
            <a:r>
              <a:rPr lang="en-US" sz="3200" dirty="0">
                <a:latin typeface="Bahnschrift" panose="020B0502040204020203" pitchFamily="34" charset="0"/>
              </a:rPr>
              <a:t>Time and resource risks often come from underestimating effort, overloading team members, or relying on a single key person for critical tasks.</a:t>
            </a:r>
          </a:p>
        </p:txBody>
      </p:sp>
    </p:spTree>
    <p:extLst>
      <p:ext uri="{BB962C8B-B14F-4D97-AF65-F5344CB8AC3E}">
        <p14:creationId xmlns:p14="http://schemas.microsoft.com/office/powerpoint/2010/main" val="3427712974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D245E-6F77-4842-31DE-74D076612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40FE6-E328-3881-7E30-25ABB94A3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109610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Bebas Neue" panose="020B0606020202050201" pitchFamily="34" charset="0"/>
              </a:rPr>
              <a:t>Risk Mitigation </a:t>
            </a:r>
            <a:r>
              <a:rPr lang="en-US" sz="4800" dirty="0">
                <a:solidFill>
                  <a:srgbClr val="FFFF00"/>
                </a:solidFill>
                <a:latin typeface="Bebas Neue" panose="020B0606020202050201" pitchFamily="34" charset="0"/>
              </a:rPr>
              <a:t>Strategies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0BB81-73BF-231B-F9E9-54B639FC41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564" y="1273996"/>
            <a:ext cx="11887200" cy="535283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Bahnschrift" panose="020B0502040204020203" pitchFamily="34" charset="0"/>
              </a:rPr>
              <a:t>Technical Risk → Use proven technology</a:t>
            </a:r>
          </a:p>
          <a:p>
            <a:r>
              <a:rPr lang="en-US" sz="3200" dirty="0">
                <a:latin typeface="Bahnschrift" panose="020B0502040204020203" pitchFamily="34" charset="0"/>
              </a:rPr>
              <a:t>Time Risk → Add buffer time</a:t>
            </a:r>
          </a:p>
          <a:p>
            <a:r>
              <a:rPr lang="en-US" sz="3200" dirty="0">
                <a:latin typeface="Bahnschrift" panose="020B0502040204020203" pitchFamily="34" charset="0"/>
              </a:rPr>
              <a:t>Resource Risk → Backup team members</a:t>
            </a:r>
          </a:p>
          <a:p>
            <a:r>
              <a:rPr lang="en-US" sz="3200" dirty="0">
                <a:latin typeface="Bahnschrift" panose="020B0502040204020203" pitchFamily="34" charset="0"/>
              </a:rPr>
              <a:t>Data Risk → Regular backups</a:t>
            </a:r>
          </a:p>
          <a:p>
            <a:r>
              <a:rPr lang="en-US" sz="3200" dirty="0">
                <a:latin typeface="Bahnschrift" panose="020B0502040204020203" pitchFamily="34" charset="0"/>
              </a:rPr>
              <a:t>You should document each key risk with its probability, impact, and mitigation action in a simple risk register or table.</a:t>
            </a:r>
          </a:p>
          <a:p>
            <a:r>
              <a:rPr lang="en-US" sz="3200" dirty="0">
                <a:latin typeface="Bahnschrift" panose="020B0502040204020203" pitchFamily="34" charset="0"/>
              </a:rPr>
              <a:t>Risk management is continuous: review risks regularly, update their status, and adjust your plan as the project progresses.</a:t>
            </a:r>
          </a:p>
          <a:p>
            <a:endParaRPr lang="en-US" sz="32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6611736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FD82A5-4F0A-E167-8AE6-E7A4AE64A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407F2-6E28-0430-9836-A24143E89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2998382"/>
            <a:ext cx="8924260" cy="1109610"/>
          </a:xfrm>
        </p:spPr>
        <p:txBody>
          <a:bodyPr>
            <a:normAutofit/>
          </a:bodyPr>
          <a:lstStyle/>
          <a:p>
            <a:pPr algn="ctr"/>
            <a:r>
              <a:rPr lang="en-US" sz="5400" dirty="0">
                <a:solidFill>
                  <a:srgbClr val="2759BC"/>
                </a:solidFill>
                <a:latin typeface="Bebas Neue" panose="020B0606020202050201" pitchFamily="34" charset="0"/>
              </a:rPr>
              <a:t>Timeline Planning</a:t>
            </a:r>
            <a:endParaRPr lang="en-US" sz="5400" dirty="0">
              <a:solidFill>
                <a:srgbClr val="2759B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7280454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7140F-7F5D-2C5A-56ED-B8E6D1BB3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7D2EB-23B7-56CC-04C4-8037C3D5C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109610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Bebas Neue" panose="020B0606020202050201" pitchFamily="34" charset="0"/>
              </a:rPr>
              <a:t>Project Timeline Planning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AECA9-F466-F8CC-22EB-3C1DC2E4A0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564" y="1273996"/>
            <a:ext cx="11887200" cy="5352835"/>
          </a:xfrm>
        </p:spPr>
        <p:txBody>
          <a:bodyPr/>
          <a:lstStyle/>
          <a:p>
            <a:r>
              <a:rPr lang="en-US" b="1" dirty="0">
                <a:solidFill>
                  <a:srgbClr val="2759BC"/>
                </a:solidFill>
                <a:latin typeface="Bahnschrift" panose="020B0502040204020203" pitchFamily="34" charset="0"/>
              </a:rPr>
              <a:t>Timeline answers:</a:t>
            </a:r>
          </a:p>
          <a:p>
            <a:pPr lvl="1"/>
            <a:r>
              <a:rPr lang="en-US" dirty="0">
                <a:latin typeface="Bahnschrift" panose="020B0502040204020203" pitchFamily="34" charset="0"/>
              </a:rPr>
              <a:t>What will be done?</a:t>
            </a:r>
          </a:p>
          <a:p>
            <a:pPr lvl="1"/>
            <a:r>
              <a:rPr lang="en-US" dirty="0">
                <a:latin typeface="Bahnschrift" panose="020B0502040204020203" pitchFamily="34" charset="0"/>
              </a:rPr>
              <a:t>When will it be done?</a:t>
            </a:r>
          </a:p>
          <a:p>
            <a:pPr lvl="1"/>
            <a:r>
              <a:rPr lang="en-US" dirty="0">
                <a:latin typeface="Bahnschrift" panose="020B0502040204020203" pitchFamily="34" charset="0"/>
              </a:rPr>
              <a:t>Who will do it?</a:t>
            </a:r>
          </a:p>
          <a:p>
            <a:r>
              <a:rPr lang="en-US" b="1" dirty="0">
                <a:solidFill>
                  <a:srgbClr val="00B050"/>
                </a:solidFill>
                <a:latin typeface="Bahnschrift" panose="020B0502040204020203" pitchFamily="34" charset="0"/>
              </a:rPr>
              <a:t>Common Tool:</a:t>
            </a:r>
          </a:p>
          <a:p>
            <a:pPr lvl="1"/>
            <a:r>
              <a:rPr lang="en-US" dirty="0">
                <a:latin typeface="Bahnschrift" panose="020B0502040204020203" pitchFamily="34" charset="0"/>
              </a:rPr>
              <a:t>Gantt Chart</a:t>
            </a:r>
          </a:p>
          <a:p>
            <a:r>
              <a:rPr lang="en-US" dirty="0">
                <a:latin typeface="Bahnschrift" panose="020B0502040204020203" pitchFamily="34" charset="0"/>
              </a:rPr>
              <a:t>A Gantt chart visualizes tasks, durations, and dependencies along a calendar, helping you see overlapping work and critical paths.</a:t>
            </a:r>
          </a:p>
          <a:p>
            <a:r>
              <a:rPr lang="en-US" sz="3200" dirty="0">
                <a:latin typeface="Bahnschrift" panose="020B0502040204020203" pitchFamily="34" charset="0"/>
              </a:rPr>
              <a:t>When planning, be realistic about your capacity, align with course deadlines, and schedule checkpoints for progress reviews and risk assessment.</a:t>
            </a:r>
          </a:p>
          <a:p>
            <a:pPr marL="0" indent="0">
              <a:buNone/>
            </a:pPr>
            <a:endParaRPr lang="en-US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6733014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821F1-0693-6A3C-B6D5-8AD488396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04782-BB98-1257-6A7C-6E37B623B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10961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Bebas Neue" panose="020B0606020202050201" pitchFamily="34" charset="0"/>
              </a:rPr>
              <a:t>Example (Student Research Project — </a:t>
            </a:r>
            <a:r>
              <a:rPr lang="en-US" dirty="0">
                <a:solidFill>
                  <a:srgbClr val="FFFF00"/>
                </a:solidFill>
                <a:latin typeface="Bebas Neue" panose="020B0606020202050201" pitchFamily="34" charset="0"/>
              </a:rPr>
              <a:t>6 Weeks</a:t>
            </a:r>
            <a:r>
              <a:rPr lang="en-US" dirty="0">
                <a:solidFill>
                  <a:schemeClr val="bg1"/>
                </a:solidFill>
                <a:latin typeface="Bebas Neue" panose="020B0606020202050201" pitchFamily="34" charset="0"/>
              </a:rPr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E026F9-2DBF-F966-83C0-02B063BE4D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564" y="1273996"/>
            <a:ext cx="11887200" cy="535283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Bahnschrift" panose="020B0502040204020203" pitchFamily="34" charset="0"/>
              </a:rPr>
              <a:t>Week 1 → Requirements + Research</a:t>
            </a:r>
            <a:br>
              <a:rPr lang="en-US" sz="3200" dirty="0">
                <a:latin typeface="Bahnschrift" panose="020B0502040204020203" pitchFamily="34" charset="0"/>
              </a:rPr>
            </a:br>
            <a:r>
              <a:rPr lang="en-US" sz="3200" dirty="0">
                <a:latin typeface="Bahnschrift" panose="020B0502040204020203" pitchFamily="34" charset="0"/>
              </a:rPr>
              <a:t>Week 2 → System Design</a:t>
            </a:r>
            <a:br>
              <a:rPr lang="en-US" sz="3200" dirty="0">
                <a:latin typeface="Bahnschrift" panose="020B0502040204020203" pitchFamily="34" charset="0"/>
              </a:rPr>
            </a:br>
            <a:r>
              <a:rPr lang="en-US" sz="3200" dirty="0">
                <a:latin typeface="Bahnschrift" panose="020B0502040204020203" pitchFamily="34" charset="0"/>
              </a:rPr>
              <a:t>Week 3 → Development Part 1</a:t>
            </a:r>
            <a:br>
              <a:rPr lang="en-US" sz="3200" dirty="0">
                <a:latin typeface="Bahnschrift" panose="020B0502040204020203" pitchFamily="34" charset="0"/>
              </a:rPr>
            </a:br>
            <a:r>
              <a:rPr lang="en-US" sz="3200" dirty="0">
                <a:latin typeface="Bahnschrift" panose="020B0502040204020203" pitchFamily="34" charset="0"/>
              </a:rPr>
              <a:t>Week 4 → Development Part 2</a:t>
            </a:r>
            <a:br>
              <a:rPr lang="en-US" sz="3200" dirty="0">
                <a:latin typeface="Bahnschrift" panose="020B0502040204020203" pitchFamily="34" charset="0"/>
              </a:rPr>
            </a:br>
            <a:r>
              <a:rPr lang="en-US" sz="3200" dirty="0">
                <a:latin typeface="Bahnschrift" panose="020B0502040204020203" pitchFamily="34" charset="0"/>
              </a:rPr>
              <a:t>Week 5 → Testing + Fixing</a:t>
            </a:r>
            <a:br>
              <a:rPr lang="en-US" sz="3200" dirty="0">
                <a:latin typeface="Bahnschrift" panose="020B0502040204020203" pitchFamily="34" charset="0"/>
              </a:rPr>
            </a:br>
            <a:r>
              <a:rPr lang="en-US" sz="3200" dirty="0">
                <a:latin typeface="Bahnschrift" panose="020B0502040204020203" pitchFamily="34" charset="0"/>
              </a:rPr>
              <a:t>Week 6 → Deployment + Final Report.</a:t>
            </a:r>
          </a:p>
          <a:p>
            <a:endParaRPr lang="en-US" sz="32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9645506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D13B6-7987-0716-3966-B89B9D4B0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3EDA9-2375-1F7F-7018-D91B39AA8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109610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Bebas Neue" panose="020B0606020202050201" pitchFamily="34" charset="0"/>
              </a:rPr>
              <a:t>Break </a:t>
            </a:r>
            <a:r>
              <a:rPr lang="en-US" sz="4800" dirty="0">
                <a:solidFill>
                  <a:srgbClr val="FFFF00"/>
                </a:solidFill>
                <a:latin typeface="Bebas Neue" panose="020B0606020202050201" pitchFamily="34" charset="0"/>
              </a:rPr>
              <a:t>Activities</a:t>
            </a:r>
            <a:r>
              <a:rPr lang="en-US" sz="4800" dirty="0">
                <a:solidFill>
                  <a:schemeClr val="bg1"/>
                </a:solidFill>
                <a:latin typeface="Bebas Neue" panose="020B0606020202050201" pitchFamily="34" charset="0"/>
              </a:rPr>
              <a:t> into Small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1EC94-9E87-D87E-6A38-A8ECBD12BA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564" y="1273996"/>
            <a:ext cx="11887200" cy="535283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Bahnschrift" panose="020B0502040204020203" pitchFamily="34" charset="0"/>
              </a:rPr>
              <a:t>Large activities must be divided.</a:t>
            </a:r>
          </a:p>
          <a:p>
            <a:r>
              <a:rPr lang="en-US" sz="3200" b="1" dirty="0">
                <a:solidFill>
                  <a:srgbClr val="00B050"/>
                </a:solidFill>
                <a:latin typeface="Bahnschrift" panose="020B0502040204020203" pitchFamily="34" charset="0"/>
              </a:rPr>
              <a:t>Example:</a:t>
            </a:r>
          </a:p>
          <a:p>
            <a:r>
              <a:rPr lang="en-US" sz="3200" dirty="0">
                <a:latin typeface="Bahnschrift" panose="020B0502040204020203" pitchFamily="34" charset="0"/>
              </a:rPr>
              <a:t>Development →</a:t>
            </a:r>
          </a:p>
          <a:p>
            <a:pPr lvl="1"/>
            <a:r>
              <a:rPr lang="en-US" sz="2800" dirty="0">
                <a:latin typeface="Bahnschrift" panose="020B0502040204020203" pitchFamily="34" charset="0"/>
              </a:rPr>
              <a:t>Frontend coding</a:t>
            </a:r>
          </a:p>
          <a:p>
            <a:pPr lvl="1"/>
            <a:r>
              <a:rPr lang="en-US" sz="2800" dirty="0">
                <a:latin typeface="Bahnschrift" panose="020B0502040204020203" pitchFamily="34" charset="0"/>
              </a:rPr>
              <a:t>Backend coding</a:t>
            </a:r>
          </a:p>
          <a:p>
            <a:pPr lvl="1"/>
            <a:r>
              <a:rPr lang="en-US" sz="2800" dirty="0">
                <a:latin typeface="Bahnschrift" panose="020B0502040204020203" pitchFamily="34" charset="0"/>
              </a:rPr>
              <a:t>API integration</a:t>
            </a:r>
          </a:p>
          <a:p>
            <a:r>
              <a:rPr lang="en-US" sz="3200" dirty="0">
                <a:latin typeface="Bahnschrift" panose="020B0502040204020203" pitchFamily="34" charset="0"/>
              </a:rPr>
              <a:t>Smaller tasks = More accurate timeline.</a:t>
            </a:r>
          </a:p>
          <a:p>
            <a:endParaRPr lang="en-US" sz="32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4378777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279A8-71D7-0914-50EB-12DD104AF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EBA0E-2195-65EB-DD47-44CEE4017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109610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Bebas Neue" panose="020B0606020202050201" pitchFamily="34" charset="0"/>
              </a:rPr>
              <a:t>Estimate </a:t>
            </a:r>
            <a:r>
              <a:rPr lang="en-US" sz="4800" dirty="0">
                <a:solidFill>
                  <a:srgbClr val="FFFF00"/>
                </a:solidFill>
                <a:latin typeface="Bebas Neue" panose="020B0606020202050201" pitchFamily="34" charset="0"/>
              </a:rPr>
              <a:t>Time</a:t>
            </a:r>
            <a:r>
              <a:rPr lang="en-US" sz="4800" dirty="0">
                <a:solidFill>
                  <a:schemeClr val="bg1"/>
                </a:solidFill>
                <a:latin typeface="Bebas Neue" panose="020B0606020202050201" pitchFamily="34" charset="0"/>
              </a:rPr>
              <a:t> for Each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682E0-1247-7972-7592-04E8476C1B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564" y="1273996"/>
            <a:ext cx="11887200" cy="5352835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2759BC"/>
                </a:solidFill>
                <a:latin typeface="Bahnschrift" panose="020B0502040204020203" pitchFamily="34" charset="0"/>
              </a:rPr>
              <a:t>Students estimate:</a:t>
            </a:r>
          </a:p>
          <a:p>
            <a:pPr lvl="1"/>
            <a:r>
              <a:rPr lang="en-US" sz="2800" dirty="0">
                <a:latin typeface="Bahnschrift" panose="020B0502040204020203" pitchFamily="34" charset="0"/>
              </a:rPr>
              <a:t>Hours</a:t>
            </a:r>
          </a:p>
          <a:p>
            <a:pPr lvl="1"/>
            <a:r>
              <a:rPr lang="en-US" sz="2800" dirty="0">
                <a:latin typeface="Bahnschrift" panose="020B0502040204020203" pitchFamily="34" charset="0"/>
              </a:rPr>
              <a:t>Days</a:t>
            </a:r>
          </a:p>
          <a:p>
            <a:pPr lvl="1"/>
            <a:r>
              <a:rPr lang="en-US" sz="2800" dirty="0">
                <a:latin typeface="Bahnschrift" panose="020B0502040204020203" pitchFamily="34" charset="0"/>
              </a:rPr>
              <a:t>Weeks</a:t>
            </a:r>
          </a:p>
          <a:p>
            <a:r>
              <a:rPr lang="en-US" sz="3200" b="1" dirty="0">
                <a:solidFill>
                  <a:srgbClr val="2759BC"/>
                </a:solidFill>
                <a:latin typeface="Bahnschrift" panose="020B0502040204020203" pitchFamily="34" charset="0"/>
              </a:rPr>
              <a:t>They should consider:</a:t>
            </a:r>
          </a:p>
          <a:p>
            <a:pPr lvl="1"/>
            <a:r>
              <a:rPr lang="en-US" sz="2800" dirty="0">
                <a:latin typeface="Bahnschrift" panose="020B0502040204020203" pitchFamily="34" charset="0"/>
              </a:rPr>
              <a:t>Skill level</a:t>
            </a:r>
          </a:p>
          <a:p>
            <a:pPr lvl="1"/>
            <a:r>
              <a:rPr lang="en-US" sz="2800" dirty="0">
                <a:latin typeface="Bahnschrift" panose="020B0502040204020203" pitchFamily="34" charset="0"/>
              </a:rPr>
              <a:t>Task difficulty</a:t>
            </a:r>
          </a:p>
          <a:p>
            <a:pPr lvl="1"/>
            <a:r>
              <a:rPr lang="en-US" sz="2800" dirty="0">
                <a:latin typeface="Bahnschrift" panose="020B0502040204020203" pitchFamily="34" charset="0"/>
              </a:rPr>
              <a:t>Dependencies (what must be done first)</a:t>
            </a:r>
          </a:p>
          <a:p>
            <a:endParaRPr lang="en-US" sz="32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2933119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BFBF38-4134-A8A4-3B20-160A9A1D6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260BB-C3AB-9E60-A860-39E757E84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2987749"/>
            <a:ext cx="8956158" cy="1109610"/>
          </a:xfrm>
        </p:spPr>
        <p:txBody>
          <a:bodyPr>
            <a:normAutofit/>
          </a:bodyPr>
          <a:lstStyle/>
          <a:p>
            <a:pPr algn="ctr"/>
            <a:r>
              <a:rPr lang="en-US" sz="5400" dirty="0">
                <a:solidFill>
                  <a:srgbClr val="2759BC"/>
                </a:solidFill>
                <a:latin typeface="Bebas Neue" panose="020B0606020202050201" pitchFamily="34" charset="0"/>
              </a:rPr>
              <a:t>Tools for preparing timelines</a:t>
            </a:r>
          </a:p>
        </p:txBody>
      </p:sp>
    </p:spTree>
    <p:extLst>
      <p:ext uri="{BB962C8B-B14F-4D97-AF65-F5344CB8AC3E}">
        <p14:creationId xmlns:p14="http://schemas.microsoft.com/office/powerpoint/2010/main" val="936622727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80F04-F943-5BAD-9048-5E88BE563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8284B-CA9D-4C08-308B-E4FB16AA9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10961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Bebas Neue" panose="020B0606020202050201" pitchFamily="34" charset="0"/>
              </a:rPr>
              <a:t>🥇 1️⃣ </a:t>
            </a:r>
            <a:r>
              <a:rPr lang="en-US" b="1" dirty="0">
                <a:solidFill>
                  <a:schemeClr val="bg1"/>
                </a:solidFill>
                <a:latin typeface="Bebas Neue" panose="020B0606020202050201" pitchFamily="34" charset="0"/>
              </a:rPr>
              <a:t>Best Overall for Student Projects: </a:t>
            </a:r>
            <a:r>
              <a:rPr lang="en-US" b="1" dirty="0">
                <a:solidFill>
                  <a:srgbClr val="FFFF00"/>
                </a:solidFill>
                <a:latin typeface="Bebas Neue" panose="020B0606020202050201" pitchFamily="34" charset="0"/>
              </a:rPr>
              <a:t>ClickUp</a:t>
            </a:r>
            <a:endParaRPr lang="en-US" dirty="0">
              <a:solidFill>
                <a:srgbClr val="FFFF00"/>
              </a:solidFill>
              <a:latin typeface="Bebas Neue" panose="020B0606020202050201" pitchFamily="34" charset="0"/>
            </a:endParaRPr>
          </a:p>
        </p:txBody>
      </p:sp>
      <p:pic>
        <p:nvPicPr>
          <p:cNvPr id="1026" name="Picture 2" descr="Discover The Best Free Gantt Chart Tools Online">
            <a:extLst>
              <a:ext uri="{FF2B5EF4-FFF2-40B4-BE49-F238E27FC236}">
                <a16:creationId xmlns:a16="http://schemas.microsoft.com/office/drawing/2014/main" id="{E774DEC2-3F2D-0C2F-0892-9C9F082CD83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306" y="1296028"/>
            <a:ext cx="8586123" cy="535146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  <a:reflection blurRad="12700" stA="38000" endPos="28000" dist="5000" dir="5400000" sy="-100000" algn="bl" rotWithShape="0"/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9F92A74-C85B-AC20-7A19-4452A09CD9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7687413" y="2836622"/>
            <a:ext cx="5895385" cy="2270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41902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980A1-56D4-9495-26A2-0F2FF4192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8B2D6-B730-DE8B-4423-7ACA72B84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109610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rgbClr val="FFFF00"/>
                </a:solidFill>
                <a:latin typeface="Bebas Neue" panose="020B0606020202050201" pitchFamily="34" charset="0"/>
              </a:rPr>
              <a:t>Contin</a:t>
            </a:r>
            <a:r>
              <a:rPr lang="en-US" sz="4800" dirty="0">
                <a:solidFill>
                  <a:schemeClr val="bg1"/>
                </a:solidFill>
                <a:latin typeface="Bebas Neue" panose="020B0606020202050201" pitchFamily="34" charset="0"/>
              </a:rPr>
              <a:t>…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F9187-9B0D-2E4B-06AC-921E58D4D4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564" y="1273996"/>
            <a:ext cx="11887200" cy="5352835"/>
          </a:xfrm>
        </p:spPr>
        <p:txBody>
          <a:bodyPr>
            <a:normAutofit lnSpcReduction="10000"/>
          </a:bodyPr>
          <a:lstStyle/>
          <a:p>
            <a:r>
              <a:rPr lang="en-US" sz="3200" b="1" dirty="0">
                <a:solidFill>
                  <a:srgbClr val="2759BC"/>
                </a:solidFill>
                <a:latin typeface="Bahnschrift" panose="020B0502040204020203" pitchFamily="34" charset="0"/>
              </a:rPr>
              <a:t>Why it is ideal:</a:t>
            </a:r>
          </a:p>
          <a:p>
            <a:pPr lvl="1"/>
            <a:r>
              <a:rPr lang="en-US" sz="2800" dirty="0">
                <a:latin typeface="Bahnschrift" panose="020B0502040204020203" pitchFamily="34" charset="0"/>
              </a:rPr>
              <a:t>Built-in Gantt charts</a:t>
            </a:r>
          </a:p>
          <a:p>
            <a:pPr lvl="1"/>
            <a:r>
              <a:rPr lang="en-US" sz="2800" dirty="0">
                <a:latin typeface="Bahnschrift" panose="020B0502040204020203" pitchFamily="34" charset="0"/>
              </a:rPr>
              <a:t>Task dependencies</a:t>
            </a:r>
          </a:p>
          <a:p>
            <a:pPr lvl="1"/>
            <a:r>
              <a:rPr lang="en-US" sz="2800" dirty="0">
                <a:latin typeface="Bahnschrift" panose="020B0502040204020203" pitchFamily="34" charset="0"/>
              </a:rPr>
              <a:t>Team assignment</a:t>
            </a:r>
          </a:p>
          <a:p>
            <a:pPr lvl="1"/>
            <a:r>
              <a:rPr lang="en-US" sz="2800" dirty="0">
                <a:latin typeface="Bahnschrift" panose="020B0502040204020203" pitchFamily="34" charset="0"/>
              </a:rPr>
              <a:t>Milestones</a:t>
            </a:r>
          </a:p>
          <a:p>
            <a:pPr lvl="1"/>
            <a:r>
              <a:rPr lang="en-US" sz="2800" dirty="0">
                <a:latin typeface="Bahnschrift" panose="020B0502040204020203" pitchFamily="34" charset="0"/>
              </a:rPr>
              <a:t>Progress tracking</a:t>
            </a:r>
          </a:p>
          <a:p>
            <a:pPr lvl="1"/>
            <a:r>
              <a:rPr lang="en-US" sz="2800" dirty="0">
                <a:latin typeface="Bahnschrift" panose="020B0502040204020203" pitchFamily="34" charset="0"/>
              </a:rPr>
              <a:t>Real-world industry tool</a:t>
            </a:r>
          </a:p>
          <a:p>
            <a:r>
              <a:rPr lang="en-US" sz="3200" b="1" dirty="0">
                <a:solidFill>
                  <a:srgbClr val="2759BC"/>
                </a:solidFill>
                <a:latin typeface="Bahnschrift" panose="020B0502040204020203" pitchFamily="34" charset="0"/>
              </a:rPr>
              <a:t>Best For:</a:t>
            </a:r>
          </a:p>
          <a:p>
            <a:r>
              <a:rPr lang="en-US" sz="3200" dirty="0">
                <a:latin typeface="Bahnschrift" panose="020B0502040204020203" pitchFamily="34" charset="0"/>
              </a:rPr>
              <a:t>Team-based software projects</a:t>
            </a:r>
          </a:p>
          <a:p>
            <a:r>
              <a:rPr lang="en-US" sz="3200" dirty="0">
                <a:latin typeface="Bahnschrift" panose="020B0502040204020203" pitchFamily="34" charset="0"/>
              </a:rPr>
              <a:t>Your mentorship program</a:t>
            </a:r>
          </a:p>
          <a:p>
            <a:r>
              <a:rPr lang="en-US" sz="3200" dirty="0">
                <a:latin typeface="Bahnschrift" panose="020B0502040204020203" pitchFamily="34" charset="0"/>
              </a:rPr>
              <a:t>Long-term semester projects</a:t>
            </a:r>
          </a:p>
          <a:p>
            <a:endParaRPr lang="en-US" sz="32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3518373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F4584-8B7F-71A2-8082-16549E00A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9D9CD-D88F-7A02-3E78-CCE28D0E0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10961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  <a:latin typeface="Bebas Neue" panose="020B0606020202050201" pitchFamily="34" charset="0"/>
              </a:rPr>
              <a:t>🥈 2️⃣ Most Accessible: </a:t>
            </a:r>
            <a:r>
              <a:rPr lang="en-US" b="1" dirty="0">
                <a:solidFill>
                  <a:srgbClr val="FFFF00"/>
                </a:solidFill>
                <a:latin typeface="Bebas Neue" panose="020B0606020202050201" pitchFamily="34" charset="0"/>
              </a:rPr>
              <a:t>Microsoft Excel </a:t>
            </a:r>
            <a:r>
              <a:rPr lang="en-US" b="1" dirty="0">
                <a:solidFill>
                  <a:schemeClr val="bg1"/>
                </a:solidFill>
                <a:latin typeface="Bebas Neue" panose="020B0606020202050201" pitchFamily="34" charset="0"/>
              </a:rPr>
              <a:t>or </a:t>
            </a:r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Bebas Neue" panose="020B0606020202050201" pitchFamily="34" charset="0"/>
              </a:rPr>
              <a:t>Google Sheets</a:t>
            </a:r>
            <a:endParaRPr lang="en-US" dirty="0">
              <a:solidFill>
                <a:schemeClr val="accent6">
                  <a:lumMod val="40000"/>
                  <a:lumOff val="60000"/>
                </a:schemeClr>
              </a:solidFill>
              <a:latin typeface="Bebas Neue" panose="020B0606020202050201" pitchFamily="34" charset="0"/>
            </a:endParaRPr>
          </a:p>
        </p:txBody>
      </p:sp>
      <p:pic>
        <p:nvPicPr>
          <p:cNvPr id="2050" name="Picture 2" descr="Easy Gantt Charts in Excel | Nexacu">
            <a:extLst>
              <a:ext uri="{FF2B5EF4-FFF2-40B4-BE49-F238E27FC236}">
                <a16:creationId xmlns:a16="http://schemas.microsoft.com/office/drawing/2014/main" id="{89D546EC-B432-1EDD-5F4E-E6F923C620C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900" y="1371591"/>
            <a:ext cx="11692202" cy="486863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  <a:reflection blurRad="12700" stA="38000" endPos="28000" dist="5000" dir="5400000" sy="-100000" algn="bl" rotWithShape="0"/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C3656C4-8DD6-F74B-A330-A10F0A2A59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6642" y="4037667"/>
            <a:ext cx="1513921" cy="14487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88C6AD3-1949-8F8C-2352-7147490A79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6708" y="4762038"/>
            <a:ext cx="1513921" cy="1614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44191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29EBD-ABEE-B66B-6AC8-9510953D1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0D1AF-DDD6-77E8-941A-CAAE3EFA9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10961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1E3593-E051-91BB-2309-306AE9904F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564" y="1273996"/>
            <a:ext cx="11887200" cy="5352835"/>
          </a:xfrm>
        </p:spPr>
        <p:txBody>
          <a:bodyPr/>
          <a:lstStyle/>
          <a:p>
            <a:r>
              <a:rPr lang="en-US" sz="3200" b="1" dirty="0">
                <a:solidFill>
                  <a:srgbClr val="2759BC"/>
                </a:solidFill>
                <a:latin typeface="Bahnschrift" panose="020B0502040204020203" pitchFamily="34" charset="0"/>
              </a:rPr>
              <a:t>Why:</a:t>
            </a:r>
          </a:p>
          <a:p>
            <a:pPr lvl="1"/>
            <a:r>
              <a:rPr lang="en-US" sz="2800" dirty="0">
                <a:latin typeface="Bahnschrift" panose="020B0502040204020203" pitchFamily="34" charset="0"/>
              </a:rPr>
              <a:t>Very easy</a:t>
            </a:r>
          </a:p>
          <a:p>
            <a:pPr lvl="1"/>
            <a:r>
              <a:rPr lang="en-US" sz="2800" dirty="0">
                <a:latin typeface="Bahnschrift" panose="020B0502040204020203" pitchFamily="34" charset="0"/>
              </a:rPr>
              <a:t>Works offline (Excel)</a:t>
            </a:r>
          </a:p>
          <a:p>
            <a:pPr lvl="1"/>
            <a:r>
              <a:rPr lang="en-US" sz="2800" dirty="0">
                <a:latin typeface="Bahnschrift" panose="020B0502040204020203" pitchFamily="34" charset="0"/>
              </a:rPr>
              <a:t>No learning curve</a:t>
            </a:r>
          </a:p>
          <a:p>
            <a:r>
              <a:rPr lang="en-US" sz="3200" b="1" dirty="0">
                <a:solidFill>
                  <a:srgbClr val="00B050"/>
                </a:solidFill>
                <a:latin typeface="Bahnschrift" panose="020B0502040204020203" pitchFamily="34" charset="0"/>
              </a:rPr>
              <a:t>Students can create: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BEAFF1C-B429-D9E5-3316-43F8DFF82C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9535522"/>
              </p:ext>
            </p:extLst>
          </p:nvPr>
        </p:nvGraphicFramePr>
        <p:xfrm>
          <a:off x="133564" y="3863227"/>
          <a:ext cx="11887200" cy="517388"/>
        </p:xfrm>
        <a:graphic>
          <a:graphicData uri="http://schemas.openxmlformats.org/drawingml/2006/table">
            <a:tbl>
              <a:tblPr>
                <a:tableStyleId>{638B1855-1B75-4FBE-930C-398BA8C253C6}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1387483707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1169116085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1717056034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3864614882"/>
                    </a:ext>
                  </a:extLst>
                </a:gridCol>
              </a:tblGrid>
              <a:tr h="5173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Bahnschrift" panose="020B0502040204020203" pitchFamily="34" charset="0"/>
                        </a:rPr>
                        <a:t>Task</a:t>
                      </a:r>
                    </a:p>
                  </a:txBody>
                  <a:tcPr anchor="ctr"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Bahnschrift" panose="020B0502040204020203" pitchFamily="34" charset="0"/>
                        </a:rPr>
                        <a:t>Start Date</a:t>
                      </a:r>
                    </a:p>
                  </a:txBody>
                  <a:tcPr anchor="ctr"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Bahnschrift" panose="020B0502040204020203" pitchFamily="34" charset="0"/>
                        </a:rPr>
                        <a:t>End Date</a:t>
                      </a:r>
                    </a:p>
                  </a:txBody>
                  <a:tcPr anchor="ctr"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Bahnschrift" panose="020B0502040204020203" pitchFamily="34" charset="0"/>
                        </a:rPr>
                        <a:t>Duration</a:t>
                      </a:r>
                    </a:p>
                  </a:txBody>
                  <a:tcPr anchor="ctr">
                    <a:cell3D prstMaterial="dkEdge">
                      <a:bevel prst="relaxedInse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42860000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1712307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709A6C-EF0B-ADDC-AB9D-E6EE101BF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8DF6C8D-04A2-185C-3F8B-732EEE3D522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5007339"/>
              </p:ext>
            </p:extLst>
          </p:nvPr>
        </p:nvGraphicFramePr>
        <p:xfrm>
          <a:off x="133564" y="1273996"/>
          <a:ext cx="11887200" cy="53528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7FE7F00C-B6D7-C27D-DA3E-FFFC72A3950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6530" y="1350335"/>
            <a:ext cx="3268434" cy="32684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25B4383-531B-6C18-C000-E5C3FA9D18D5}"/>
              </a:ext>
            </a:extLst>
          </p:cNvPr>
          <p:cNvPicPr>
            <a:picLocks noChangeAspect="1"/>
          </p:cNvPicPr>
          <p:nvPr/>
        </p:nvPicPr>
        <p:blipFill>
          <a:blip r:embed="rId9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4939" y="0"/>
            <a:ext cx="8304450" cy="1119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58446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</TotalTime>
  <Words>970</Words>
  <Application>Microsoft Office PowerPoint</Application>
  <PresentationFormat>Widescreen</PresentationFormat>
  <Paragraphs>148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Bahnschrift</vt:lpstr>
      <vt:lpstr>Bebas Neue</vt:lpstr>
      <vt:lpstr>Calibri</vt:lpstr>
      <vt:lpstr>Calibri Light</vt:lpstr>
      <vt:lpstr>Wingdings</vt:lpstr>
      <vt:lpstr>Office Theme</vt:lpstr>
      <vt:lpstr>Research Planning  &amp; System Design</vt:lpstr>
      <vt:lpstr>Why Research Planning Matters</vt:lpstr>
      <vt:lpstr>From Idea to Technical Execution</vt:lpstr>
      <vt:lpstr>Translating Objectives into Technical Tasks</vt:lpstr>
      <vt:lpstr>Practical Example (Student Project)</vt:lpstr>
      <vt:lpstr> Introduction to System Architecture</vt:lpstr>
      <vt:lpstr>System Architecture</vt:lpstr>
      <vt:lpstr>Types of System Architecture</vt:lpstr>
      <vt:lpstr>Conceptual Framework Design</vt:lpstr>
      <vt:lpstr>Selecting Tools and Technologies</vt:lpstr>
      <vt:lpstr>Tools and Technologies</vt:lpstr>
      <vt:lpstr>Example Tool Selection</vt:lpstr>
      <vt:lpstr>Risk Analysis Basics</vt:lpstr>
      <vt:lpstr>Risk Mitigation Strategies</vt:lpstr>
      <vt:lpstr>Timeline Planning</vt:lpstr>
      <vt:lpstr>Project Timeline Planning</vt:lpstr>
      <vt:lpstr>Example (Student Research Project — 6 Weeks)</vt:lpstr>
      <vt:lpstr>Break Activities into Small Tasks</vt:lpstr>
      <vt:lpstr>Estimate Time for Each Task</vt:lpstr>
      <vt:lpstr>Tools for preparing timelines</vt:lpstr>
      <vt:lpstr>🥇 1️⃣ Best Overall for Student Projects: ClickUp</vt:lpstr>
      <vt:lpstr>Contin… </vt:lpstr>
      <vt:lpstr>🥈 2️⃣ Most Accessible: Microsoft Excel or Google Sheets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BACKGROUND (FONT: BEBAS NEUE SIZE: 66)</dc:title>
  <dc:creator>HP</dc:creator>
  <cp:lastModifiedBy>Omar Abdi</cp:lastModifiedBy>
  <cp:revision>18</cp:revision>
  <dcterms:created xsi:type="dcterms:W3CDTF">2025-09-07T16:56:37Z</dcterms:created>
  <dcterms:modified xsi:type="dcterms:W3CDTF">2026-02-23T08:15:46Z</dcterms:modified>
</cp:coreProperties>
</file>