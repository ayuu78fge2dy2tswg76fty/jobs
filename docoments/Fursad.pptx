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4" r:id="rId14"/>
    <p:sldId id="275" r:id="rId15"/>
    <p:sldId id="276" r:id="rId16"/>
    <p:sldId id="268" r:id="rId17"/>
    <p:sldId id="269" r:id="rId18"/>
    <p:sldId id="270" r:id="rId19"/>
    <p:sldId id="271" r:id="rId20"/>
    <p:sldId id="272" r:id="rId21"/>
    <p:sldId id="273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account" initials="Ma" lastIdx="3" clrIdx="0">
    <p:extLst>
      <p:ext uri="{19B8F6BF-5375-455C-9EA6-DF929625EA0E}">
        <p15:presenceInfo xmlns:p15="http://schemas.microsoft.com/office/powerpoint/2012/main" userId="646ffc8951fc44a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title>
      <c:tx>
        <c:rich>
          <a:bodyPr/>
          <a:lstStyle/>
          <a:p>
            <a:pPr>
              <a:defRPr/>
            </a:pPr>
            <a:r>
              <a:rPr lang="en-US" dirty="0">
                <a:solidFill>
                  <a:srgbClr val="FF0000"/>
                </a:solidFill>
              </a:rPr>
              <a:t>Test Results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 Results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trendline>
            <c:trendlineType val="linear"/>
            <c:dispRSqr val="0"/>
            <c:dispEq val="0"/>
          </c:trendline>
          <c:cat>
            <c:strRef>
              <c:f>Sheet1!$A$2:$A$7</c:f>
              <c:strCache>
                <c:ptCount val="6"/>
                <c:pt idx="0">
                  <c:v>Auth Forms</c:v>
                </c:pt>
                <c:pt idx="1">
                  <c:v>Login/Logout</c:v>
                </c:pt>
                <c:pt idx="2">
                  <c:v>Job Creation</c:v>
                </c:pt>
                <c:pt idx="3">
                  <c:v>Job Search</c:v>
                </c:pt>
                <c:pt idx="4">
                  <c:v>Application Submit</c:v>
                </c:pt>
                <c:pt idx="5">
                  <c:v>Duplicate Check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6</c:v>
                </c:pt>
                <c:pt idx="2">
                  <c:v>9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548815776"/>
        <c:axId val="1548804352"/>
      </c:barChart>
      <c:catAx>
        <c:axId val="154881577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1548804352"/>
        <c:crosses val="autoZero"/>
        <c:auto val="1"/>
        <c:lblAlgn val="ctr"/>
        <c:lblOffset val="100"/>
        <c:noMultiLvlLbl val="1"/>
      </c:catAx>
      <c:valAx>
        <c:axId val="15488043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15488157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Excellent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75</c:v>
                </c:pt>
                <c:pt idx="1">
                  <c:v>63</c:v>
                </c:pt>
                <c:pt idx="2">
                  <c:v>75</c:v>
                </c:pt>
                <c:pt idx="3">
                  <c:v>88</c:v>
                </c:pt>
                <c:pt idx="4">
                  <c:v>75</c:v>
                </c:pt>
                <c:pt idx="5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Good</c:v>
                </c:pt>
              </c:strCache>
            </c:strRef>
          </c:tx>
          <c:spPr>
            <a:solidFill>
              <a:srgbClr val="1E5FAD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Registration</c:v>
                </c:pt>
                <c:pt idx="1">
                  <c:v>Navigation</c:v>
                </c:pt>
                <c:pt idx="2">
                  <c:v>Job Search</c:v>
                </c:pt>
                <c:pt idx="3">
                  <c:v>Apply Process</c:v>
                </c:pt>
                <c:pt idx="4">
                  <c:v>App Tracking</c:v>
                </c:pt>
                <c:pt idx="5">
                  <c:v>Overall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25</c:v>
                </c:pt>
                <c:pt idx="1">
                  <c:v>37</c:v>
                </c:pt>
                <c:pt idx="2">
                  <c:v>25</c:v>
                </c:pt>
                <c:pt idx="3">
                  <c:v>12</c:v>
                </c:pt>
                <c:pt idx="4">
                  <c:v>25</c:v>
                </c:pt>
                <c:pt idx="5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548803264"/>
        <c:axId val="1548807616"/>
      </c:barChart>
      <c:catAx>
        <c:axId val="154880326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1548807616"/>
        <c:crosses val="autoZero"/>
        <c:auto val="1"/>
        <c:lblAlgn val="ctr"/>
        <c:lblOffset val="100"/>
        <c:noMultiLvlLbl val="1"/>
      </c:catAx>
      <c:valAx>
        <c:axId val="1548807616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1E3A5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0C4DE"/>
                </a:solidFill>
                <a:latin typeface="Arial"/>
              </a:defRPr>
            </a:pPr>
            <a:endParaRPr lang="en-US"/>
          </a:p>
        </c:txPr>
        <c:crossAx val="1548803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0D2137"/>
    </a:solidFill>
    <a:ln>
      <a:noFill/>
    </a:ln>
    <a:effectLst/>
  </c:spPr>
  <c:externalData r:id="rId1">
    <c:autoUpdate val="0"/>
  </c:externalData>
</c:chartSpace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6-11T05:51:37.712" idx="3">
    <p:pos x="10" y="10"/>
    <p:text>auth_user = admin</p:text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286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3214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8673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1315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omments" Target="../comments/commen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6.pn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1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4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  <p:sp>
        <p:nvSpPr>
          <p:cNvPr id="5" name="Text 2"/>
          <p:cNvSpPr/>
          <p:nvPr/>
        </p:nvSpPr>
        <p:spPr>
          <a:xfrm>
            <a:off x="365760" y="22860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365760" y="502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of Computer Science and Information Technology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91440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kern="0" spc="1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365760" y="19202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Implementation of 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365760" y="22860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Web-Based Job Portal System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65760" y="2834640"/>
            <a:ext cx="45720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5760" y="318211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65760" y="343814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65760" y="37307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– 2027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solidFill>
            <a:srgbClr val="1E5FAD"/>
          </a:solidFill>
          <a:ln w="127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</p:sp>
      <p:sp>
        <p:nvSpPr>
          <p:cNvPr id="16" name="Text 13"/>
          <p:cNvSpPr/>
          <p:nvPr/>
        </p:nvSpPr>
        <p:spPr>
          <a:xfrm>
            <a:off x="365760" y="41148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GRADUATION PROJECT DEFENSE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0" y="46634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B.Sc. in Computer Science</a:t>
            </a:r>
            <a:endParaRPr lang="en-US" sz="900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Problem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3931920" cy="33832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05840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987552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1481328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still relies on informal, manual recruitment channels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graduates remain unemployed due to information gaps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platforms (LinkedIn, Indeed) do not serve local needs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centralized, digital recruitment platform exists locally
</a:t>
            </a: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1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Internet-driven recruitment emerged globally since mid-1990s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434840" y="914400"/>
            <a:ext cx="4389120" cy="33832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29200" y="9875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572000" y="153619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846320" y="149047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job listing source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0" y="1965960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19202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 paper-based applications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0" y="2395728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846320" y="23500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candidate management for employers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72000" y="282549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846320" y="27797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 status transparency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572000" y="3255264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846320" y="320954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risks via informal channels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572000" y="3685032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846320" y="363931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constraints limit access</a:t>
            </a:r>
            <a:endParaRPr lang="en-US" sz="1050" dirty="0"/>
          </a:p>
        </p:txBody>
      </p:sp>
      <p:sp>
        <p:nvSpPr>
          <p:cNvPr id="23" name="Shape 0"/>
          <p:cNvSpPr/>
          <p:nvPr/>
        </p:nvSpPr>
        <p:spPr>
          <a:xfrm>
            <a:off x="0" y="6096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Aim, Objectives &amp; Questions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59436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692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950976"/>
            <a:ext cx="77266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Design, develop, and implement Fursad – a secure, user-friendly web-based job portal that modernizes recruitment in the local context.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20040" y="1645920"/>
            <a:ext cx="5029200" cy="2788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19072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68680" y="169164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Objectives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214884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Review existing online job portal systems &amp; best practices</a:t>
            </a:r>
            <a:endParaRPr lang="en-US" sz="980" dirty="0"/>
          </a:p>
        </p:txBody>
      </p:sp>
      <p:sp>
        <p:nvSpPr>
          <p:cNvPr id="11" name="Text 7"/>
          <p:cNvSpPr/>
          <p:nvPr/>
        </p:nvSpPr>
        <p:spPr>
          <a:xfrm>
            <a:off x="457200" y="247802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Gather requirements from HR professionals &amp; job seekers</a:t>
            </a:r>
            <a:endParaRPr lang="en-US" sz="980" dirty="0"/>
          </a:p>
        </p:txBody>
      </p:sp>
      <p:sp>
        <p:nvSpPr>
          <p:cNvPr id="12" name="Text 8"/>
          <p:cNvSpPr/>
          <p:nvPr/>
        </p:nvSpPr>
        <p:spPr>
          <a:xfrm>
            <a:off x="457200" y="2807208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Design Django MVT architecture with MSSQL schema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457200" y="3136392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Implement all core modules: auth, profiles, jobs, applications</a:t>
            </a:r>
            <a:endParaRPr lang="en-US" sz="980" dirty="0"/>
          </a:p>
        </p:txBody>
      </p:sp>
      <p:sp>
        <p:nvSpPr>
          <p:cNvPr id="14" name="Text 10"/>
          <p:cNvSpPr/>
          <p:nvPr/>
        </p:nvSpPr>
        <p:spPr>
          <a:xfrm>
            <a:off x="457200" y="3465576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Build responsive Bootstrap 5 UI (desktop &amp; mobile)</a:t>
            </a:r>
            <a:endParaRPr lang="en-US" sz="980" dirty="0"/>
          </a:p>
        </p:txBody>
      </p:sp>
      <p:sp>
        <p:nvSpPr>
          <p:cNvPr id="15" name="Text 11"/>
          <p:cNvSpPr/>
          <p:nvPr/>
        </p:nvSpPr>
        <p:spPr>
          <a:xfrm>
            <a:off x="457200" y="3794760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Integrate CSRF, XSS, SQL injection &amp; RBAC security</a:t>
            </a:r>
            <a:endParaRPr lang="en-US" sz="980" dirty="0"/>
          </a:p>
        </p:txBody>
      </p:sp>
      <p:sp>
        <p:nvSpPr>
          <p:cNvPr id="16" name="Text 12"/>
          <p:cNvSpPr/>
          <p:nvPr/>
        </p:nvSpPr>
        <p:spPr>
          <a:xfrm>
            <a:off x="457200" y="4123944"/>
            <a:ext cx="47548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Perform unit, integration &amp; UAT testing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5532120" y="1645920"/>
            <a:ext cx="3291840" cy="2788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099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062472" y="16916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5650992" y="217627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How to bridge the gap between job seekers &amp; employers digitally?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5650992" y="272491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What features are essential for a modern local job portal?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5650992" y="327355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How can Django build a secure, scalable system within academic constraints?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5650992" y="3822192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What testing methodologies best validate a web recruitment system?</a:t>
            </a:r>
            <a:endParaRPr lang="en-US" sz="950" dirty="0"/>
          </a:p>
        </p:txBody>
      </p:sp>
      <p:sp>
        <p:nvSpPr>
          <p:cNvPr id="24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Highlights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51760" cy="16002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29768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930M+ members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29768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Professional networking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9768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White-collar focus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29768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local market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51760" cy="1600200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3721608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Indeed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282696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Global aggregator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3282696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Broad listings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3282696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employer control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3282696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local focus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51760" cy="1600200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6574536" y="100584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Glassdoor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135624" y="146304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reviews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6135624" y="173736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Salary insights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135624" y="201168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Needs critical mass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6135624" y="2286000"/>
            <a:ext cx="2423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 locally viable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320040" y="2697480"/>
            <a:ext cx="8503920" cy="621792"/>
          </a:xfrm>
          <a:prstGeom prst="rect">
            <a:avLst/>
          </a:prstGeom>
          <a:solidFill>
            <a:srgbClr val="1122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Text 21"/>
          <p:cNvSpPr/>
          <p:nvPr/>
        </p:nvSpPr>
        <p:spPr>
          <a:xfrm>
            <a:off x="284088" y="2724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Selection — Why Django?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2614363" y="2810256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761664" y="2691384"/>
            <a:ext cx="777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Auth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3403011" y="2829951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514072" y="2705217"/>
            <a:ext cx="854495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ORM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223608" y="2798064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4345416" y="2728946"/>
            <a:ext cx="132646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AutoCSRF</a:t>
            </a: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/XS/SQL-</a:t>
            </a:r>
            <a:r>
              <a:rPr lang="en-US" sz="8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</a:t>
            </a:r>
            <a:r>
              <a:rPr lang="en-US" sz="8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342657" y="2807985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511703" y="2670825"/>
            <a:ext cx="103772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MVT architecture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6361861" y="2818770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6503711" y="2679969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community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339341" y="2807985"/>
            <a:ext cx="182880" cy="18288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7435226" y="2661681"/>
            <a:ext cx="114862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to 100M+ users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320040" y="3429000"/>
            <a:ext cx="8503920" cy="114300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0" name="Text 35"/>
          <p:cNvSpPr/>
          <p:nvPr/>
        </p:nvSpPr>
        <p:spPr>
          <a:xfrm>
            <a:off x="502920" y="3493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&amp; Project Justification</a:t>
            </a:r>
            <a:endParaRPr lang="en-US" sz="1100" dirty="0"/>
          </a:p>
        </p:txBody>
      </p:sp>
      <p:sp>
        <p:nvSpPr>
          <p:cNvPr id="41" name="Text 36"/>
          <p:cNvSpPr/>
          <p:nvPr/>
        </p:nvSpPr>
        <p:spPr>
          <a:xfrm>
            <a:off x="502920" y="380390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dedicated digital recruitment platform exists for Puntland's local employment market.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global platforms are inaccessible to users with limited digital literacy.  </a:t>
            </a:r>
            <a:r>
              <a:rPr lang="en-US" sz="10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Gap: </a:t>
            </a: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system combines local focus, simplicity, and modern web security.</a:t>
            </a:r>
            <a:endParaRPr lang="en-US" sz="1000" dirty="0"/>
          </a:p>
        </p:txBody>
      </p:sp>
      <p:sp>
        <p:nvSpPr>
          <p:cNvPr id="43" name="Oval 42"/>
          <p:cNvSpPr/>
          <p:nvPr/>
        </p:nvSpPr>
        <p:spPr>
          <a:xfrm>
            <a:off x="356147" y="983361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356147" y="978408"/>
            <a:ext cx="438912" cy="438912"/>
          </a:xfrm>
          <a:prstGeom prst="ellipse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3249168" y="1005840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3249168" y="1003187"/>
            <a:ext cx="438912" cy="438912"/>
          </a:xfrm>
          <a:prstGeom prst="ellipse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6121791" y="1022648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/>
          <p:cNvSpPr/>
          <p:nvPr/>
        </p:nvSpPr>
        <p:spPr>
          <a:xfrm>
            <a:off x="6121791" y="1016699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/>
        </p:nvSpPr>
        <p:spPr>
          <a:xfrm>
            <a:off x="6121791" y="1014046"/>
            <a:ext cx="438912" cy="438912"/>
          </a:xfrm>
          <a:prstGeom prst="ellipse">
            <a:avLst/>
          </a:prstGeom>
          <a:solidFill>
            <a:srgbClr val="002060"/>
          </a:solid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/>
        </p:nvSpPr>
        <p:spPr>
          <a:xfrm>
            <a:off x="6121791" y="1019995"/>
            <a:ext cx="438912" cy="438912"/>
          </a:xfrm>
          <a:prstGeom prst="ellipse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rgbClr val="FFFF00"/>
            </a:solidFill>
          </a:ln>
          <a:effectLst>
            <a:innerShdw blurRad="63500" dist="50800" dir="81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Methodology — Agile Scrum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965960" cy="25146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1965960" cy="50292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Project setup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Database schema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User Auth (Register / Login / Logout)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50592" y="960120"/>
            <a:ext cx="1965960" cy="251460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50592" y="960120"/>
            <a:ext cx="1965960" cy="502920"/>
          </a:xfrm>
          <a:prstGeom prst="rect">
            <a:avLst/>
          </a:prstGeom>
          <a:solidFill>
            <a:srgbClr val="1A5276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42032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Seeker Profile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42032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Company Profile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542032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Posting Module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81144" y="960120"/>
            <a:ext cx="1965960" cy="25146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81144" y="960120"/>
            <a:ext cx="1965960" cy="502920"/>
          </a:xfrm>
          <a:prstGeom prst="rect">
            <a:avLst/>
          </a:prstGeom>
          <a:solidFill>
            <a:srgbClr val="145A32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72584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72584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672584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Job Search &amp; Filter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672584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Submission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672584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Application Tracking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9744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711696" y="960120"/>
            <a:ext cx="1965960" cy="25146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11696" y="960120"/>
            <a:ext cx="1965960" cy="502920"/>
          </a:xfrm>
          <a:prstGeom prst="rect">
            <a:avLst/>
          </a:prstGeom>
          <a:solidFill>
            <a:srgbClr val="7D660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03136" y="969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03136" y="121615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03136" y="15361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Admin Dashboard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03136" y="1883664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UI Refinement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03136" y="2231136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Testing &amp; Bug Fixes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40296" y="320040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COMPLETED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320040" y="3566160"/>
            <a:ext cx="8503920" cy="105156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02920" y="362102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Methods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292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Interviews: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292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sessions with Mr. Omar Gaciye for guidance on requirements &amp; architecture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33756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 Surveys: 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33756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responses: 85% difficulty finding jobs; 79% want tracking; 92% prioritize ease of use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172200" y="3931920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Analysis: 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172200" y="4133088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review of LinkedIn, Indeed, and Glassdoor for feature benchmarking</a:t>
            </a:r>
            <a:endParaRPr lang="en-US" sz="850" dirty="0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— Django MVT (4-Layer)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749808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109728" cy="74980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960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LAYER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0352" y="12161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40480" y="969264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 |  Employers  |  Administrators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0" y="129844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 •  CSS3  •  Bootstrap 5  •  JavaScript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0040" y="1801368"/>
            <a:ext cx="8503920" cy="749808"/>
          </a:xfrm>
          <a:prstGeom prst="rect">
            <a:avLst/>
          </a:prstGeom>
          <a:solidFill>
            <a:srgbClr val="0E2F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1801368"/>
            <a:ext cx="109728" cy="7498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84708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LAYER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0352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Application Server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0" y="1856232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Handling  •  URL Routing  •  Response Generation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0" y="21854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6.0.4 LTS  •  Python 3.12  •  WSGI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688336"/>
            <a:ext cx="8503920" cy="1508760"/>
          </a:xfrm>
          <a:prstGeom prst="rect">
            <a:avLst/>
          </a:prstGeom>
          <a:solidFill>
            <a:srgbClr val="0A223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688336"/>
            <a:ext cx="109728" cy="150876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352" y="273405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" y="29900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Architecture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solidFill>
            <a:srgbClr val="1A4B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coreapp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01952" y="3218688"/>
            <a:ext cx="1261872" cy="877824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5002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jobsapp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54324" y="3218688"/>
            <a:ext cx="1261872" cy="877824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01974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companyapp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3826" y="3218688"/>
            <a:ext cx="1261872" cy="877824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0521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shaqodoonapp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99048" y="3218688"/>
            <a:ext cx="1261872" cy="877824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71979" y="3218688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3218688"/>
            <a:ext cx="1261872" cy="877824"/>
          </a:xfrm>
          <a:prstGeom prst="rect">
            <a:avLst/>
          </a:prstGeom>
          <a:solidFill>
            <a:srgbClr val="7D3C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13437" y="3204135"/>
            <a:ext cx="1261872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adminapp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0352" y="2894076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Applications: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4334256"/>
            <a:ext cx="8503920" cy="640080"/>
          </a:xfrm>
          <a:prstGeom prst="rect">
            <a:avLst/>
          </a:prstGeom>
          <a:solidFill>
            <a:srgbClr val="1A0A2E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0040" y="4334256"/>
            <a:ext cx="109728" cy="640080"/>
          </a:xfrm>
          <a:prstGeom prst="rect">
            <a:avLst/>
          </a:prstGeom>
          <a:solidFill>
            <a:srgbClr val="48CAE4"/>
          </a:solidFill>
          <a:ln w="12700">
            <a:solidFill>
              <a:srgbClr val="48CA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" y="437997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LAYER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30352" y="463600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2014 (v12.0.2269.0)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840480" y="4389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 •  Profiles  •  Jobs  •  Applications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40480" y="471830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Entities: auth_user | JobSeekerProfile | CompanyProfile | Job | JobApplication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434840" y="167690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34840" y="2563876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434840" y="4209288"/>
            <a:ext cx="274320" cy="109728"/>
          </a:xfrm>
          <a:prstGeom prst="rect">
            <a:avLst/>
          </a:prstGeom>
          <a:solidFill>
            <a:srgbClr val="B0C4DE"/>
          </a:solidFill>
          <a:ln w="12700">
            <a:solidFill>
              <a:srgbClr val="B0C4DE"/>
            </a:solidFill>
            <a:prstDash val="solid"/>
          </a:ln>
        </p:spPr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3946" y="3348990"/>
            <a:ext cx="797814" cy="797814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970" y="3252470"/>
            <a:ext cx="930910" cy="930910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9545" y="3499484"/>
            <a:ext cx="429657" cy="295725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992" y="3218688"/>
            <a:ext cx="749689" cy="749689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251" y="3320684"/>
            <a:ext cx="629995" cy="629995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997" y="3197352"/>
            <a:ext cx="713232" cy="713232"/>
          </a:xfrm>
          <a:prstGeom prst="rect">
            <a:avLst/>
          </a:prstGeom>
          <a:effectLst>
            <a:innerShdw blurRad="63500" dist="50800" dir="2700000">
              <a:prstClr val="black">
                <a:alpha val="50000"/>
              </a:prstClr>
            </a:innerShdw>
          </a:effectLst>
        </p:spPr>
      </p:pic>
      <p:sp>
        <p:nvSpPr>
          <p:cNvPr id="50" name="Shape 0"/>
          <p:cNvSpPr/>
          <p:nvPr/>
        </p:nvSpPr>
        <p:spPr>
          <a:xfrm>
            <a:off x="0" y="6096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 — Microsoft SQL Server 2014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14400"/>
            <a:ext cx="8503920" cy="457200"/>
          </a:xfrm>
          <a:prstGeom prst="rect">
            <a:avLst/>
          </a:prstGeom>
          <a:solidFill>
            <a:srgbClr val="1A4B8C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950976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950976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Server  •  Version 12.0.2269.0  •  </a:t>
            </a:r>
            <a:r>
              <a:rPr lang="en-US" sz="11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Entities  •  Django ORM Integration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0040" y="1508760"/>
            <a:ext cx="2633472" cy="138988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1508760"/>
            <a:ext cx="2633472" cy="384048"/>
          </a:xfrm>
          <a:prstGeom prst="rect">
            <a:avLst/>
          </a:prstGeom>
          <a:solidFill>
            <a:srgbClr val="1E5F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0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auth_user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(Admin)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29768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 (PK)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29768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username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29768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email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29768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password (hashed)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172968" y="1508760"/>
            <a:ext cx="2633472" cy="138988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172968" y="1508760"/>
            <a:ext cx="2633472" cy="384048"/>
          </a:xfrm>
          <a:prstGeom prst="rect">
            <a:avLst/>
          </a:prstGeom>
          <a:solidFill>
            <a:srgbClr val="145A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64408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JobSeekerProfile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282696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sh_username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282696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skills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3282696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resume (FILE)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282696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location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025896" y="1508760"/>
            <a:ext cx="2633472" cy="138988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025896" y="1508760"/>
            <a:ext cx="2633472" cy="384048"/>
          </a:xfrm>
          <a:prstGeom prst="rect">
            <a:avLst/>
          </a:prstGeom>
          <a:solidFill>
            <a:srgbClr val="1A527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17336" y="154533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CompanyProfile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35624" y="196596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err="1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c_username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35624" y="220370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company_name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135624" y="24414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description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135624" y="267919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lenses 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20040" y="3063240"/>
            <a:ext cx="2633472" cy="138988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320040" y="3063240"/>
            <a:ext cx="2633472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11480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29768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title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429768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company (FK→Company)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29768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job_type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29768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is_active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172968" y="3063240"/>
            <a:ext cx="2633472" cy="138988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172968" y="3063240"/>
            <a:ext cx="2633472" cy="384048"/>
          </a:xfrm>
          <a:prstGeom prst="rect">
            <a:avLst/>
          </a:prstGeom>
          <a:solidFill>
            <a:srgbClr val="6E2FB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264408" y="3099816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JobApplication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282696" y="3520440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job (FK→Job)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282696" y="3758184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applicant (FK→Seeker)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3282696" y="39959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status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3282696" y="4233672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applied_date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320040" y="4553712"/>
            <a:ext cx="8503920" cy="411480"/>
          </a:xfrm>
          <a:prstGeom prst="rect">
            <a:avLst/>
          </a:prstGeom>
          <a:solidFill>
            <a:srgbClr val="11224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3" name="Text 40"/>
          <p:cNvSpPr/>
          <p:nvPr/>
        </p:nvSpPr>
        <p:spPr>
          <a:xfrm>
            <a:off x="502920" y="4608576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Relationships: 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691640" y="4608576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Job (1:N) | Job →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(1:N) |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shaqod_DB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900" dirty="0" err="1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Application_DB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(1:N)</a:t>
            </a:r>
            <a:endParaRPr lang="en-US" sz="900" dirty="0"/>
          </a:p>
        </p:txBody>
      </p:sp>
      <p:sp>
        <p:nvSpPr>
          <p:cNvPr id="4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2331720" cy="676656"/>
          </a:xfrm>
          <a:prstGeom prst="rect">
            <a:avLst/>
          </a:prstGeom>
          <a:solidFill>
            <a:srgbClr val="3B6A9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8696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3.12.10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8696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Language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20040" y="2075688"/>
            <a:ext cx="2331720" cy="676656"/>
          </a:xfrm>
          <a:prstGeom prst="rect">
            <a:avLst/>
          </a:prstGeom>
          <a:solidFill>
            <a:srgbClr val="0C4B33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2167128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8696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6.0.4 LTS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8696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Framework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274320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2743200" y="1298448"/>
            <a:ext cx="2331720" cy="676656"/>
          </a:xfrm>
          <a:prstGeom prst="rect">
            <a:avLst/>
          </a:prstGeom>
          <a:solidFill>
            <a:srgbClr val="8B25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1389888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1012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331012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Style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2743200" y="2075688"/>
            <a:ext cx="2331720" cy="676656"/>
          </a:xfrm>
          <a:prstGeom prst="rect">
            <a:avLst/>
          </a:prstGeom>
          <a:solidFill>
            <a:srgbClr val="6F42C1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3310128" y="213055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3310128" y="242316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</a:t>
            </a:r>
            <a:endParaRPr lang="en-US" sz="900" dirty="0"/>
          </a:p>
        </p:txBody>
      </p:sp>
      <p:sp>
        <p:nvSpPr>
          <p:cNvPr id="22" name="Shape 16"/>
          <p:cNvSpPr/>
          <p:nvPr/>
        </p:nvSpPr>
        <p:spPr>
          <a:xfrm>
            <a:off x="2743200" y="2852928"/>
            <a:ext cx="2331720" cy="676656"/>
          </a:xfrm>
          <a:prstGeom prst="rect">
            <a:avLst/>
          </a:prstGeom>
          <a:solidFill>
            <a:srgbClr val="8A6914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4" name="Text 17"/>
          <p:cNvSpPr/>
          <p:nvPr/>
        </p:nvSpPr>
        <p:spPr>
          <a:xfrm>
            <a:off x="3310128" y="290779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050" dirty="0"/>
          </a:p>
        </p:txBody>
      </p:sp>
      <p:sp>
        <p:nvSpPr>
          <p:cNvPr id="25" name="Text 18"/>
          <p:cNvSpPr/>
          <p:nvPr/>
        </p:nvSpPr>
        <p:spPr>
          <a:xfrm>
            <a:off x="3310128" y="320040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Interactivity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5166360" y="9601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 Tools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166360" y="1298448"/>
            <a:ext cx="2331720" cy="676656"/>
          </a:xfrm>
          <a:prstGeom prst="rect">
            <a:avLst/>
          </a:prstGeom>
          <a:solidFill>
            <a:srgbClr val="1A3A6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389888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733288" y="1353312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1050" dirty="0"/>
          </a:p>
        </p:txBody>
      </p:sp>
      <p:sp>
        <p:nvSpPr>
          <p:cNvPr id="30" name="Text 22"/>
          <p:cNvSpPr/>
          <p:nvPr/>
        </p:nvSpPr>
        <p:spPr>
          <a:xfrm>
            <a:off x="5733288" y="1645920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v12.0.2269.0</a:t>
            </a:r>
            <a:endParaRPr lang="en-US" sz="900" dirty="0"/>
          </a:p>
        </p:txBody>
      </p:sp>
      <p:sp>
        <p:nvSpPr>
          <p:cNvPr id="35" name="Shape 26"/>
          <p:cNvSpPr/>
          <p:nvPr/>
        </p:nvSpPr>
        <p:spPr>
          <a:xfrm>
            <a:off x="5166360" y="2066544"/>
            <a:ext cx="2331720" cy="676656"/>
          </a:xfrm>
          <a:prstGeom prst="rect">
            <a:avLst/>
          </a:prstGeom>
          <a:solidFill>
            <a:srgbClr val="2B2B2B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Text 27"/>
          <p:cNvSpPr/>
          <p:nvPr/>
        </p:nvSpPr>
        <p:spPr>
          <a:xfrm>
            <a:off x="5733288" y="212140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Git/GitHub 2.40</a:t>
            </a:r>
            <a:endParaRPr lang="en-US" sz="1050" dirty="0"/>
          </a:p>
        </p:txBody>
      </p:sp>
      <p:sp>
        <p:nvSpPr>
          <p:cNvPr id="38" name="Text 28"/>
          <p:cNvSpPr/>
          <p:nvPr/>
        </p:nvSpPr>
        <p:spPr>
          <a:xfrm>
            <a:off x="5733288" y="241401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</a:t>
            </a:r>
            <a:endParaRPr lang="en-US" sz="900" dirty="0"/>
          </a:p>
        </p:txBody>
      </p:sp>
      <p:sp>
        <p:nvSpPr>
          <p:cNvPr id="39" name="Shape 29"/>
          <p:cNvSpPr/>
          <p:nvPr/>
        </p:nvSpPr>
        <p:spPr>
          <a:xfrm>
            <a:off x="5166360" y="2843784"/>
            <a:ext cx="2331720" cy="676656"/>
          </a:xfrm>
          <a:prstGeom prst="rect">
            <a:avLst/>
          </a:prstGeom>
          <a:solidFill>
            <a:srgbClr val="0078D7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0"/>
          <p:cNvSpPr/>
          <p:nvPr/>
        </p:nvSpPr>
        <p:spPr>
          <a:xfrm>
            <a:off x="5733288" y="2898648"/>
            <a:ext cx="1691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1.85</a:t>
            </a:r>
            <a:endParaRPr lang="en-US" sz="1050" dirty="0"/>
          </a:p>
        </p:txBody>
      </p:sp>
      <p:sp>
        <p:nvSpPr>
          <p:cNvPr id="42" name="Text 31"/>
          <p:cNvSpPr/>
          <p:nvPr/>
        </p:nvSpPr>
        <p:spPr>
          <a:xfrm>
            <a:off x="5733288" y="3191256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Editor</a:t>
            </a:r>
            <a:endParaRPr lang="en-US" sz="900" dirty="0"/>
          </a:p>
        </p:txBody>
      </p:sp>
      <p:sp>
        <p:nvSpPr>
          <p:cNvPr id="4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6561" y="2944368"/>
            <a:ext cx="449199" cy="449199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9000" y="1751076"/>
            <a:ext cx="1726064" cy="1293876"/>
          </a:xfrm>
          <a:prstGeom prst="rect">
            <a:avLst/>
          </a:prstGeom>
        </p:spPr>
      </p:pic>
      <p:pic>
        <p:nvPicPr>
          <p:cNvPr id="43" name="Picture 4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112" y="2871216"/>
            <a:ext cx="694944" cy="694944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112" y="2112264"/>
            <a:ext cx="676075" cy="567797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" y="1347787"/>
            <a:ext cx="614553" cy="614553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Modules &amp; Key Features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920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29768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Two registration paths (Seeker/Employer)</a:t>
            </a:r>
            <a:endParaRPr lang="en-US" sz="880" dirty="0"/>
          </a:p>
        </p:txBody>
      </p:sp>
      <p:sp>
        <p:nvSpPr>
          <p:cNvPr id="8" name="Text 5"/>
          <p:cNvSpPr/>
          <p:nvPr/>
        </p:nvSpPr>
        <p:spPr>
          <a:xfrm>
            <a:off x="429768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PBKDF2-SHA256 password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for admin</a:t>
            </a:r>
            <a:endParaRPr lang="en-US" sz="880" dirty="0"/>
          </a:p>
        </p:txBody>
      </p:sp>
      <p:sp>
        <p:nvSpPr>
          <p:cNvPr id="9" name="Text 6"/>
          <p:cNvSpPr/>
          <p:nvPr/>
        </p:nvSpPr>
        <p:spPr>
          <a:xfrm>
            <a:off x="429768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Role-based access control (RBAC)</a:t>
            </a:r>
            <a:endParaRPr lang="en-US" sz="880" dirty="0"/>
          </a:p>
        </p:txBody>
      </p:sp>
      <p:sp>
        <p:nvSpPr>
          <p:cNvPr id="10" name="Text 7"/>
          <p:cNvSpPr/>
          <p:nvPr/>
        </p:nvSpPr>
        <p:spPr>
          <a:xfrm>
            <a:off x="429768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Secure session management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3172968" y="960120"/>
            <a:ext cx="2633472" cy="1920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Management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3282696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Seeker: skills, resume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880" dirty="0"/>
          </a:p>
        </p:txBody>
      </p:sp>
      <p:sp>
        <p:nvSpPr>
          <p:cNvPr id="15" name="Text 11"/>
          <p:cNvSpPr/>
          <p:nvPr/>
        </p:nvSpPr>
        <p:spPr>
          <a:xfrm>
            <a:off x="3282696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Employer: company info, logo, industry</a:t>
            </a:r>
            <a:endParaRPr lang="en-US" sz="880" dirty="0"/>
          </a:p>
        </p:txBody>
      </p:sp>
      <p:sp>
        <p:nvSpPr>
          <p:cNvPr id="16" name="Text 12"/>
          <p:cNvSpPr/>
          <p:nvPr/>
        </p:nvSpPr>
        <p:spPr>
          <a:xfrm>
            <a:off x="3282696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Resume upload (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PDF/DOC)</a:t>
            </a:r>
            <a:endParaRPr lang="en-US" sz="880" dirty="0"/>
          </a:p>
        </p:txBody>
      </p:sp>
      <p:sp>
        <p:nvSpPr>
          <p:cNvPr id="17" name="Text 13"/>
          <p:cNvSpPr/>
          <p:nvPr/>
        </p:nvSpPr>
        <p:spPr>
          <a:xfrm>
            <a:off x="3282696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Profile photo with Pillow processing</a:t>
            </a:r>
            <a:endParaRPr lang="en-US" sz="880" dirty="0"/>
          </a:p>
        </p:txBody>
      </p:sp>
      <p:sp>
        <p:nvSpPr>
          <p:cNvPr id="18" name="Shape 14"/>
          <p:cNvSpPr/>
          <p:nvPr/>
        </p:nvSpPr>
        <p:spPr>
          <a:xfrm>
            <a:off x="6025896" y="960120"/>
            <a:ext cx="2633472" cy="1920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Management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6135624" y="149047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CRUD for job listings</a:t>
            </a:r>
            <a:endParaRPr lang="en-US" sz="880" dirty="0"/>
          </a:p>
        </p:txBody>
      </p:sp>
      <p:sp>
        <p:nvSpPr>
          <p:cNvPr id="22" name="Text 17"/>
          <p:cNvSpPr/>
          <p:nvPr/>
        </p:nvSpPr>
        <p:spPr>
          <a:xfrm>
            <a:off x="6135624" y="182880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Job types: Full-time, Part-time, Contract</a:t>
            </a:r>
            <a:endParaRPr lang="en-US" sz="880" dirty="0"/>
          </a:p>
        </p:txBody>
      </p:sp>
      <p:sp>
        <p:nvSpPr>
          <p:cNvPr id="23" name="Text 18"/>
          <p:cNvSpPr/>
          <p:nvPr/>
        </p:nvSpPr>
        <p:spPr>
          <a:xfrm>
            <a:off x="6135624" y="216712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Activate/deactivate without deleting</a:t>
            </a:r>
            <a:endParaRPr lang="en-US" sz="880" dirty="0"/>
          </a:p>
        </p:txBody>
      </p:sp>
      <p:sp>
        <p:nvSpPr>
          <p:cNvPr id="24" name="Text 19"/>
          <p:cNvSpPr/>
          <p:nvPr/>
        </p:nvSpPr>
        <p:spPr>
          <a:xfrm>
            <a:off x="6135624" y="250545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dashboard with stats</a:t>
            </a:r>
            <a:endParaRPr lang="en-US" sz="880" dirty="0"/>
          </a:p>
        </p:txBody>
      </p:sp>
      <p:sp>
        <p:nvSpPr>
          <p:cNvPr id="25" name="Shape 20"/>
          <p:cNvSpPr/>
          <p:nvPr/>
        </p:nvSpPr>
        <p:spPr>
          <a:xfrm>
            <a:off x="320040" y="3063240"/>
            <a:ext cx="2633472" cy="1920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3154680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850392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Search &amp; Apply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429768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Keyword search (title + description)</a:t>
            </a:r>
            <a:endParaRPr lang="en-US" sz="880" dirty="0"/>
          </a:p>
        </p:txBody>
      </p:sp>
      <p:sp>
        <p:nvSpPr>
          <p:cNvPr id="29" name="Text 23"/>
          <p:cNvSpPr/>
          <p:nvPr/>
        </p:nvSpPr>
        <p:spPr>
          <a:xfrm>
            <a:off x="429768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by location &amp; job type</a:t>
            </a:r>
            <a:endParaRPr lang="en-US" sz="880" dirty="0"/>
          </a:p>
        </p:txBody>
      </p:sp>
      <p:sp>
        <p:nvSpPr>
          <p:cNvPr id="30" name="Text 24"/>
          <p:cNvSpPr/>
          <p:nvPr/>
        </p:nvSpPr>
        <p:spPr>
          <a:xfrm>
            <a:off x="429768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One-click application submission</a:t>
            </a:r>
            <a:endParaRPr lang="en-US" sz="880" dirty="0"/>
          </a:p>
        </p:txBody>
      </p:sp>
      <p:sp>
        <p:nvSpPr>
          <p:cNvPr id="31" name="Text 25"/>
          <p:cNvSpPr/>
          <p:nvPr/>
        </p:nvSpPr>
        <p:spPr>
          <a:xfrm>
            <a:off x="429768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Duplicate application prevention</a:t>
            </a:r>
            <a:endParaRPr lang="en-US" sz="880" dirty="0"/>
          </a:p>
        </p:txBody>
      </p:sp>
      <p:sp>
        <p:nvSpPr>
          <p:cNvPr id="32" name="Shape 26"/>
          <p:cNvSpPr/>
          <p:nvPr/>
        </p:nvSpPr>
        <p:spPr>
          <a:xfrm>
            <a:off x="3172968" y="3063240"/>
            <a:ext cx="2633472" cy="1920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3154680"/>
            <a:ext cx="347472" cy="34747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370332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Tracking</a:t>
            </a:r>
            <a:endParaRPr lang="en-US" sz="1050" dirty="0"/>
          </a:p>
        </p:txBody>
      </p:sp>
      <p:sp>
        <p:nvSpPr>
          <p:cNvPr id="35" name="Text 28"/>
          <p:cNvSpPr/>
          <p:nvPr/>
        </p:nvSpPr>
        <p:spPr>
          <a:xfrm>
            <a:off x="3282696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88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display for seekers</a:t>
            </a:r>
            <a:endParaRPr lang="en-US" sz="880" dirty="0"/>
          </a:p>
        </p:txBody>
      </p:sp>
      <p:sp>
        <p:nvSpPr>
          <p:cNvPr id="36" name="Text 29"/>
          <p:cNvSpPr/>
          <p:nvPr/>
        </p:nvSpPr>
        <p:spPr>
          <a:xfrm>
            <a:off x="3282696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Status: Pending → Under Review → Accepted/Rejected</a:t>
            </a:r>
            <a:endParaRPr lang="en-US" sz="880" dirty="0"/>
          </a:p>
        </p:txBody>
      </p:sp>
      <p:sp>
        <p:nvSpPr>
          <p:cNvPr id="37" name="Text 30"/>
          <p:cNvSpPr/>
          <p:nvPr/>
        </p:nvSpPr>
        <p:spPr>
          <a:xfrm>
            <a:off x="3282696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Bootstrap badges (color-coded)</a:t>
            </a:r>
            <a:endParaRPr lang="en-US" sz="880" dirty="0"/>
          </a:p>
        </p:txBody>
      </p:sp>
      <p:sp>
        <p:nvSpPr>
          <p:cNvPr id="38" name="Text 31"/>
          <p:cNvSpPr/>
          <p:nvPr/>
        </p:nvSpPr>
        <p:spPr>
          <a:xfrm>
            <a:off x="3282696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Employer full applicant profile view</a:t>
            </a:r>
            <a:endParaRPr lang="en-US" sz="880" dirty="0"/>
          </a:p>
        </p:txBody>
      </p:sp>
      <p:sp>
        <p:nvSpPr>
          <p:cNvPr id="39" name="Shape 32"/>
          <p:cNvSpPr/>
          <p:nvPr/>
        </p:nvSpPr>
        <p:spPr>
          <a:xfrm>
            <a:off x="6025896" y="3063240"/>
            <a:ext cx="2633472" cy="1920240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3154680"/>
            <a:ext cx="347472" cy="347472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6556248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050" dirty="0"/>
          </a:p>
        </p:txBody>
      </p:sp>
      <p:sp>
        <p:nvSpPr>
          <p:cNvPr id="42" name="Text 34"/>
          <p:cNvSpPr/>
          <p:nvPr/>
        </p:nvSpPr>
        <p:spPr>
          <a:xfrm>
            <a:off x="6135624" y="3593592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Django built-in admin panel</a:t>
            </a:r>
            <a:endParaRPr lang="en-US" sz="880" dirty="0"/>
          </a:p>
        </p:txBody>
      </p:sp>
      <p:sp>
        <p:nvSpPr>
          <p:cNvPr id="43" name="Text 35"/>
          <p:cNvSpPr/>
          <p:nvPr/>
        </p:nvSpPr>
        <p:spPr>
          <a:xfrm>
            <a:off x="6135624" y="393192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CRUD for all models</a:t>
            </a:r>
            <a:endParaRPr lang="en-US" sz="880" dirty="0"/>
          </a:p>
        </p:txBody>
      </p:sp>
      <p:sp>
        <p:nvSpPr>
          <p:cNvPr id="44" name="Text 36"/>
          <p:cNvSpPr/>
          <p:nvPr/>
        </p:nvSpPr>
        <p:spPr>
          <a:xfrm>
            <a:off x="6135624" y="4270248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Search, filter &amp; monitor platform</a:t>
            </a:r>
            <a:endParaRPr lang="en-US" sz="880" dirty="0"/>
          </a:p>
        </p:txBody>
      </p:sp>
      <p:sp>
        <p:nvSpPr>
          <p:cNvPr id="45" name="Text 37"/>
          <p:cNvSpPr/>
          <p:nvPr/>
        </p:nvSpPr>
        <p:spPr>
          <a:xfrm>
            <a:off x="6135624" y="4608576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Application activity overview</a:t>
            </a:r>
            <a:endParaRPr lang="en-US" sz="880" dirty="0"/>
          </a:p>
        </p:txBody>
      </p:sp>
      <p:sp>
        <p:nvSpPr>
          <p:cNvPr id="4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&amp; Non-Functional Requirements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8463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9903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88720" y="13990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register as job seeker or employer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379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188720" y="1837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 log in/out securely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27685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88720" y="227685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create/edit profiles &amp; upload resume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715768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88720" y="271576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post, edit &amp; delete job listings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154680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188720" y="315468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search and filter job listings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593592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88720" y="35935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apply for jobs with single click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3250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88720" y="403250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view status of submitted applications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471416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FR-08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188720" y="447141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view and manage received applications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349240" y="960120"/>
            <a:ext cx="3474720" cy="397764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40680" y="1005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40680" y="1399032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532120" y="14264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44768" y="1426464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532120" y="1673352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via PBKDF2-SHA256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440680" y="2240280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532120" y="226771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44768" y="22677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32120" y="2514600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usable on 320px screens and above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40680" y="3081528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532120" y="31089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144768" y="310896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532120" y="3355848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load &lt; 3 seconds under normal conditions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40680" y="3922776"/>
            <a:ext cx="3246120" cy="74980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532120" y="395020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NFR-04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44768" y="3950208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532120" y="4197096"/>
            <a:ext cx="3063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error handling with clear user messages</a:t>
            </a:r>
            <a:endParaRPr lang="en-US" sz="950" dirty="0"/>
          </a:p>
        </p:txBody>
      </p:sp>
      <p:sp>
        <p:nvSpPr>
          <p:cNvPr id="48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Implementation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1755648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5156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0392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Protection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29768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CsrfViewMiddleware enabled on all forms. Every form includes csrf_token tag. Prevents cross-site request forgery attacks. Invalid tokens return HTTP 403 Forbidden.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172968" y="960120"/>
            <a:ext cx="2633472" cy="1755648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696" y="1051560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703320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Prevention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3282696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ORM uses parameterized queries throughout. All database interactions filtered via ORM abstraction. All injection attempts blocked in security testing.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25896" y="960120"/>
            <a:ext cx="2633472" cy="1755648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105156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56248" y="1051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Prevention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6135624" y="1472184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HTML escaping in all Django templates. User-submitted content sanitized before rendering. All injected script tags neutralized.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20040" y="2898648"/>
            <a:ext cx="2633472" cy="1755648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" y="2990088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0392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Security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429768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PBKDF2-SHA256 algorithm with 180,000 iterations and random salt. No plain-text passwords stored. Django password strength validators enforced.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172968" y="2898648"/>
            <a:ext cx="2633472" cy="1755648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2696" y="2990088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703320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3282696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@login_required decorator on all sensitive views. Role checks prevent cross-role access (seeker ↔ employer). Unauthenticated access redirected to login page.</a:t>
            </a:r>
            <a:endParaRPr lang="en-US" sz="900" dirty="0"/>
          </a:p>
        </p:txBody>
      </p:sp>
      <p:sp>
        <p:nvSpPr>
          <p:cNvPr id="24" name="Shape 17"/>
          <p:cNvSpPr/>
          <p:nvPr/>
        </p:nvSpPr>
        <p:spPr>
          <a:xfrm>
            <a:off x="6025896" y="2898648"/>
            <a:ext cx="2633472" cy="1755648"/>
          </a:xfrm>
          <a:prstGeom prst="rect">
            <a:avLst/>
          </a:prstGeom>
          <a:solidFill>
            <a:srgbClr val="5D2E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5624" y="2990088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556248" y="2990088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File Upload</a:t>
            </a:r>
            <a:endParaRPr lang="en-US" sz="1000" dirty="0"/>
          </a:p>
        </p:txBody>
      </p:sp>
      <p:sp>
        <p:nvSpPr>
          <p:cNvPr id="27" name="Text 19"/>
          <p:cNvSpPr/>
          <p:nvPr/>
        </p:nvSpPr>
        <p:spPr>
          <a:xfrm>
            <a:off x="6135624" y="3410712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 and size validation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outside web root in </a:t>
            </a:r>
            <a:r>
              <a:rPr lang="en-US" sz="90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directory</a:t>
            </a:r>
            <a:r>
              <a:rPr lang="en-US" sz="9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Served via Django's file serving, not direct URL access.</a:t>
            </a:r>
            <a:endParaRPr lang="en-US" sz="900" dirty="0"/>
          </a:p>
        </p:txBody>
      </p:sp>
      <p:sp>
        <p:nvSpPr>
          <p:cNvPr id="28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Strategy &amp; Unit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1554480" cy="77724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test cases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020824" y="960120"/>
            <a:ext cx="1554480" cy="77724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20824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20824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scenarios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21608" y="960120"/>
            <a:ext cx="1554480" cy="77724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21608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21608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22392" y="960120"/>
            <a:ext cx="1554480" cy="777240"/>
          </a:xfrm>
          <a:prstGeom prst="rect">
            <a:avLst/>
          </a:prstGeom>
          <a:solidFill>
            <a:srgbClr val="6E2FB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22392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22392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real users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123176" y="960120"/>
            <a:ext cx="1554480" cy="777240"/>
          </a:xfrm>
          <a:prstGeom prst="rect">
            <a:avLst/>
          </a:prstGeom>
          <a:solidFill>
            <a:srgbClr val="1A5276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23176" y="98755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23176" y="1261872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SQL/XSS/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tested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004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Tests: 43/43 Passed</a:t>
            </a:r>
            <a:endParaRPr lang="en-US" sz="1200" dirty="0"/>
          </a:p>
        </p:txBody>
      </p:sp>
      <p:graphicFrame>
        <p:nvGraphicFramePr>
          <p:cNvPr id="20" name="Chart 0"/>
          <p:cNvGraphicFramePr/>
          <p:nvPr>
            <p:extLst>
              <p:ext uri="{D42A27DB-BD31-4B8C-83A1-F6EECF244321}">
                <p14:modId xmlns:p14="http://schemas.microsoft.com/office/powerpoint/2010/main" val="602404285"/>
              </p:ext>
            </p:extLst>
          </p:nvPr>
        </p:nvGraphicFramePr>
        <p:xfrm>
          <a:off x="320040" y="2194560"/>
          <a:ext cx="51206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5623560" y="1874520"/>
            <a:ext cx="3200400" cy="29260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5760720" y="1920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 Results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760720" y="2286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498080" y="228600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760720" y="2688336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Attack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498080" y="2688336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760720" y="309067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Forgery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498080" y="3090672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✓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760720" y="34930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 Access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498080" y="3493008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✓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60720" y="3895344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Cross-Access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498080" y="3895344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DENIED ✓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760720" y="42976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Plain-text </a:t>
            </a:r>
            <a:r>
              <a:rPr lang="en-US" sz="950" dirty="0" smtClean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for admin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498080" y="4297680"/>
            <a:ext cx="1234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STORED ✓</a:t>
            </a:r>
            <a:endParaRPr lang="en-US" sz="900" dirty="0"/>
          </a:p>
        </p:txBody>
      </p:sp>
      <p:sp>
        <p:nvSpPr>
          <p:cNvPr id="3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37" name="Pictur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-6578"/>
            <a:ext cx="8898591" cy="515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92492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38" name="Picture 3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0"/>
            <a:ext cx="8956646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5108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0"/>
            <a:ext cx="897940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7323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Testing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2199640"/>
        </p:xfrm>
        <a:graphic>
          <a:graphicData uri="http://schemas.openxmlformats.org/drawingml/2006/table">
            <a:tbl>
              <a:tblPr/>
              <a:tblGrid>
                <a:gridCol w="594360"/>
                <a:gridCol w="2743200"/>
                <a:gridCol w="3886200"/>
                <a:gridCol w="82296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Scenario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Expected / Actual Outcome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registers → completes profile → views listings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created; profile saved; listings display correctly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registers → posts job → job appears in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account &amp; job listing saved; appears in public search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Seeker applies → employer sees application → updates status → seeker sees update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Full application lifecycle with real-time status sync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Unauthenticated user attempts to apply for a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 redirected to login page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attempts to access employer dashboard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Redirected to home with access denied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 deactivates job listing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disappears from public search immediately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IT-07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 applies twice to the same job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Second application rejected; user sees 'already applied' message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PASS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1A4B8C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 Integration Scenarios: ALL PASSED  |  System modules interact correctly across all tested workflows</a:t>
            </a:r>
            <a:endParaRPr lang="en-US" sz="1050" dirty="0"/>
          </a:p>
        </p:txBody>
      </p:sp>
      <p:sp>
        <p:nvSpPr>
          <p:cNvPr id="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Acceptance Testing (UAT)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50976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Participants: 4 Job Seekers (recent graduates) + 4 HR Professionals as Employers</a:t>
            </a:r>
            <a:endParaRPr lang="en-US" sz="10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320040" y="1298448"/>
          <a:ext cx="530352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5852160" y="1298448"/>
            <a:ext cx="2971800" cy="804672"/>
          </a:xfrm>
          <a:prstGeom prst="rect">
            <a:avLst/>
          </a:prstGeom>
          <a:solidFill>
            <a:srgbClr val="0A3A2A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897880" y="1335024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132320" y="1408176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Good or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 Overall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852160" y="2231136"/>
            <a:ext cx="2971800" cy="804672"/>
          </a:xfrm>
          <a:prstGeom prst="rect">
            <a:avLst/>
          </a:prstGeom>
          <a:solidFill>
            <a:srgbClr val="0A2A3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897880" y="2267712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132320" y="2340864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Apply Process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852160" y="3163824"/>
            <a:ext cx="2971800" cy="804672"/>
          </a:xfrm>
          <a:prstGeom prst="rect">
            <a:avLst/>
          </a:prstGeom>
          <a:solidFill>
            <a:srgbClr val="2A200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897880" y="3200400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7132320" y="327355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52160" y="4096512"/>
            <a:ext cx="2971800" cy="804672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897880" y="4133088"/>
            <a:ext cx="118872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5F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132320" y="4206240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20040" y="48463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Participant Feedback: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240280" y="484632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"Clean &amp; professional interface"  •  "Application tracking feature was excellent"  •  "Significant improvement over paper-based processes"</a:t>
            </a:r>
            <a:endParaRPr lang="en-US" sz="900" dirty="0"/>
          </a:p>
        </p:txBody>
      </p:sp>
      <p:sp>
        <p:nvSpPr>
          <p:cNvPr id="20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Evaluation — All Requirements Met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503920" cy="2781300"/>
        </p:xfrm>
        <a:graphic>
          <a:graphicData uri="http://schemas.openxmlformats.org/drawingml/2006/table">
            <a:tbl>
              <a:tblPr/>
              <a:tblGrid>
                <a:gridCol w="640080"/>
                <a:gridCol w="1051560"/>
                <a:gridCol w="5852160"/>
                <a:gridCol w="960120"/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ID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Requirement Description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95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5FA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Users register as job seeker or employer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Registered users log in and log out securely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create/edit profiles, upload resume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post, edit, and delete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FR-05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search and filter job listings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apply for jobs with single click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FR-07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Job seekers view status of submitted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FR-08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B4D8"/>
                          </a:solidFill>
                        </a:rPr>
                        <a:t>Functional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Employers view and manage received applications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NFR-01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Security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Passwords hashed using PBKDF2-SHA256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NFR-02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Usability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usable on screens 320px and above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NFR-03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Performance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Page load times under three seconds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84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48CAE4"/>
                          </a:solidFill>
                        </a:rPr>
                        <a:t>NFR-04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FFD166"/>
                          </a:solidFill>
                        </a:rPr>
                        <a:t>Reliability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E8F4FD"/>
                          </a:solidFill>
                        </a:rPr>
                        <a:t>System handles user errors gracefully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6D6A0"/>
                          </a:solidFill>
                        </a:rPr>
                        <a:t>✓ Fully Met</a:t>
                      </a:r>
                      <a:endParaRPr lang="en-US" sz="900" dirty="0"/>
                    </a:p>
                  </a:txBody>
                  <a:tcPr marL="50800" marR="50800" marT="38100" marB="38100">
                    <a:lnL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4B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solidFill>
            <a:srgbClr val="06D6A0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20040" y="4736592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 Requirements — 100% Fully Met</a:t>
            </a:r>
            <a:endParaRPr lang="en-US" sz="1100" dirty="0"/>
          </a:p>
        </p:txBody>
      </p:sp>
      <p:sp>
        <p:nvSpPr>
          <p:cNvPr id="7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 &amp; Contributions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2633472" cy="2743200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02412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Contributions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15544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95528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functional, deployable web application</a:t>
            </a:r>
            <a:endParaRPr lang="en-US" sz="9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066544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95528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addresses real recruitment problems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578608"/>
            <a:ext cx="274320" cy="2743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95528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user roles with distinct dashboards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3090672"/>
            <a:ext cx="274320" cy="27432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95528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defined requirements fulfilled</a:t>
            </a:r>
            <a:endParaRPr lang="en-US" sz="950" dirty="0"/>
          </a:p>
        </p:txBody>
      </p:sp>
      <p:sp>
        <p:nvSpPr>
          <p:cNvPr id="15" name="Shape 8"/>
          <p:cNvSpPr/>
          <p:nvPr/>
        </p:nvSpPr>
        <p:spPr>
          <a:xfrm>
            <a:off x="3172968" y="960120"/>
            <a:ext cx="2633472" cy="2743200"/>
          </a:xfrm>
          <a:prstGeom prst="rect">
            <a:avLst/>
          </a:prstGeom>
          <a:solidFill>
            <a:srgbClr val="145A32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2696" y="1024128"/>
            <a:ext cx="411480" cy="4114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3767328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Contributions</a:t>
            </a:r>
            <a:endParaRPr lang="en-US" sz="11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1554480"/>
            <a:ext cx="274320" cy="274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3648456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with MS SQL Server integration</a:t>
            </a:r>
            <a:endParaRPr lang="en-US" sz="95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066544"/>
            <a:ext cx="274320" cy="274320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3648456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passing unit tests &amp; 7 integration scenarios</a:t>
            </a:r>
            <a:endParaRPr lang="en-US" sz="9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2578608"/>
            <a:ext cx="274320" cy="27432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3648456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security (CSRF, XSS, SQLi, RBAC)</a:t>
            </a:r>
            <a:endParaRPr lang="en-US" sz="9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3090672"/>
            <a:ext cx="274320" cy="274320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3648456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Bootstrap 5 UI (320px+)</a:t>
            </a:r>
            <a:endParaRPr lang="en-US" sz="950" dirty="0"/>
          </a:p>
        </p:txBody>
      </p:sp>
      <p:sp>
        <p:nvSpPr>
          <p:cNvPr id="26" name="Shape 14"/>
          <p:cNvSpPr/>
          <p:nvPr/>
        </p:nvSpPr>
        <p:spPr>
          <a:xfrm>
            <a:off x="6025896" y="960120"/>
            <a:ext cx="2633472" cy="2743200"/>
          </a:xfrm>
          <a:prstGeom prst="rect">
            <a:avLst/>
          </a:prstGeom>
          <a:solidFill>
            <a:srgbClr val="7D6608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5624" y="1024128"/>
            <a:ext cx="411480" cy="41148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6620256" y="10058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Contributions</a:t>
            </a:r>
            <a:endParaRPr lang="en-US" sz="1100" dirty="0"/>
          </a:p>
        </p:txBody>
      </p:sp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1554480"/>
            <a:ext cx="274320" cy="27432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6501384" y="1554480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modern web dev for local context</a:t>
            </a:r>
            <a:endParaRPr lang="en-US" sz="9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066544"/>
            <a:ext cx="274320" cy="274320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6501384" y="2066544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applied end-to-end</a:t>
            </a:r>
            <a:endParaRPr lang="en-US" sz="950" dirty="0"/>
          </a:p>
        </p:txBody>
      </p:sp>
      <p:pic>
        <p:nvPicPr>
          <p:cNvPr id="33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2578608"/>
            <a:ext cx="274320" cy="27432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6501384" y="2578608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technology for social impact</a:t>
            </a:r>
            <a:endParaRPr lang="en-US" sz="950" dirty="0"/>
          </a:p>
        </p:txBody>
      </p:sp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3090672"/>
            <a:ext cx="274320" cy="274320"/>
          </a:xfrm>
          <a:prstGeom prst="rect">
            <a:avLst/>
          </a:prstGeom>
        </p:spPr>
      </p:pic>
      <p:sp>
        <p:nvSpPr>
          <p:cNvPr id="36" name="Text 19"/>
          <p:cNvSpPr/>
          <p:nvPr/>
        </p:nvSpPr>
        <p:spPr>
          <a:xfrm>
            <a:off x="6501384" y="3090672"/>
            <a:ext cx="208483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for future developers in the region</a:t>
            </a:r>
            <a:endParaRPr lang="en-US" sz="950" dirty="0"/>
          </a:p>
        </p:txBody>
      </p:sp>
      <p:sp>
        <p:nvSpPr>
          <p:cNvPr id="37" name="Shape 20"/>
          <p:cNvSpPr/>
          <p:nvPr/>
        </p:nvSpPr>
        <p:spPr>
          <a:xfrm>
            <a:off x="320040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8" name="Text 21"/>
          <p:cNvSpPr/>
          <p:nvPr/>
        </p:nvSpPr>
        <p:spPr>
          <a:xfrm>
            <a:off x="320040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2200" dirty="0"/>
          </a:p>
        </p:txBody>
      </p:sp>
      <p:sp>
        <p:nvSpPr>
          <p:cNvPr id="39" name="Text 22"/>
          <p:cNvSpPr/>
          <p:nvPr/>
        </p:nvSpPr>
        <p:spPr>
          <a:xfrm>
            <a:off x="320040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Passed</a:t>
            </a:r>
            <a:endParaRPr lang="en-US" sz="850" dirty="0"/>
          </a:p>
        </p:txBody>
      </p:sp>
      <p:sp>
        <p:nvSpPr>
          <p:cNvPr id="40" name="Shape 23"/>
          <p:cNvSpPr/>
          <p:nvPr/>
        </p:nvSpPr>
        <p:spPr>
          <a:xfrm>
            <a:off x="2020824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1" name="Text 24"/>
          <p:cNvSpPr/>
          <p:nvPr/>
        </p:nvSpPr>
        <p:spPr>
          <a:xfrm>
            <a:off x="2020824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2200" dirty="0"/>
          </a:p>
        </p:txBody>
      </p:sp>
      <p:sp>
        <p:nvSpPr>
          <p:cNvPr id="42" name="Text 25"/>
          <p:cNvSpPr/>
          <p:nvPr/>
        </p:nvSpPr>
        <p:spPr>
          <a:xfrm>
            <a:off x="2020824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Scenarios</a:t>
            </a:r>
            <a:endParaRPr lang="en-US" sz="850" dirty="0"/>
          </a:p>
        </p:txBody>
      </p:sp>
      <p:sp>
        <p:nvSpPr>
          <p:cNvPr id="43" name="Shape 26"/>
          <p:cNvSpPr/>
          <p:nvPr/>
        </p:nvSpPr>
        <p:spPr>
          <a:xfrm>
            <a:off x="3721608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4" name="Text 27"/>
          <p:cNvSpPr/>
          <p:nvPr/>
        </p:nvSpPr>
        <p:spPr>
          <a:xfrm>
            <a:off x="3721608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45" name="Text 28"/>
          <p:cNvSpPr/>
          <p:nvPr/>
        </p:nvSpPr>
        <p:spPr>
          <a:xfrm>
            <a:off x="3721608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UAT Satisfaction</a:t>
            </a:r>
            <a:endParaRPr lang="en-US" sz="850" dirty="0"/>
          </a:p>
        </p:txBody>
      </p:sp>
      <p:sp>
        <p:nvSpPr>
          <p:cNvPr id="46" name="Shape 29"/>
          <p:cNvSpPr/>
          <p:nvPr/>
        </p:nvSpPr>
        <p:spPr>
          <a:xfrm>
            <a:off x="5422392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7" name="Text 30"/>
          <p:cNvSpPr/>
          <p:nvPr/>
        </p:nvSpPr>
        <p:spPr>
          <a:xfrm>
            <a:off x="5422392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200" dirty="0"/>
          </a:p>
        </p:txBody>
      </p:sp>
      <p:sp>
        <p:nvSpPr>
          <p:cNvPr id="48" name="Text 31"/>
          <p:cNvSpPr/>
          <p:nvPr/>
        </p:nvSpPr>
        <p:spPr>
          <a:xfrm>
            <a:off x="5422392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Met</a:t>
            </a:r>
            <a:endParaRPr lang="en-US" sz="850" dirty="0"/>
          </a:p>
        </p:txBody>
      </p:sp>
      <p:sp>
        <p:nvSpPr>
          <p:cNvPr id="49" name="Shape 32"/>
          <p:cNvSpPr/>
          <p:nvPr/>
        </p:nvSpPr>
        <p:spPr>
          <a:xfrm>
            <a:off x="7123176" y="3840480"/>
            <a:ext cx="1554480" cy="86868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0" name="Text 33"/>
          <p:cNvSpPr/>
          <p:nvPr/>
        </p:nvSpPr>
        <p:spPr>
          <a:xfrm>
            <a:off x="7123176" y="3858768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51" name="Text 34"/>
          <p:cNvSpPr/>
          <p:nvPr/>
        </p:nvSpPr>
        <p:spPr>
          <a:xfrm>
            <a:off x="7123176" y="431596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Sprints</a:t>
            </a:r>
            <a:endParaRPr lang="en-US" sz="850" dirty="0"/>
          </a:p>
        </p:txBody>
      </p:sp>
      <p:sp>
        <p:nvSpPr>
          <p:cNvPr id="5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Recommendations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8229600" cy="36576"/>
          </a:xfrm>
          <a:prstGeom prst="rect">
            <a:avLst/>
          </a:prstGeom>
          <a:solidFill>
            <a:srgbClr val="1E5FAD"/>
          </a:solidFill>
          <a:ln w="12700">
            <a:solidFill>
              <a:srgbClr val="1E5FA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24128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0876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9808" y="1481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is a fully functional, secure web-based job portal</a:t>
            </a:r>
            <a:endParaRPr lang="en-US" sz="98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65960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9808" y="1938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addresses informal recruitment challenges in Puntland</a:t>
            </a:r>
            <a:endParaRPr lang="en-US" sz="98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23160"/>
            <a:ext cx="219456" cy="21945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9808" y="23957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 + MSSQL proved ideal for this multi-role platform</a:t>
            </a:r>
            <a:endParaRPr lang="en-US" sz="98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80360"/>
            <a:ext cx="219456" cy="219456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749808" y="28529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requirements met; 100% UAT satisfaction achieved</a:t>
            </a:r>
            <a:endParaRPr lang="en-US" sz="98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337560"/>
            <a:ext cx="219456" cy="21945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49808" y="33101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modern web tech can solve local real-world problems</a:t>
            </a:r>
            <a:endParaRPr lang="en-US" sz="98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794760"/>
            <a:ext cx="219456" cy="219456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749808" y="37673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Agile methodology ensured structured, iterative delivery</a:t>
            </a:r>
            <a:endParaRPr lang="en-US" sz="98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251960"/>
            <a:ext cx="219456" cy="219456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749808" y="4224528"/>
            <a:ext cx="3639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is ready for deployment and further development</a:t>
            </a:r>
            <a:endParaRPr lang="en-US" sz="980" dirty="0"/>
          </a:p>
        </p:txBody>
      </p:sp>
      <p:sp>
        <p:nvSpPr>
          <p:cNvPr id="21" name="Shape 11"/>
          <p:cNvSpPr/>
          <p:nvPr/>
        </p:nvSpPr>
        <p:spPr>
          <a:xfrm>
            <a:off x="4663440" y="960120"/>
            <a:ext cx="4160520" cy="3931920"/>
          </a:xfrm>
          <a:prstGeom prst="rect">
            <a:avLst/>
          </a:prstGeom>
          <a:solidFill>
            <a:srgbClr val="102845"/>
          </a:solidFill>
          <a:ln w="12700">
            <a:solidFill>
              <a:srgbClr val="1E5FAD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1024128"/>
            <a:ext cx="384048" cy="384048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5230368" y="10058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400" dirty="0"/>
          </a:p>
        </p:txBody>
      </p:sp>
      <p:sp>
        <p:nvSpPr>
          <p:cNvPr id="24" name="Shape 13"/>
          <p:cNvSpPr/>
          <p:nvPr/>
        </p:nvSpPr>
        <p:spPr>
          <a:xfrm>
            <a:off x="4773168" y="1508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5" name="Text 14"/>
          <p:cNvSpPr/>
          <p:nvPr/>
        </p:nvSpPr>
        <p:spPr>
          <a:xfrm>
            <a:off x="5065776" y="1481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Notifications: </a:t>
            </a:r>
            <a:endParaRPr lang="en-US" sz="950" dirty="0"/>
          </a:p>
        </p:txBody>
      </p:sp>
      <p:sp>
        <p:nvSpPr>
          <p:cNvPr id="26" name="Text 15"/>
          <p:cNvSpPr/>
          <p:nvPr/>
        </p:nvSpPr>
        <p:spPr>
          <a:xfrm>
            <a:off x="5065776" y="1664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alerts via SendGrid/Mailgun on status changes</a:t>
            </a:r>
            <a:endParaRPr lang="en-US" sz="850" dirty="0"/>
          </a:p>
        </p:txBody>
      </p:sp>
      <p:sp>
        <p:nvSpPr>
          <p:cNvPr id="27" name="Shape 16"/>
          <p:cNvSpPr/>
          <p:nvPr/>
        </p:nvSpPr>
        <p:spPr>
          <a:xfrm>
            <a:off x="4773168" y="1965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8" name="Text 17"/>
          <p:cNvSpPr/>
          <p:nvPr/>
        </p:nvSpPr>
        <p:spPr>
          <a:xfrm>
            <a:off x="5065776" y="1938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Job Matching: </a:t>
            </a:r>
            <a:endParaRPr lang="en-US" sz="950" dirty="0"/>
          </a:p>
        </p:txBody>
      </p:sp>
      <p:sp>
        <p:nvSpPr>
          <p:cNvPr id="29" name="Text 18"/>
          <p:cNvSpPr/>
          <p:nvPr/>
        </p:nvSpPr>
        <p:spPr>
          <a:xfrm>
            <a:off x="5065776" y="2121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/ NLP recommendation engine</a:t>
            </a:r>
            <a:endParaRPr lang="en-US" sz="850" dirty="0"/>
          </a:p>
        </p:txBody>
      </p:sp>
      <p:sp>
        <p:nvSpPr>
          <p:cNvPr id="30" name="Shape 19"/>
          <p:cNvSpPr/>
          <p:nvPr/>
        </p:nvSpPr>
        <p:spPr>
          <a:xfrm>
            <a:off x="4773168" y="24231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5065776" y="23957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App: </a:t>
            </a:r>
            <a:endParaRPr lang="en-US" sz="950" dirty="0"/>
          </a:p>
        </p:txBody>
      </p:sp>
      <p:sp>
        <p:nvSpPr>
          <p:cNvPr id="32" name="Text 21"/>
          <p:cNvSpPr/>
          <p:nvPr/>
        </p:nvSpPr>
        <p:spPr>
          <a:xfrm>
            <a:off x="5065776" y="25786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/ Flutter with Django REST API</a:t>
            </a:r>
            <a:endParaRPr lang="en-US" sz="850" dirty="0"/>
          </a:p>
        </p:txBody>
      </p:sp>
      <p:sp>
        <p:nvSpPr>
          <p:cNvPr id="33" name="Shape 22"/>
          <p:cNvSpPr/>
          <p:nvPr/>
        </p:nvSpPr>
        <p:spPr>
          <a:xfrm>
            <a:off x="4773168" y="28803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4" name="Text 23"/>
          <p:cNvSpPr/>
          <p:nvPr/>
        </p:nvSpPr>
        <p:spPr>
          <a:xfrm>
            <a:off x="5065776" y="28529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Messaging: </a:t>
            </a:r>
            <a:endParaRPr lang="en-US" sz="950" dirty="0"/>
          </a:p>
        </p:txBody>
      </p:sp>
      <p:sp>
        <p:nvSpPr>
          <p:cNvPr id="35" name="Text 24"/>
          <p:cNvSpPr/>
          <p:nvPr/>
        </p:nvSpPr>
        <p:spPr>
          <a:xfrm>
            <a:off x="5065776" y="30358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Channels + WebSockets for employer-seeker chat</a:t>
            </a:r>
            <a:endParaRPr lang="en-US" sz="850" dirty="0"/>
          </a:p>
        </p:txBody>
      </p:sp>
      <p:sp>
        <p:nvSpPr>
          <p:cNvPr id="36" name="Shape 25"/>
          <p:cNvSpPr/>
          <p:nvPr/>
        </p:nvSpPr>
        <p:spPr>
          <a:xfrm>
            <a:off x="4773168" y="33375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37" name="Text 26"/>
          <p:cNvSpPr/>
          <p:nvPr/>
        </p:nvSpPr>
        <p:spPr>
          <a:xfrm>
            <a:off x="5065776" y="33101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Analytics Dashboard: 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5065776" y="34930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usage, job market trends, skills insights</a:t>
            </a:r>
            <a:endParaRPr lang="en-US" sz="850" dirty="0"/>
          </a:p>
        </p:txBody>
      </p:sp>
      <p:sp>
        <p:nvSpPr>
          <p:cNvPr id="39" name="Shape 28"/>
          <p:cNvSpPr/>
          <p:nvPr/>
        </p:nvSpPr>
        <p:spPr>
          <a:xfrm>
            <a:off x="4773168" y="37947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0" name="Text 29"/>
          <p:cNvSpPr/>
          <p:nvPr/>
        </p:nvSpPr>
        <p:spPr>
          <a:xfrm>
            <a:off x="5065776" y="37673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Authentication: </a:t>
            </a:r>
            <a:endParaRPr lang="en-US" sz="950" dirty="0"/>
          </a:p>
        </p:txBody>
      </p:sp>
      <p:sp>
        <p:nvSpPr>
          <p:cNvPr id="41" name="Text 30"/>
          <p:cNvSpPr/>
          <p:nvPr/>
        </p:nvSpPr>
        <p:spPr>
          <a:xfrm>
            <a:off x="5065776" y="39502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2.0: Google / LinkedIn sign-in</a:t>
            </a:r>
            <a:endParaRPr lang="en-US" sz="850" dirty="0"/>
          </a:p>
        </p:txBody>
      </p:sp>
      <p:sp>
        <p:nvSpPr>
          <p:cNvPr id="42" name="Shape 31"/>
          <p:cNvSpPr/>
          <p:nvPr/>
        </p:nvSpPr>
        <p:spPr>
          <a:xfrm>
            <a:off x="4773168" y="4251960"/>
            <a:ext cx="219456" cy="219456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065776" y="4224528"/>
            <a:ext cx="3639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Parsing: </a:t>
            </a:r>
            <a:endParaRPr lang="en-US" sz="950" dirty="0"/>
          </a:p>
        </p:txBody>
      </p:sp>
      <p:sp>
        <p:nvSpPr>
          <p:cNvPr id="44" name="Text 33"/>
          <p:cNvSpPr/>
          <p:nvPr/>
        </p:nvSpPr>
        <p:spPr>
          <a:xfrm>
            <a:off x="5065776" y="4407408"/>
            <a:ext cx="3639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profile from uploaded resume files</a:t>
            </a:r>
            <a:endParaRPr lang="en-US" sz="850" dirty="0"/>
          </a:p>
        </p:txBody>
      </p:sp>
      <p:sp>
        <p:nvSpPr>
          <p:cNvPr id="45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822960"/>
            <a:ext cx="5943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365760" y="1828800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FURSAD — Web-Based Job Portal System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65760" y="2304288"/>
            <a:ext cx="41148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2423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Puntland University of Science and Technology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" y="269748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 |  B.Sc. Graduation Project  |  2026–2027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31272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8CA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65760" y="33649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F4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Sundus Ahmed Mohamed  |  Ayub Sicid Cabdiraxman  |  Ibrahim Ahmed Abdulahi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65760" y="36210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by: Mr. Omar Gaciye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solidFill>
            <a:srgbClr val="1E5FAD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5760" y="420624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  <p:sp>
        <p:nvSpPr>
          <p:cNvPr id="17" name="Shape 1"/>
          <p:cNvSpPr/>
          <p:nvPr/>
        </p:nvSpPr>
        <p:spPr>
          <a:xfrm>
            <a:off x="5596128" y="419100"/>
            <a:ext cx="3474720" cy="3474720"/>
          </a:xfrm>
          <a:prstGeom prst="ellipse">
            <a:avLst/>
          </a:prstGeom>
          <a:solidFill>
            <a:srgbClr val="1E5FAD">
              <a:alpha val="22000"/>
            </a:srgbClr>
          </a:solidFill>
          <a:ln w="12700">
            <a:noFill/>
            <a:prstDash val="solid"/>
          </a:ln>
          <a:effectLst>
            <a:glow rad="228600">
              <a:schemeClr val="tx1">
                <a:alpha val="40000"/>
              </a:schemeClr>
            </a:glow>
            <a:reflection blurRad="6350" stA="50000" endA="300" endPos="55500" dist="50800" dir="5400000" sy="-100000" algn="bl" rotWithShape="0"/>
            <a:softEdge rad="31750"/>
          </a:effectLst>
          <a:scene3d>
            <a:camera prst="perspectiveRight"/>
            <a:lightRig rig="contrasting" dir="t">
              <a:rot lat="0" lon="0" rev="7800000"/>
            </a:lightRig>
          </a:scene3d>
          <a:sp3d>
            <a:bevelT w="139700" h="139700"/>
          </a:sp3d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029" y="1306068"/>
            <a:ext cx="1554480" cy="1554480"/>
          </a:xfrm>
          <a:prstGeom prst="rect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"/>
          </a:effectLst>
          <a:scene3d>
            <a:camera prst="obliqueTopLeft"/>
            <a:lightRig rig="balanced" dir="t">
              <a:rot lat="0" lon="0" rev="8700000"/>
            </a:lightRig>
          </a:scene3d>
          <a:sp3d>
            <a:bevelT w="190500" h="38100"/>
          </a:sp3d>
        </p:spPr>
      </p:pic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7" row="4">
    <wetp:webextensionref xmlns:r="http://schemas.openxmlformats.org/officeDocument/2006/relationships" r:id="rId1"/>
  </wetp:taskpane>
  <wetp:taskpane dockstate="right" visibility="0" width="437" row="5">
    <wetp:webextensionref xmlns:r="http://schemas.openxmlformats.org/officeDocument/2006/relationships" r:id="rId2"/>
  </wetp:taskpane>
  <wetp:taskpane dockstate="right" visibility="0" width="437" row="6">
    <wetp:webextensionref xmlns:r="http://schemas.openxmlformats.org/officeDocument/2006/relationships" r:id="rId3"/>
  </wetp:taskpane>
</wetp:taskpanes>
</file>

<file path=ppt/webextensions/webextension1.xml><?xml version="1.0" encoding="utf-8"?>
<we:webextension xmlns:we="http://schemas.microsoft.com/office/webextensions/webextension/2010/11" id="{6CFF6EB5-FBEC-4912-A2C7-64E011047A08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8CFACEC-D101-4ACD-AF75-02940A33652A}">
  <we:reference id="wa104381063" version="1.0.0.1" store="en-US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346E8300-5AE2-419E-A9D3-7C8A80304B29}">
  <we:reference id="wa200008583" version="1.0.0.1" store="en-US" storeType="OMEX"/>
  <we:alternateReferences>
    <we:reference id="WA200008583" version="1.0.0.1" store="WA20000858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649</TotalTime>
  <Words>1965</Words>
  <Application>Microsoft Office PowerPoint</Application>
  <PresentationFormat>On-screen Show (16:9)</PresentationFormat>
  <Paragraphs>453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Fursad – Web-Based Job Portal System</dc:title>
  <dc:subject>PptxGenJS Presentation</dc:subject>
  <dc:creator>PptxGenJS</dc:creator>
  <cp:lastModifiedBy>Microsoft account</cp:lastModifiedBy>
  <cp:revision>41</cp:revision>
  <dcterms:created xsi:type="dcterms:W3CDTF">2026-06-08T19:47:14Z</dcterms:created>
  <dcterms:modified xsi:type="dcterms:W3CDTF">2026-06-18T20:11:51Z</dcterms:modified>
</cp:coreProperties>
</file>