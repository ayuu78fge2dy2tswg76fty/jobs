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Default Extension="wdp" ContentType="image/vnd.ms-photo"/>
  <Default Extension="xlsx" ContentType="application/vnd.openxmlformats-officedocument.spreadsheetml.sheet"/>
  <Override PartName="/ppt/webextensions/taskpanes.xml" ContentType="application/vnd.ms-office.webextensiontaskpanes+xml"/>
  <Override PartName="/ppt/webextensions/webextension1.xml" ContentType="application/vnd.ms-office.webextension+xml"/>
  <Override PartName="/ppt/webextensions/webextension2.xml" ContentType="application/vnd.ms-office.webextension+xml"/>
  <Override PartName="/ppt/webextensions/webextension3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comments/comment1.xml" ContentType="application/vnd.openxmlformats-officedocument.presentationml.comments+xml"/>
  <Override PartName="/ppt/notesSlides/notesSlide8.xml" ContentType="application/vnd.openxmlformats-officedocument.presentationml.notesSlide+xml"/>
  <Override PartName="/ppt/comments/comment2.xml" ContentType="application/vnd.openxmlformats-officedocument.presentationml.comments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charts/chart1.xml" ContentType="application/vnd.openxmlformats-officedocument.drawingml.chart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charts/chart2.xml" ContentType="application/vnd.openxmlformats-officedocument.drawingml.chart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77" r:id="rId9"/>
    <p:sldId id="263" r:id="rId10"/>
    <p:sldId id="264" r:id="rId11"/>
    <p:sldId id="265" r:id="rId12"/>
    <p:sldId id="266" r:id="rId13"/>
    <p:sldId id="267" r:id="rId14"/>
    <p:sldId id="274" r:id="rId15"/>
    <p:sldId id="275" r:id="rId16"/>
    <p:sldId id="276" r:id="rId17"/>
    <p:sldId id="268" r:id="rId18"/>
    <p:sldId id="269" r:id="rId19"/>
    <p:sldId id="270" r:id="rId20"/>
    <p:sldId id="271" r:id="rId21"/>
    <p:sldId id="272" r:id="rId22"/>
    <p:sldId id="278" r:id="rId23"/>
    <p:sldId id="273" r:id="rId24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Microsoft account" initials="Ma" lastIdx="3" clrIdx="0">
    <p:extLst>
      <p:ext uri="{19B8F6BF-5375-455C-9EA6-DF929625EA0E}">
        <p15:presenceInfo xmlns:p15="http://schemas.microsoft.com/office/powerpoint/2012/main" userId="646ffc8951fc44a5" providerId="Windows Liv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48885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05" d="100"/>
          <a:sy n="105" d="100"/>
        </p:scale>
        <p:origin x="72" y="25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commentAuthors" Target="commentAuthor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en-US"/>
  <c:roundedCorners val="1"/>
  <c:style val="2"/>
  <c:chart>
    <c:title>
      <c:tx>
        <c:rich>
          <a:bodyPr/>
          <a:lstStyle/>
          <a:p>
            <a:pPr>
              <a:defRPr/>
            </a:pPr>
            <a:r>
              <a:rPr lang="en-US" dirty="0">
                <a:solidFill>
                  <a:srgbClr val="FF0000"/>
                </a:solidFill>
              </a:rPr>
              <a:t>Test Results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Test Results</c:v>
                </c:pt>
              </c:strCache>
            </c:strRef>
          </c:tx>
          <c:spPr>
            <a:solidFill>
              <a:srgbClr val="1E5FAD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900" b="0" i="0" u="none" strike="noStrike">
                    <a:solidFill>
                      <a:srgbClr val="FFFFFF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</c:ext>
            </c:extLst>
          </c:dLbls>
          <c:trendline>
            <c:trendlineType val="linear"/>
            <c:dispRSqr val="0"/>
            <c:dispEq val="0"/>
          </c:trendline>
          <c:cat>
            <c:strRef>
              <c:f>Sheet1!$A$2:$A$7</c:f>
              <c:strCache>
                <c:ptCount val="6"/>
                <c:pt idx="0">
                  <c:v>Auth Forms</c:v>
                </c:pt>
                <c:pt idx="1">
                  <c:v>Login/Logout</c:v>
                </c:pt>
                <c:pt idx="2">
                  <c:v>Job Creation</c:v>
                </c:pt>
                <c:pt idx="3">
                  <c:v>Job Search</c:v>
                </c:pt>
                <c:pt idx="4">
                  <c:v>Application Submit</c:v>
                </c:pt>
                <c:pt idx="5">
                  <c:v>Duplicate Check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8</c:v>
                </c:pt>
                <c:pt idx="1">
                  <c:v>6</c:v>
                </c:pt>
                <c:pt idx="2">
                  <c:v>9</c:v>
                </c:pt>
                <c:pt idx="3">
                  <c:v>10</c:v>
                </c:pt>
                <c:pt idx="4">
                  <c:v>6</c:v>
                </c:pt>
                <c:pt idx="5">
                  <c:v>4</c:v>
                </c:pt>
              </c:numCache>
            </c:numRef>
          </c:val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891789216"/>
        <c:axId val="1060661024"/>
      </c:barChart>
      <c:catAx>
        <c:axId val="891789216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B0C4DE"/>
                </a:solidFill>
                <a:latin typeface="Arial"/>
              </a:defRPr>
            </a:pPr>
            <a:endParaRPr lang="en-US"/>
          </a:p>
        </c:txPr>
        <c:crossAx val="1060661024"/>
        <c:crosses val="autoZero"/>
        <c:auto val="1"/>
        <c:lblAlgn val="ctr"/>
        <c:lblOffset val="100"/>
        <c:noMultiLvlLbl val="1"/>
      </c:catAx>
      <c:valAx>
        <c:axId val="1060661024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1E3A5A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B0C4DE"/>
                </a:solidFill>
                <a:latin typeface="Arial"/>
              </a:defRPr>
            </a:pPr>
            <a:endParaRPr lang="en-US"/>
          </a:p>
        </c:txPr>
        <c:crossAx val="891789216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solidFill>
      <a:srgbClr val="0D2137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en-US"/>
  <c:roundedCorners val="1"/>
  <c:style val="2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Excellent</c:v>
                </c:pt>
              </c:strCache>
            </c:strRef>
          </c:tx>
          <c:spPr>
            <a:solidFill>
              <a:srgbClr val="00B4D8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Registration</c:v>
                </c:pt>
                <c:pt idx="1">
                  <c:v>Navigation</c:v>
                </c:pt>
                <c:pt idx="2">
                  <c:v>Job Search</c:v>
                </c:pt>
                <c:pt idx="3">
                  <c:v>Apply Process</c:v>
                </c:pt>
                <c:pt idx="4">
                  <c:v>App Tracking</c:v>
                </c:pt>
                <c:pt idx="5">
                  <c:v>Overall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75</c:v>
                </c:pt>
                <c:pt idx="1">
                  <c:v>63</c:v>
                </c:pt>
                <c:pt idx="2">
                  <c:v>75</c:v>
                </c:pt>
                <c:pt idx="3">
                  <c:v>88</c:v>
                </c:pt>
                <c:pt idx="4">
                  <c:v>75</c:v>
                </c:pt>
                <c:pt idx="5">
                  <c:v>75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Good</c:v>
                </c:pt>
              </c:strCache>
            </c:strRef>
          </c:tx>
          <c:spPr>
            <a:solidFill>
              <a:srgbClr val="1E5FAD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Registration</c:v>
                </c:pt>
                <c:pt idx="1">
                  <c:v>Navigation</c:v>
                </c:pt>
                <c:pt idx="2">
                  <c:v>Job Search</c:v>
                </c:pt>
                <c:pt idx="3">
                  <c:v>Apply Process</c:v>
                </c:pt>
                <c:pt idx="4">
                  <c:v>App Tracking</c:v>
                </c:pt>
                <c:pt idx="5">
                  <c:v>Overall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25</c:v>
                </c:pt>
                <c:pt idx="1">
                  <c:v>37</c:v>
                </c:pt>
                <c:pt idx="2">
                  <c:v>25</c:v>
                </c:pt>
                <c:pt idx="3">
                  <c:v>12</c:v>
                </c:pt>
                <c:pt idx="4">
                  <c:v>25</c:v>
                </c:pt>
                <c:pt idx="5">
                  <c:v>25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50"/>
        <c:overlap val="100"/>
        <c:axId val="1060672448"/>
        <c:axId val="1060672992"/>
      </c:barChart>
      <c:catAx>
        <c:axId val="106067244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B0C4DE"/>
                </a:solidFill>
                <a:latin typeface="Arial"/>
              </a:defRPr>
            </a:pPr>
            <a:endParaRPr lang="en-US"/>
          </a:p>
        </c:txPr>
        <c:crossAx val="1060672992"/>
        <c:crosses val="autoZero"/>
        <c:auto val="1"/>
        <c:lblAlgn val="ctr"/>
        <c:lblOffset val="100"/>
        <c:noMultiLvlLbl val="1"/>
      </c:catAx>
      <c:valAx>
        <c:axId val="1060672992"/>
        <c:scaling>
          <c:orientation val="minMax"/>
          <c:max val="100"/>
          <c:min val="0"/>
        </c:scaling>
        <c:delete val="0"/>
        <c:axPos val="l"/>
        <c:majorGridlines>
          <c:spPr>
            <a:ln w="6350" cap="flat">
              <a:solidFill>
                <a:srgbClr val="1E3A5A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B0C4DE"/>
                </a:solidFill>
                <a:latin typeface="Arial"/>
              </a:defRPr>
            </a:pPr>
            <a:endParaRPr lang="en-US"/>
          </a:p>
        </c:txPr>
        <c:crossAx val="1060672448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ayout/>
      <c:overlay val="0"/>
    </c:legend>
    <c:plotVisOnly val="1"/>
    <c:dispBlanksAs val="span"/>
    <c:showDLblsOverMax val="1"/>
  </c:chart>
  <c:spPr>
    <a:solidFill>
      <a:srgbClr val="0D2137"/>
    </a:solidFill>
    <a:ln>
      <a:noFill/>
    </a:ln>
    <a:effectLst/>
  </c:spPr>
  <c:externalData r:id="rId1">
    <c:autoUpdate val="0"/>
  </c:externalData>
</c:chartSpace>
</file>

<file path=ppt/comments/comment1.xml><?xml version="1.0" encoding="utf-8"?>
<p:cmLst xmlns:a="http://schemas.openxmlformats.org/drawingml/2006/main" xmlns:r="http://schemas.openxmlformats.org/officeDocument/2006/relationships" xmlns:p="http://schemas.openxmlformats.org/presentationml/2006/main">
  <p:cm authorId="1" dt="2026-06-11T05:51:37.712" idx="3">
    <p:pos x="10" y="10"/>
    <p:text>auth_user = admin</p:text>
    <p:extLst>
      <p:ext uri="{C676402C-5697-4E1C-873F-D02D1690AC5C}">
        <p15:threadingInfo xmlns:p15="http://schemas.microsoft.com/office/powerpoint/2012/main" timeZoneBias="-180"/>
      </p:ext>
    </p:extLst>
  </p:cm>
</p:cmLst>
</file>

<file path=ppt/comments/comment2.xml><?xml version="1.0" encoding="utf-8"?>
<p:cmLst xmlns:a="http://schemas.openxmlformats.org/drawingml/2006/main" xmlns:r="http://schemas.openxmlformats.org/officeDocument/2006/relationships" xmlns:p="http://schemas.openxmlformats.org/presentationml/2006/main">
  <p:cm authorId="1" dt="2026-06-11T05:51:37.712" idx="3">
    <p:pos x="10" y="10"/>
    <p:text>auth_user = admin</p:text>
    <p:extLst>
      <p:ext uri="{C676402C-5697-4E1C-873F-D02D1690AC5C}">
        <p15:threadingInfo xmlns:p15="http://schemas.microsoft.com/office/powerpoint/2012/main" timeZoneBias="-180"/>
      </p:ext>
    </p:extLst>
  </p:cm>
</p:cmLst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51286229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41739550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56321407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15867335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53131573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71257789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.png"/><Relationship Id="rId3" Type="http://schemas.openxmlformats.org/officeDocument/2006/relationships/image" Target="../media/image10.png"/><Relationship Id="rId7" Type="http://schemas.openxmlformats.org/officeDocument/2006/relationships/image" Target="../media/image1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4" Type="http://schemas.openxmlformats.org/officeDocument/2006/relationships/comments" Target="../comments/commen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5" Type="http://schemas.openxmlformats.org/officeDocument/2006/relationships/comments" Target="../comments/comment2.xml"/><Relationship Id="rId4" Type="http://schemas.microsoft.com/office/2007/relationships/hdphoto" Target="../media/hdphoto1.wdp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22.png"/><Relationship Id="rId3" Type="http://schemas.openxmlformats.org/officeDocument/2006/relationships/image" Target="../media/image18.png"/><Relationship Id="rId7" Type="http://schemas.openxmlformats.org/officeDocument/2006/relationships/image" Target="../media/image2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0.png"/><Relationship Id="rId5" Type="http://schemas.openxmlformats.org/officeDocument/2006/relationships/image" Target="../media/image16.png"/><Relationship Id="rId10" Type="http://schemas.openxmlformats.org/officeDocument/2006/relationships/image" Target="../media/image24.png"/><Relationship Id="rId4" Type="http://schemas.openxmlformats.org/officeDocument/2006/relationships/image" Target="../media/image19.png"/><Relationship Id="rId9" Type="http://schemas.openxmlformats.org/officeDocument/2006/relationships/image" Target="../media/image23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29.png"/><Relationship Id="rId3" Type="http://schemas.openxmlformats.org/officeDocument/2006/relationships/image" Target="../media/image25.png"/><Relationship Id="rId7" Type="http://schemas.openxmlformats.org/officeDocument/2006/relationships/image" Target="../media/image28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7.png"/><Relationship Id="rId5" Type="http://schemas.openxmlformats.org/officeDocument/2006/relationships/image" Target="../media/image1.png"/><Relationship Id="rId4" Type="http://schemas.openxmlformats.org/officeDocument/2006/relationships/image" Target="../media/image26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33.png"/><Relationship Id="rId3" Type="http://schemas.openxmlformats.org/officeDocument/2006/relationships/image" Target="../media/image30.png"/><Relationship Id="rId7" Type="http://schemas.openxmlformats.org/officeDocument/2006/relationships/image" Target="../media/image32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1.png"/><Relationship Id="rId5" Type="http://schemas.openxmlformats.org/officeDocument/2006/relationships/image" Target="../media/image25.png"/><Relationship Id="rId4" Type="http://schemas.openxmlformats.org/officeDocument/2006/relationships/image" Target="../media/image16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.xml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5" Type="http://schemas.openxmlformats.org/officeDocument/2006/relationships/image" Target="../media/image39.png"/><Relationship Id="rId4" Type="http://schemas.openxmlformats.org/officeDocument/2006/relationships/image" Target="../media/image38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7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1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0206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FF0000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596128" y="419100"/>
            <a:ext cx="3474720" cy="3474720"/>
          </a:xfrm>
          <a:prstGeom prst="ellipse">
            <a:avLst/>
          </a:prstGeom>
          <a:solidFill>
            <a:srgbClr val="1E5FAD">
              <a:alpha val="22000"/>
            </a:srgbClr>
          </a:solidFill>
          <a:ln w="12700">
            <a:noFill/>
            <a:prstDash val="solid"/>
          </a:ln>
          <a:effectLst>
            <a:glow rad="228600">
              <a:schemeClr val="tx1">
                <a:alpha val="40000"/>
              </a:schemeClr>
            </a:glow>
            <a:reflection blurRad="6350" stA="50000" endA="300" endPos="55500" dist="50800" dir="5400000" sy="-100000" algn="bl" rotWithShape="0"/>
            <a:softEdge rad="31750"/>
          </a:effectLst>
          <a:scene3d>
            <a:camera prst="perspectiveRight"/>
            <a:lightRig rig="contrasting" dir="t">
              <a:rot lat="0" lon="0" rev="7800000"/>
            </a:lightRig>
          </a:scene3d>
          <a:sp3d>
            <a:bevelT w="139700" h="139700"/>
          </a:sp3d>
        </p:spPr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61029" y="1306068"/>
            <a:ext cx="1554480" cy="1554480"/>
          </a:xfrm>
          <a:prstGeom prst="rect">
            <a:avLst/>
          </a:prstGeom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  <a:softEdge rad="31750"/>
          </a:effectLst>
          <a:scene3d>
            <a:camera prst="obliqueTopLeft"/>
            <a:lightRig rig="balanced" dir="t">
              <a:rot lat="0" lon="0" rev="8700000"/>
            </a:lightRig>
          </a:scene3d>
          <a:sp3d>
            <a:bevelT w="190500" h="38100"/>
          </a:sp3d>
        </p:spPr>
      </p:pic>
      <p:sp>
        <p:nvSpPr>
          <p:cNvPr id="5" name="Text 2"/>
          <p:cNvSpPr/>
          <p:nvPr/>
        </p:nvSpPr>
        <p:spPr>
          <a:xfrm>
            <a:off x="365760" y="228600"/>
            <a:ext cx="6217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B0C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PUNTLAND UNIVERSITY OF SCIENCE AND TECHNOLOGY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365760" y="502920"/>
            <a:ext cx="6217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B0C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Faculty of Computer Science and Information Technology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365760" y="914400"/>
            <a:ext cx="64008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200" b="1" kern="0" spc="1000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FURSAD</a:t>
            </a:r>
            <a:endParaRPr lang="en-US" sz="7200" dirty="0"/>
          </a:p>
        </p:txBody>
      </p:sp>
      <p:sp>
        <p:nvSpPr>
          <p:cNvPr id="8" name="Text 5"/>
          <p:cNvSpPr/>
          <p:nvPr/>
        </p:nvSpPr>
        <p:spPr>
          <a:xfrm>
            <a:off x="365760" y="1920240"/>
            <a:ext cx="7315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and Implementation of a</a:t>
            </a:r>
            <a:endParaRPr lang="en-US" sz="1800" dirty="0"/>
          </a:p>
        </p:txBody>
      </p:sp>
      <p:sp>
        <p:nvSpPr>
          <p:cNvPr id="9" name="Text 6"/>
          <p:cNvSpPr/>
          <p:nvPr/>
        </p:nvSpPr>
        <p:spPr>
          <a:xfrm>
            <a:off x="365760" y="22860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Web-Based Job Portal System</a:t>
            </a:r>
            <a:endParaRPr lang="en-US" sz="2200" dirty="0"/>
          </a:p>
        </p:txBody>
      </p:sp>
      <p:sp>
        <p:nvSpPr>
          <p:cNvPr id="10" name="Shape 7"/>
          <p:cNvSpPr/>
          <p:nvPr/>
        </p:nvSpPr>
        <p:spPr>
          <a:xfrm>
            <a:off x="365760" y="2834640"/>
            <a:ext cx="4572000" cy="36576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365760" y="2944368"/>
            <a:ext cx="2286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B0C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Prepared by:</a:t>
            </a:r>
            <a:endParaRPr lang="en-US" sz="900" dirty="0"/>
          </a:p>
        </p:txBody>
      </p:sp>
      <p:sp>
        <p:nvSpPr>
          <p:cNvPr id="12" name="Text 9"/>
          <p:cNvSpPr/>
          <p:nvPr/>
        </p:nvSpPr>
        <p:spPr>
          <a:xfrm>
            <a:off x="365760" y="318211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Sundus Ahmed Mohamed  |  Ayub Sicid Cabdiraxman  |  Ibrahim Ahmed Abdulahi</a:t>
            </a:r>
            <a:endParaRPr lang="en-US" sz="1000" dirty="0"/>
          </a:p>
        </p:txBody>
      </p:sp>
      <p:sp>
        <p:nvSpPr>
          <p:cNvPr id="13" name="Text 10"/>
          <p:cNvSpPr/>
          <p:nvPr/>
        </p:nvSpPr>
        <p:spPr>
          <a:xfrm>
            <a:off x="365760" y="3438144"/>
            <a:ext cx="4572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B0C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Supervised by: Mr. Omar Gaciye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365760" y="3730752"/>
            <a:ext cx="3657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B0C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Academic Year 2026 – 2027</a:t>
            </a:r>
            <a:endParaRPr lang="en-US" sz="1000" dirty="0"/>
          </a:p>
        </p:txBody>
      </p:sp>
      <p:sp>
        <p:nvSpPr>
          <p:cNvPr id="15" name="Shape 12"/>
          <p:cNvSpPr/>
          <p:nvPr/>
        </p:nvSpPr>
        <p:spPr>
          <a:xfrm>
            <a:off x="365760" y="4114800"/>
            <a:ext cx="2560320" cy="384048"/>
          </a:xfrm>
          <a:prstGeom prst="rect">
            <a:avLst/>
          </a:prstGeom>
          <a:solidFill>
            <a:srgbClr val="1E5FAD"/>
          </a:solidFill>
          <a:ln w="12700">
            <a:noFill/>
            <a:prstDash val="solid"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</p:sp>
      <p:sp>
        <p:nvSpPr>
          <p:cNvPr id="16" name="Text 13"/>
          <p:cNvSpPr/>
          <p:nvPr/>
        </p:nvSpPr>
        <p:spPr>
          <a:xfrm>
            <a:off x="365760" y="4114800"/>
            <a:ext cx="25603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GRADUATION PROJECT DEFENSE</a:t>
            </a:r>
            <a:endParaRPr lang="en-US" sz="900" dirty="0"/>
          </a:p>
        </p:txBody>
      </p:sp>
      <p:sp>
        <p:nvSpPr>
          <p:cNvPr id="17" name="Text 14"/>
          <p:cNvSpPr/>
          <p:nvPr/>
        </p:nvSpPr>
        <p:spPr>
          <a:xfrm>
            <a:off x="6583680" y="4663440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B0C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B.Sc. in Computer Science</a:t>
            </a:r>
            <a:endParaRPr lang="en-US" sz="900" dirty="0"/>
          </a:p>
        </p:txBody>
      </p:sp>
    </p:spTree>
  </p:cSld>
  <p:clrMapOvr>
    <a:masterClrMapping/>
  </p:clrMapOvr>
  <p:transition spd="slow">
    <p:wipe/>
  </p:transition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0206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Background &amp; Problem Statement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804672"/>
            <a:ext cx="8229600" cy="36576"/>
          </a:xfrm>
          <a:prstGeom prst="rect">
            <a:avLst/>
          </a:prstGeom>
          <a:solidFill>
            <a:srgbClr val="1E5FAD"/>
          </a:solidFill>
          <a:ln w="12700">
            <a:solidFill>
              <a:srgbClr val="1E5FAD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20040" y="914400"/>
            <a:ext cx="3931920" cy="3383280"/>
          </a:xfrm>
          <a:prstGeom prst="rect">
            <a:avLst/>
          </a:prstGeom>
          <a:solidFill>
            <a:srgbClr val="102845"/>
          </a:solidFill>
          <a:ln w="12700">
            <a:noFill/>
            <a:prstDash val="solid"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 prst="coolSlant"/>
          </a:sp3d>
        </p:spPr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005840"/>
            <a:ext cx="384048" cy="38404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914400" y="987552"/>
            <a:ext cx="3200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Background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457200" y="1481328"/>
            <a:ext cx="3657600" cy="2606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100" b="1" dirty="0">
                <a:solidFill>
                  <a:srgbClr val="48CA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</a:t>
            </a:r>
            <a:r>
              <a:rPr lang="en-US" sz="110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Puntland still relies on informal, manual recruitment channels
</a:t>
            </a:r>
            <a:r>
              <a:rPr lang="en-US" sz="1100" b="1" dirty="0">
                <a:solidFill>
                  <a:srgbClr val="48CA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</a:t>
            </a:r>
            <a:r>
              <a:rPr lang="en-US" sz="110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Qualified graduates remain unemployed due to information gaps
</a:t>
            </a:r>
            <a:r>
              <a:rPr lang="en-US" sz="1100" b="1" dirty="0">
                <a:solidFill>
                  <a:srgbClr val="48CA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</a:t>
            </a:r>
            <a:r>
              <a:rPr lang="en-US" sz="110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platforms (LinkedIn, Indeed) do not serve local needs
</a:t>
            </a:r>
            <a:r>
              <a:rPr lang="en-US" sz="1100" b="1" dirty="0">
                <a:solidFill>
                  <a:srgbClr val="48CA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</a:t>
            </a:r>
            <a:r>
              <a:rPr lang="en-US" sz="110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centralized, digital recruitment platform exists locally
</a:t>
            </a:r>
            <a:r>
              <a:rPr lang="en-US" sz="1100" b="1" dirty="0">
                <a:solidFill>
                  <a:srgbClr val="48CA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</a:t>
            </a:r>
            <a:r>
              <a:rPr lang="en-US" sz="110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Internet-driven recruitment emerged globally since mid-1990s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4434840" y="914400"/>
            <a:ext cx="4389120" cy="3383280"/>
          </a:xfrm>
          <a:prstGeom prst="rect">
            <a:avLst/>
          </a:prstGeom>
          <a:solidFill>
            <a:srgbClr val="102845"/>
          </a:solidFill>
          <a:ln w="12700">
            <a:noFill/>
            <a:prstDash val="solid"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 prst="coolSlant"/>
          </a:sp3d>
        </p:spPr>
      </p:sp>
      <p:pic>
        <p:nvPicPr>
          <p:cNvPr id="9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0" y="1005840"/>
            <a:ext cx="384048" cy="384048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5029200" y="987552"/>
            <a:ext cx="3657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D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 Statement</a:t>
            </a:r>
            <a:endParaRPr lang="en-US" sz="1300" dirty="0"/>
          </a:p>
        </p:txBody>
      </p:sp>
      <p:sp>
        <p:nvSpPr>
          <p:cNvPr id="11" name="Shape 7"/>
          <p:cNvSpPr/>
          <p:nvPr/>
        </p:nvSpPr>
        <p:spPr>
          <a:xfrm>
            <a:off x="4572000" y="1536192"/>
            <a:ext cx="201168" cy="201168"/>
          </a:xfrm>
          <a:prstGeom prst="ellips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4846320" y="1490472"/>
            <a:ext cx="3840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centralized job listing source</a:t>
            </a:r>
            <a:endParaRPr lang="en-US" sz="1050" dirty="0"/>
          </a:p>
        </p:txBody>
      </p:sp>
      <p:sp>
        <p:nvSpPr>
          <p:cNvPr id="13" name="Shape 9"/>
          <p:cNvSpPr/>
          <p:nvPr/>
        </p:nvSpPr>
        <p:spPr>
          <a:xfrm>
            <a:off x="4572000" y="1965960"/>
            <a:ext cx="201168" cy="201168"/>
          </a:xfrm>
          <a:prstGeom prst="ellips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4846320" y="1920240"/>
            <a:ext cx="3840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Inefficient paper-based applications</a:t>
            </a:r>
            <a:endParaRPr lang="en-US" sz="1050" dirty="0"/>
          </a:p>
        </p:txBody>
      </p:sp>
      <p:sp>
        <p:nvSpPr>
          <p:cNvPr id="15" name="Shape 11"/>
          <p:cNvSpPr/>
          <p:nvPr/>
        </p:nvSpPr>
        <p:spPr>
          <a:xfrm>
            <a:off x="4572000" y="2395728"/>
            <a:ext cx="201168" cy="201168"/>
          </a:xfrm>
          <a:prstGeom prst="ellips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4846320" y="2350008"/>
            <a:ext cx="3840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Poor candidate management for employers</a:t>
            </a:r>
            <a:endParaRPr lang="en-US" sz="1050" dirty="0"/>
          </a:p>
        </p:txBody>
      </p:sp>
      <p:sp>
        <p:nvSpPr>
          <p:cNvPr id="17" name="Shape 13"/>
          <p:cNvSpPr/>
          <p:nvPr/>
        </p:nvSpPr>
        <p:spPr>
          <a:xfrm>
            <a:off x="4572000" y="2825496"/>
            <a:ext cx="201168" cy="201168"/>
          </a:xfrm>
          <a:prstGeom prst="ellips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4846320" y="2779776"/>
            <a:ext cx="3840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application status transparency</a:t>
            </a:r>
            <a:endParaRPr lang="en-US" sz="1050" dirty="0"/>
          </a:p>
        </p:txBody>
      </p:sp>
      <p:sp>
        <p:nvSpPr>
          <p:cNvPr id="19" name="Shape 15"/>
          <p:cNvSpPr/>
          <p:nvPr/>
        </p:nvSpPr>
        <p:spPr>
          <a:xfrm>
            <a:off x="4572000" y="3255264"/>
            <a:ext cx="201168" cy="201168"/>
          </a:xfrm>
          <a:prstGeom prst="ellips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4846320" y="3209544"/>
            <a:ext cx="3840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privacy risks via informal channels</a:t>
            </a:r>
            <a:endParaRPr lang="en-US" sz="1050" dirty="0"/>
          </a:p>
        </p:txBody>
      </p:sp>
      <p:sp>
        <p:nvSpPr>
          <p:cNvPr id="21" name="Shape 17"/>
          <p:cNvSpPr/>
          <p:nvPr/>
        </p:nvSpPr>
        <p:spPr>
          <a:xfrm>
            <a:off x="4572000" y="3685032"/>
            <a:ext cx="201168" cy="201168"/>
          </a:xfrm>
          <a:prstGeom prst="ellips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4846320" y="3639312"/>
            <a:ext cx="3840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Geographic constraints limit access</a:t>
            </a:r>
            <a:endParaRPr lang="en-US" sz="1050" dirty="0"/>
          </a:p>
        </p:txBody>
      </p:sp>
      <p:sp>
        <p:nvSpPr>
          <p:cNvPr id="23" name="Shape 0"/>
          <p:cNvSpPr/>
          <p:nvPr/>
        </p:nvSpPr>
        <p:spPr>
          <a:xfrm>
            <a:off x="0" y="6096"/>
            <a:ext cx="164592" cy="5143500"/>
          </a:xfrm>
          <a:prstGeom prst="rect">
            <a:avLst/>
          </a:prstGeom>
          <a:solidFill>
            <a:srgbClr val="FF0000"/>
          </a:solidFill>
          <a:ln w="12700">
            <a:solidFill>
              <a:srgbClr val="00B4D8"/>
            </a:solidFill>
            <a:prstDash val="solid"/>
          </a:ln>
        </p:spPr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3400">
        <p14:reveal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0206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 Aim, Objectives &amp; Questions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804672"/>
            <a:ext cx="8229600" cy="36576"/>
          </a:xfrm>
          <a:prstGeom prst="rect">
            <a:avLst/>
          </a:prstGeom>
          <a:solidFill>
            <a:srgbClr val="1E5FAD"/>
          </a:solidFill>
          <a:ln w="12700">
            <a:solidFill>
              <a:srgbClr val="1E5FAD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20040" y="914400"/>
            <a:ext cx="8503920" cy="594360"/>
          </a:xfrm>
          <a:prstGeom prst="rect">
            <a:avLst/>
          </a:prstGeom>
          <a:solidFill>
            <a:srgbClr val="1A4B8C"/>
          </a:solidFill>
          <a:ln w="12700">
            <a:solidFill>
              <a:srgbClr val="00B4D8"/>
            </a:solidFill>
            <a:prstDash val="solid"/>
          </a:ln>
        </p:spPr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" y="969264"/>
            <a:ext cx="438912" cy="438912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960120" y="950976"/>
            <a:ext cx="772668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AIM: Design, develop, and implement Fursad – a secure, user-friendly web-based job portal that modernizes recruitment in the local context.</a:t>
            </a:r>
            <a:endParaRPr lang="en-US" sz="1150" dirty="0"/>
          </a:p>
        </p:txBody>
      </p:sp>
      <p:sp>
        <p:nvSpPr>
          <p:cNvPr id="7" name="Shape 4"/>
          <p:cNvSpPr/>
          <p:nvPr/>
        </p:nvSpPr>
        <p:spPr>
          <a:xfrm>
            <a:off x="320040" y="1645920"/>
            <a:ext cx="5029200" cy="2788920"/>
          </a:xfrm>
          <a:prstGeom prst="rect">
            <a:avLst/>
          </a:prstGeom>
          <a:solidFill>
            <a:srgbClr val="102845"/>
          </a:solidFill>
          <a:ln w="12700">
            <a:noFill/>
            <a:prstDash val="solid"/>
          </a:ln>
          <a:effectLst>
            <a:outerShdw blurRad="76200" dist="12700" dir="8100000" sy="-23000" kx="800400" algn="br" rotWithShape="0">
              <a:prstClr val="black">
                <a:alpha val="20000"/>
              </a:prstClr>
            </a:outerShdw>
          </a:effectLst>
          <a:scene3d>
            <a:camera prst="orthographicFront">
              <a:rot lat="0" lon="0" rev="0"/>
            </a:camera>
            <a:lightRig rig="glow" dir="t">
              <a:rot lat="0" lon="0" rev="4800000"/>
            </a:lightRig>
          </a:scene3d>
          <a:sp3d prstMaterial="matte">
            <a:bevelT w="127000" h="63500"/>
          </a:sp3d>
        </p:spPr>
      </p:sp>
      <p:pic>
        <p:nvPicPr>
          <p:cNvPr id="8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1719072"/>
            <a:ext cx="347472" cy="347472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868680" y="1691640"/>
            <a:ext cx="43891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 Objectives</a:t>
            </a:r>
            <a:endParaRPr lang="en-US" sz="1200" dirty="0"/>
          </a:p>
        </p:txBody>
      </p:sp>
      <p:sp>
        <p:nvSpPr>
          <p:cNvPr id="10" name="Text 6"/>
          <p:cNvSpPr/>
          <p:nvPr/>
        </p:nvSpPr>
        <p:spPr>
          <a:xfrm>
            <a:off x="457200" y="2148840"/>
            <a:ext cx="475488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8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Review existing online job portal systems &amp; best practices</a:t>
            </a:r>
            <a:endParaRPr lang="en-US" sz="980" dirty="0"/>
          </a:p>
        </p:txBody>
      </p:sp>
      <p:sp>
        <p:nvSpPr>
          <p:cNvPr id="11" name="Text 7"/>
          <p:cNvSpPr/>
          <p:nvPr/>
        </p:nvSpPr>
        <p:spPr>
          <a:xfrm>
            <a:off x="457200" y="2478024"/>
            <a:ext cx="475488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8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Gather requirements from HR professionals &amp; job seekers</a:t>
            </a:r>
            <a:endParaRPr lang="en-US" sz="980" dirty="0"/>
          </a:p>
        </p:txBody>
      </p:sp>
      <p:sp>
        <p:nvSpPr>
          <p:cNvPr id="12" name="Text 8"/>
          <p:cNvSpPr/>
          <p:nvPr/>
        </p:nvSpPr>
        <p:spPr>
          <a:xfrm>
            <a:off x="457200" y="2807208"/>
            <a:ext cx="475488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8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Design Django MVT architecture with MSSQL schema</a:t>
            </a:r>
            <a:endParaRPr lang="en-US" sz="980" dirty="0"/>
          </a:p>
        </p:txBody>
      </p:sp>
      <p:sp>
        <p:nvSpPr>
          <p:cNvPr id="13" name="Text 9"/>
          <p:cNvSpPr/>
          <p:nvPr/>
        </p:nvSpPr>
        <p:spPr>
          <a:xfrm>
            <a:off x="457200" y="3136392"/>
            <a:ext cx="475488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8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Implement all core modules: auth, profiles, jobs, applications</a:t>
            </a:r>
            <a:endParaRPr lang="en-US" sz="980" dirty="0"/>
          </a:p>
        </p:txBody>
      </p:sp>
      <p:sp>
        <p:nvSpPr>
          <p:cNvPr id="14" name="Text 10"/>
          <p:cNvSpPr/>
          <p:nvPr/>
        </p:nvSpPr>
        <p:spPr>
          <a:xfrm>
            <a:off x="457200" y="3465576"/>
            <a:ext cx="475488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8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Build responsive Bootstrap 5 UI (desktop &amp; mobile)</a:t>
            </a:r>
            <a:endParaRPr lang="en-US" sz="980" dirty="0"/>
          </a:p>
        </p:txBody>
      </p:sp>
      <p:sp>
        <p:nvSpPr>
          <p:cNvPr id="15" name="Text 11"/>
          <p:cNvSpPr/>
          <p:nvPr/>
        </p:nvSpPr>
        <p:spPr>
          <a:xfrm>
            <a:off x="457200" y="3794760"/>
            <a:ext cx="475488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8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  Integrate CSRF, XSS, SQL injection &amp; RBAC security</a:t>
            </a:r>
            <a:endParaRPr lang="en-US" sz="980" dirty="0"/>
          </a:p>
        </p:txBody>
      </p:sp>
      <p:sp>
        <p:nvSpPr>
          <p:cNvPr id="16" name="Text 12"/>
          <p:cNvSpPr/>
          <p:nvPr/>
        </p:nvSpPr>
        <p:spPr>
          <a:xfrm>
            <a:off x="457200" y="4123944"/>
            <a:ext cx="475488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8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  Perform unit, integration &amp; UAT testing</a:t>
            </a:r>
            <a:endParaRPr lang="en-US" sz="980" dirty="0"/>
          </a:p>
        </p:txBody>
      </p:sp>
      <p:sp>
        <p:nvSpPr>
          <p:cNvPr id="17" name="Shape 13"/>
          <p:cNvSpPr/>
          <p:nvPr/>
        </p:nvSpPr>
        <p:spPr>
          <a:xfrm>
            <a:off x="5532120" y="1645920"/>
            <a:ext cx="3291840" cy="2788920"/>
          </a:xfrm>
          <a:prstGeom prst="rect">
            <a:avLst/>
          </a:prstGeom>
          <a:solidFill>
            <a:srgbClr val="102845"/>
          </a:solidFill>
          <a:ln w="12700">
            <a:noFill/>
            <a:prstDash val="solid"/>
          </a:ln>
          <a:effectLst>
            <a:outerShdw blurRad="76200" dist="12700" dir="8100000" sy="-23000" kx="800400" algn="br" rotWithShape="0">
              <a:prstClr val="black">
                <a:alpha val="20000"/>
              </a:prstClr>
            </a:outerShdw>
          </a:effectLst>
          <a:scene3d>
            <a:camera prst="orthographicFront">
              <a:rot lat="0" lon="0" rev="0"/>
            </a:camera>
            <a:lightRig rig="glow" dir="t">
              <a:rot lat="0" lon="0" rev="4800000"/>
            </a:lightRig>
          </a:scene3d>
          <a:sp3d prstMaterial="matte">
            <a:bevelT w="127000" h="63500"/>
          </a:sp3d>
        </p:spPr>
      </p:sp>
      <p:pic>
        <p:nvPicPr>
          <p:cNvPr id="18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650992" y="1719072"/>
            <a:ext cx="347472" cy="347472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6062472" y="1691640"/>
            <a:ext cx="26517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48CA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 Questions</a:t>
            </a:r>
            <a:endParaRPr lang="en-US" sz="1200" dirty="0"/>
          </a:p>
        </p:txBody>
      </p:sp>
      <p:sp>
        <p:nvSpPr>
          <p:cNvPr id="20" name="Text 15"/>
          <p:cNvSpPr/>
          <p:nvPr/>
        </p:nvSpPr>
        <p:spPr>
          <a:xfrm>
            <a:off x="5650992" y="2176272"/>
            <a:ext cx="30175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95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Q1: How to bridge the gap between job seekers &amp; employers digitally?</a:t>
            </a:r>
            <a:endParaRPr lang="en-US" sz="950" dirty="0"/>
          </a:p>
        </p:txBody>
      </p:sp>
      <p:sp>
        <p:nvSpPr>
          <p:cNvPr id="21" name="Text 16"/>
          <p:cNvSpPr/>
          <p:nvPr/>
        </p:nvSpPr>
        <p:spPr>
          <a:xfrm>
            <a:off x="5650992" y="2724912"/>
            <a:ext cx="30175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95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Q2: What features are essential for a modern local job portal?</a:t>
            </a:r>
            <a:endParaRPr lang="en-US" sz="950" dirty="0"/>
          </a:p>
        </p:txBody>
      </p:sp>
      <p:sp>
        <p:nvSpPr>
          <p:cNvPr id="22" name="Text 17"/>
          <p:cNvSpPr/>
          <p:nvPr/>
        </p:nvSpPr>
        <p:spPr>
          <a:xfrm>
            <a:off x="5650992" y="3273552"/>
            <a:ext cx="30175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95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Q3: How can Django build a secure, scalable system within academic constraints?</a:t>
            </a:r>
            <a:endParaRPr lang="en-US" sz="950" dirty="0"/>
          </a:p>
        </p:txBody>
      </p:sp>
      <p:sp>
        <p:nvSpPr>
          <p:cNvPr id="23" name="Text 18"/>
          <p:cNvSpPr/>
          <p:nvPr/>
        </p:nvSpPr>
        <p:spPr>
          <a:xfrm>
            <a:off x="5650992" y="3822192"/>
            <a:ext cx="30175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95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Q4: What testing methodologies best validate a web recruitment system?</a:t>
            </a:r>
            <a:endParaRPr lang="en-US" sz="950" dirty="0"/>
          </a:p>
        </p:txBody>
      </p:sp>
      <p:sp>
        <p:nvSpPr>
          <p:cNvPr id="24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FF0000"/>
          </a:solidFill>
          <a:ln w="12700">
            <a:solidFill>
              <a:srgbClr val="00B4D8"/>
            </a:solidFill>
            <a:prstDash val="solid"/>
          </a:ln>
        </p:spPr>
      </p:sp>
    </p:spTree>
  </p:cSld>
  <p:clrMapOvr>
    <a:masterClrMapping/>
  </p:clrMapOvr>
  <p:transition spd="slow">
    <p:wipe/>
  </p:transition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0206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Literature Review Highlights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804672"/>
            <a:ext cx="8229600" cy="36576"/>
          </a:xfrm>
          <a:prstGeom prst="rect">
            <a:avLst/>
          </a:prstGeom>
          <a:solidFill>
            <a:srgbClr val="1E5FAD"/>
          </a:solidFill>
          <a:ln w="12700">
            <a:solidFill>
              <a:srgbClr val="1E5FAD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20040" y="960120"/>
            <a:ext cx="2651760" cy="1600200"/>
          </a:xfrm>
          <a:prstGeom prst="rect">
            <a:avLst/>
          </a:prstGeom>
          <a:solidFill>
            <a:srgbClr val="1E5FAD"/>
          </a:solidFill>
          <a:ln w="12700">
            <a:noFill/>
            <a:prstDash val="solid"/>
          </a:ln>
          <a:effectLst>
            <a:outerShdw blurRad="149987" dist="250190" dir="8460000" algn="ctr">
              <a:srgbClr val="000000">
                <a:alpha val="28000"/>
              </a:srgbClr>
            </a:outerShdw>
          </a:effectLst>
          <a:scene3d>
            <a:camera prst="orthographicFront">
              <a:rot lat="0" lon="0" rev="0"/>
            </a:camera>
            <a:lightRig rig="contrasting" dir="t">
              <a:rot lat="0" lon="0" rev="1500000"/>
            </a:lightRig>
          </a:scene3d>
          <a:sp3d prstMaterial="metal">
            <a:bevelT w="88900" h="88900"/>
          </a:sp3d>
        </p:spPr>
      </p:sp>
      <p:sp>
        <p:nvSpPr>
          <p:cNvPr id="6" name="Text 3"/>
          <p:cNvSpPr/>
          <p:nvPr/>
        </p:nvSpPr>
        <p:spPr>
          <a:xfrm>
            <a:off x="868680" y="1005840"/>
            <a:ext cx="1920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LinkedIn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429768" y="1463040"/>
            <a:ext cx="242316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930M+ members</a:t>
            </a:r>
            <a:endParaRPr lang="en-US" sz="950" dirty="0"/>
          </a:p>
        </p:txBody>
      </p:sp>
      <p:sp>
        <p:nvSpPr>
          <p:cNvPr id="8" name="Text 5"/>
          <p:cNvSpPr/>
          <p:nvPr/>
        </p:nvSpPr>
        <p:spPr>
          <a:xfrm>
            <a:off x="429768" y="1737360"/>
            <a:ext cx="242316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Professional networking</a:t>
            </a:r>
            <a:endParaRPr lang="en-US" sz="950" dirty="0"/>
          </a:p>
        </p:txBody>
      </p:sp>
      <p:sp>
        <p:nvSpPr>
          <p:cNvPr id="9" name="Text 6"/>
          <p:cNvSpPr/>
          <p:nvPr/>
        </p:nvSpPr>
        <p:spPr>
          <a:xfrm>
            <a:off x="429768" y="2011680"/>
            <a:ext cx="242316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White-collar focus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429768" y="2286000"/>
            <a:ext cx="242316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Limited local market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3172968" y="960120"/>
            <a:ext cx="2651760" cy="1600200"/>
          </a:xfrm>
          <a:prstGeom prst="rect">
            <a:avLst/>
          </a:prstGeom>
          <a:solidFill>
            <a:srgbClr val="1A4B8C"/>
          </a:solidFill>
          <a:ln w="12700">
            <a:noFill/>
            <a:prstDash val="solid"/>
          </a:ln>
          <a:effectLst>
            <a:outerShdw blurRad="149987" dist="250190" dir="8460000" algn="ctr">
              <a:srgbClr val="000000">
                <a:alpha val="28000"/>
              </a:srgbClr>
            </a:outerShdw>
          </a:effectLst>
          <a:scene3d>
            <a:camera prst="orthographicFront">
              <a:rot lat="0" lon="0" rev="0"/>
            </a:camera>
            <a:lightRig rig="contrasting" dir="t">
              <a:rot lat="0" lon="0" rev="1500000"/>
            </a:lightRig>
          </a:scene3d>
          <a:sp3d prstMaterial="metal">
            <a:bevelT w="88900" h="88900"/>
          </a:sp3d>
        </p:spPr>
      </p:sp>
      <p:sp>
        <p:nvSpPr>
          <p:cNvPr id="13" name="Text 9"/>
          <p:cNvSpPr/>
          <p:nvPr/>
        </p:nvSpPr>
        <p:spPr>
          <a:xfrm>
            <a:off x="3721608" y="1005840"/>
            <a:ext cx="1920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Indeed</a:t>
            </a:r>
            <a:endParaRPr lang="en-US" sz="1300" dirty="0"/>
          </a:p>
        </p:txBody>
      </p:sp>
      <p:sp>
        <p:nvSpPr>
          <p:cNvPr id="14" name="Text 10"/>
          <p:cNvSpPr/>
          <p:nvPr/>
        </p:nvSpPr>
        <p:spPr>
          <a:xfrm>
            <a:off x="3282696" y="1463040"/>
            <a:ext cx="242316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Global aggregator</a:t>
            </a:r>
            <a:endParaRPr lang="en-US" sz="950" dirty="0"/>
          </a:p>
        </p:txBody>
      </p:sp>
      <p:sp>
        <p:nvSpPr>
          <p:cNvPr id="15" name="Text 11"/>
          <p:cNvSpPr/>
          <p:nvPr/>
        </p:nvSpPr>
        <p:spPr>
          <a:xfrm>
            <a:off x="3282696" y="1737360"/>
            <a:ext cx="242316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Broad listings</a:t>
            </a:r>
            <a:endParaRPr lang="en-US" sz="950" dirty="0"/>
          </a:p>
        </p:txBody>
      </p:sp>
      <p:sp>
        <p:nvSpPr>
          <p:cNvPr id="16" name="Text 12"/>
          <p:cNvSpPr/>
          <p:nvPr/>
        </p:nvSpPr>
        <p:spPr>
          <a:xfrm>
            <a:off x="3282696" y="2011680"/>
            <a:ext cx="242316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Limited employer control</a:t>
            </a:r>
            <a:endParaRPr lang="en-US" sz="950" dirty="0"/>
          </a:p>
        </p:txBody>
      </p:sp>
      <p:sp>
        <p:nvSpPr>
          <p:cNvPr id="17" name="Text 13"/>
          <p:cNvSpPr/>
          <p:nvPr/>
        </p:nvSpPr>
        <p:spPr>
          <a:xfrm>
            <a:off x="3282696" y="2286000"/>
            <a:ext cx="242316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No local focus</a:t>
            </a:r>
            <a:endParaRPr lang="en-US" sz="950" dirty="0"/>
          </a:p>
        </p:txBody>
      </p:sp>
      <p:sp>
        <p:nvSpPr>
          <p:cNvPr id="18" name="Shape 14"/>
          <p:cNvSpPr/>
          <p:nvPr/>
        </p:nvSpPr>
        <p:spPr>
          <a:xfrm>
            <a:off x="6025896" y="960120"/>
            <a:ext cx="2651760" cy="1600200"/>
          </a:xfrm>
          <a:prstGeom prst="rect">
            <a:avLst/>
          </a:prstGeom>
          <a:solidFill>
            <a:srgbClr val="1A3A6B"/>
          </a:solidFill>
          <a:ln w="12700">
            <a:noFill/>
            <a:prstDash val="solid"/>
          </a:ln>
          <a:effectLst>
            <a:outerShdw blurRad="149987" dist="250190" dir="8460000" algn="ctr">
              <a:srgbClr val="000000">
                <a:alpha val="28000"/>
              </a:srgbClr>
            </a:outerShdw>
          </a:effectLst>
          <a:scene3d>
            <a:camera prst="orthographicFront">
              <a:rot lat="0" lon="0" rev="0"/>
            </a:camera>
            <a:lightRig rig="contrasting" dir="t">
              <a:rot lat="0" lon="0" rev="1500000"/>
            </a:lightRig>
          </a:scene3d>
          <a:sp3d prstMaterial="metal">
            <a:bevelT w="88900" h="88900"/>
          </a:sp3d>
        </p:spPr>
      </p:sp>
      <p:sp>
        <p:nvSpPr>
          <p:cNvPr id="20" name="Text 15"/>
          <p:cNvSpPr/>
          <p:nvPr/>
        </p:nvSpPr>
        <p:spPr>
          <a:xfrm>
            <a:off x="6574536" y="1005840"/>
            <a:ext cx="1920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Glassdoor</a:t>
            </a:r>
            <a:endParaRPr lang="en-US" sz="1300" dirty="0"/>
          </a:p>
        </p:txBody>
      </p:sp>
      <p:sp>
        <p:nvSpPr>
          <p:cNvPr id="21" name="Text 16"/>
          <p:cNvSpPr/>
          <p:nvPr/>
        </p:nvSpPr>
        <p:spPr>
          <a:xfrm>
            <a:off x="6135624" y="1463040"/>
            <a:ext cx="242316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Company reviews</a:t>
            </a:r>
            <a:endParaRPr lang="en-US" sz="950" dirty="0"/>
          </a:p>
        </p:txBody>
      </p:sp>
      <p:sp>
        <p:nvSpPr>
          <p:cNvPr id="22" name="Text 17"/>
          <p:cNvSpPr/>
          <p:nvPr/>
        </p:nvSpPr>
        <p:spPr>
          <a:xfrm>
            <a:off x="6135624" y="1737360"/>
            <a:ext cx="242316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Salary insights</a:t>
            </a:r>
            <a:endParaRPr lang="en-US" sz="950" dirty="0"/>
          </a:p>
        </p:txBody>
      </p:sp>
      <p:sp>
        <p:nvSpPr>
          <p:cNvPr id="23" name="Text 18"/>
          <p:cNvSpPr/>
          <p:nvPr/>
        </p:nvSpPr>
        <p:spPr>
          <a:xfrm>
            <a:off x="6135624" y="2011680"/>
            <a:ext cx="242316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Needs critical mass</a:t>
            </a:r>
            <a:endParaRPr lang="en-US" sz="950" dirty="0"/>
          </a:p>
        </p:txBody>
      </p:sp>
      <p:sp>
        <p:nvSpPr>
          <p:cNvPr id="24" name="Text 19"/>
          <p:cNvSpPr/>
          <p:nvPr/>
        </p:nvSpPr>
        <p:spPr>
          <a:xfrm>
            <a:off x="6135624" y="2286000"/>
            <a:ext cx="242316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Not locally viable</a:t>
            </a:r>
            <a:endParaRPr lang="en-US" sz="950" dirty="0"/>
          </a:p>
        </p:txBody>
      </p:sp>
      <p:sp>
        <p:nvSpPr>
          <p:cNvPr id="39" name="Shape 34"/>
          <p:cNvSpPr/>
          <p:nvPr/>
        </p:nvSpPr>
        <p:spPr>
          <a:xfrm>
            <a:off x="320040" y="3429000"/>
            <a:ext cx="8503920" cy="1143000"/>
          </a:xfrm>
          <a:prstGeom prst="rect">
            <a:avLst/>
          </a:prstGeom>
          <a:solidFill>
            <a:srgbClr val="102845"/>
          </a:solidFill>
          <a:ln w="12700">
            <a:solidFill>
              <a:srgbClr val="1E5FAD"/>
            </a:solidFill>
            <a:prstDash val="solid"/>
          </a:ln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</p:sp>
      <p:sp>
        <p:nvSpPr>
          <p:cNvPr id="40" name="Text 35"/>
          <p:cNvSpPr/>
          <p:nvPr/>
        </p:nvSpPr>
        <p:spPr>
          <a:xfrm>
            <a:off x="502920" y="3493008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 Gap &amp; Project Justification</a:t>
            </a:r>
            <a:endParaRPr lang="en-US" sz="1100" dirty="0"/>
          </a:p>
        </p:txBody>
      </p:sp>
      <p:sp>
        <p:nvSpPr>
          <p:cNvPr id="41" name="Text 36"/>
          <p:cNvSpPr/>
          <p:nvPr/>
        </p:nvSpPr>
        <p:spPr>
          <a:xfrm>
            <a:off x="502920" y="3803904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000" b="1" dirty="0">
                <a:solidFill>
                  <a:srgbClr val="48CA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Localization Gap: </a:t>
            </a:r>
            <a:r>
              <a:rPr lang="en-US" sz="100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dedicated digital recruitment platform exists for Puntland's local employment market.  </a:t>
            </a:r>
            <a:r>
              <a:rPr lang="en-US" sz="1000" b="1" dirty="0">
                <a:solidFill>
                  <a:srgbClr val="48CA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Accessibility Gap: </a:t>
            </a:r>
            <a:r>
              <a:rPr lang="en-US" sz="100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global platforms are inaccessible to users with limited digital literacy.  </a:t>
            </a:r>
            <a:r>
              <a:rPr lang="en-US" sz="1000" b="1" dirty="0">
                <a:solidFill>
                  <a:srgbClr val="48CA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Technology Gap: </a:t>
            </a:r>
            <a:r>
              <a:rPr lang="en-US" sz="100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existing system combines local focus, simplicity, and modern web security.</a:t>
            </a:r>
            <a:endParaRPr lang="en-US" sz="1000" dirty="0"/>
          </a:p>
        </p:txBody>
      </p:sp>
      <p:sp>
        <p:nvSpPr>
          <p:cNvPr id="43" name="Oval 42"/>
          <p:cNvSpPr/>
          <p:nvPr/>
        </p:nvSpPr>
        <p:spPr>
          <a:xfrm>
            <a:off x="356147" y="983361"/>
            <a:ext cx="438912" cy="438912"/>
          </a:xfrm>
          <a:prstGeom prst="ellipse">
            <a:avLst/>
          </a:prstGeom>
          <a:solidFill>
            <a:srgbClr val="002060"/>
          </a:solidFill>
          <a:ln>
            <a:solidFill>
              <a:srgbClr val="FFFF00"/>
            </a:solidFill>
          </a:ln>
          <a:effectLst>
            <a:innerShdw blurRad="63500" dist="50800" dir="8100000">
              <a:prstClr val="black">
                <a:alpha val="50000"/>
              </a:prstClr>
            </a:inn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Oval 41"/>
          <p:cNvSpPr/>
          <p:nvPr/>
        </p:nvSpPr>
        <p:spPr>
          <a:xfrm>
            <a:off x="356147" y="978408"/>
            <a:ext cx="438912" cy="438912"/>
          </a:xfrm>
          <a:prstGeom prst="ellipse">
            <a:avLst/>
          </a:prstGeom>
          <a:blipFill dpi="0"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a:blipFill>
          <a:ln>
            <a:solidFill>
              <a:srgbClr val="FFFF00"/>
            </a:solidFill>
          </a:ln>
          <a:effectLst>
            <a:innerShdw blurRad="63500" dist="50800" dir="8100000">
              <a:prstClr val="black">
                <a:alpha val="50000"/>
              </a:prstClr>
            </a:inn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" name="Oval 44"/>
          <p:cNvSpPr/>
          <p:nvPr/>
        </p:nvSpPr>
        <p:spPr>
          <a:xfrm>
            <a:off x="3249168" y="1005840"/>
            <a:ext cx="438912" cy="438912"/>
          </a:xfrm>
          <a:prstGeom prst="ellipse">
            <a:avLst/>
          </a:prstGeom>
          <a:solidFill>
            <a:srgbClr val="002060"/>
          </a:solidFill>
          <a:ln>
            <a:solidFill>
              <a:srgbClr val="FFFF00"/>
            </a:solidFill>
          </a:ln>
          <a:effectLst>
            <a:innerShdw blurRad="63500" dist="50800" dir="8100000">
              <a:prstClr val="black">
                <a:alpha val="50000"/>
              </a:prstClr>
            </a:inn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Oval 43"/>
          <p:cNvSpPr/>
          <p:nvPr/>
        </p:nvSpPr>
        <p:spPr>
          <a:xfrm>
            <a:off x="3249168" y="1003187"/>
            <a:ext cx="438912" cy="438912"/>
          </a:xfrm>
          <a:prstGeom prst="ellipse">
            <a:avLst/>
          </a:prstGeom>
          <a:blipFill dpi="0" rotWithShape="1"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a:blipFill>
          <a:ln>
            <a:solidFill>
              <a:srgbClr val="FFFF00"/>
            </a:solidFill>
          </a:ln>
          <a:effectLst>
            <a:innerShdw blurRad="63500" dist="50800" dir="8100000">
              <a:prstClr val="black">
                <a:alpha val="50000"/>
              </a:prstClr>
            </a:inn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Oval 45"/>
          <p:cNvSpPr/>
          <p:nvPr/>
        </p:nvSpPr>
        <p:spPr>
          <a:xfrm>
            <a:off x="6121791" y="1022648"/>
            <a:ext cx="438912" cy="438912"/>
          </a:xfrm>
          <a:prstGeom prst="ellipse">
            <a:avLst/>
          </a:prstGeom>
          <a:blipFill dpi="0" rotWithShape="1"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a:blipFill>
          <a:ln>
            <a:solidFill>
              <a:srgbClr val="FFFF00"/>
            </a:solidFill>
          </a:ln>
          <a:effectLst>
            <a:innerShdw blurRad="63500" dist="50800" dir="8100000">
              <a:prstClr val="black">
                <a:alpha val="50000"/>
              </a:prstClr>
            </a:inn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Oval 47"/>
          <p:cNvSpPr/>
          <p:nvPr/>
        </p:nvSpPr>
        <p:spPr>
          <a:xfrm>
            <a:off x="6121791" y="1016699"/>
            <a:ext cx="438912" cy="438912"/>
          </a:xfrm>
          <a:prstGeom prst="ellipse">
            <a:avLst/>
          </a:prstGeom>
          <a:solidFill>
            <a:srgbClr val="002060"/>
          </a:solidFill>
          <a:ln>
            <a:solidFill>
              <a:srgbClr val="FFFF00"/>
            </a:solidFill>
          </a:ln>
          <a:effectLst>
            <a:innerShdw blurRad="63500" dist="50800" dir="8100000">
              <a:prstClr val="black">
                <a:alpha val="50000"/>
              </a:prstClr>
            </a:inn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" name="Oval 48"/>
          <p:cNvSpPr/>
          <p:nvPr/>
        </p:nvSpPr>
        <p:spPr>
          <a:xfrm>
            <a:off x="6121791" y="1014046"/>
            <a:ext cx="438912" cy="438912"/>
          </a:xfrm>
          <a:prstGeom prst="ellipse">
            <a:avLst/>
          </a:prstGeom>
          <a:solidFill>
            <a:srgbClr val="002060"/>
          </a:solidFill>
          <a:ln>
            <a:solidFill>
              <a:srgbClr val="FFFF00"/>
            </a:solidFill>
          </a:ln>
          <a:effectLst>
            <a:innerShdw blurRad="63500" dist="50800" dir="8100000">
              <a:prstClr val="black">
                <a:alpha val="50000"/>
              </a:prstClr>
            </a:inn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7" name="Oval 46"/>
          <p:cNvSpPr/>
          <p:nvPr/>
        </p:nvSpPr>
        <p:spPr>
          <a:xfrm>
            <a:off x="6121791" y="1019995"/>
            <a:ext cx="438912" cy="438912"/>
          </a:xfrm>
          <a:prstGeom prst="ellipse">
            <a:avLst/>
          </a:prstGeom>
          <a:blipFill dpi="0" rotWithShape="1"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a:blipFill>
          <a:ln>
            <a:solidFill>
              <a:srgbClr val="FFFF00"/>
            </a:solidFill>
          </a:ln>
          <a:effectLst>
            <a:innerShdw blurRad="63500" dist="50800" dir="8100000">
              <a:prstClr val="black">
                <a:alpha val="50000"/>
              </a:prstClr>
            </a:inn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0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FF0000"/>
          </a:solidFill>
          <a:ln w="12700">
            <a:solidFill>
              <a:srgbClr val="00B4D8"/>
            </a:solidFill>
            <a:prstDash val="solid"/>
          </a:ln>
        </p:spPr>
      </p:sp>
    </p:spTree>
  </p:cSld>
  <p:clrMapOvr>
    <a:masterClrMapping/>
  </p:clrMapOvr>
  <p:transition spd="slow">
    <p:wipe/>
  </p:transition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0206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Development Methodology 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804672"/>
            <a:ext cx="8229600" cy="36576"/>
          </a:xfrm>
          <a:prstGeom prst="rect">
            <a:avLst/>
          </a:prstGeom>
          <a:solidFill>
            <a:srgbClr val="1E5FAD"/>
          </a:solidFill>
          <a:ln w="12700">
            <a:solidFill>
              <a:srgbClr val="1E5FAD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20040" y="960120"/>
            <a:ext cx="1965960" cy="2514600"/>
          </a:xfrm>
          <a:prstGeom prst="rect">
            <a:avLst/>
          </a:prstGeom>
          <a:solidFill>
            <a:srgbClr val="1E5FAD"/>
          </a:solidFill>
          <a:ln w="12700">
            <a:solidFill>
              <a:srgbClr val="1E5FAD"/>
            </a:solidFill>
            <a:prstDash val="solid"/>
          </a:ln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320040" y="960120"/>
            <a:ext cx="1965960" cy="502920"/>
          </a:xfrm>
          <a:prstGeom prst="rect">
            <a:avLst/>
          </a:prstGeom>
          <a:solidFill>
            <a:srgbClr val="1E5FAD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11480" y="969264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Sprint 1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11480" y="1216152"/>
            <a:ext cx="1828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48CA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Weeks 1–2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411480" y="1536192"/>
            <a:ext cx="1783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Project setup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411480" y="1883664"/>
            <a:ext cx="1783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Database schema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411480" y="2231136"/>
            <a:ext cx="1783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User Auth (Register / Login / Logout)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548640" y="3200400"/>
            <a:ext cx="1508760" cy="228600"/>
          </a:xfrm>
          <a:prstGeom prst="rect">
            <a:avLst/>
          </a:prstGeom>
          <a:solidFill>
            <a:srgbClr val="06D6A0"/>
          </a:solidFill>
          <a:ln w="12700">
            <a:solidFill>
              <a:srgbClr val="06D6A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48640" y="3200400"/>
            <a:ext cx="15087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A16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COMPLETED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2450592" y="960120"/>
            <a:ext cx="1965960" cy="2514600"/>
          </a:xfrm>
          <a:prstGeom prst="rect">
            <a:avLst/>
          </a:prstGeom>
          <a:solidFill>
            <a:srgbClr val="1A5276"/>
          </a:solidFill>
          <a:ln w="12700">
            <a:solidFill>
              <a:srgbClr val="1E5FAD"/>
            </a:solidFill>
            <a:prstDash val="solid"/>
          </a:ln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2450592" y="960120"/>
            <a:ext cx="1965960" cy="502920"/>
          </a:xfrm>
          <a:prstGeom prst="rect">
            <a:avLst/>
          </a:prstGeom>
          <a:solidFill>
            <a:srgbClr val="1A5276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542032" y="969264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Sprint 2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2542032" y="1216152"/>
            <a:ext cx="1828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48CA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Weeks 3–4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2542032" y="1536192"/>
            <a:ext cx="1783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Job Seeker Profile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2542032" y="1883664"/>
            <a:ext cx="1783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Company Profile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2542032" y="2231136"/>
            <a:ext cx="1783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Job Posting Module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2679192" y="3200400"/>
            <a:ext cx="1508760" cy="228600"/>
          </a:xfrm>
          <a:prstGeom prst="rect">
            <a:avLst/>
          </a:prstGeom>
          <a:solidFill>
            <a:srgbClr val="06D6A0"/>
          </a:solidFill>
          <a:ln w="12700">
            <a:solidFill>
              <a:srgbClr val="06D6A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2679192" y="3200400"/>
            <a:ext cx="15087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A16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COMPLETED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4581144" y="960120"/>
            <a:ext cx="1965960" cy="2514600"/>
          </a:xfrm>
          <a:prstGeom prst="rect">
            <a:avLst/>
          </a:prstGeom>
          <a:solidFill>
            <a:srgbClr val="145A32"/>
          </a:solidFill>
          <a:ln w="12700">
            <a:solidFill>
              <a:srgbClr val="1E5FAD"/>
            </a:solidFill>
            <a:prstDash val="solid"/>
          </a:ln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4581144" y="960120"/>
            <a:ext cx="1965960" cy="502920"/>
          </a:xfrm>
          <a:prstGeom prst="rect">
            <a:avLst/>
          </a:prstGeom>
          <a:solidFill>
            <a:srgbClr val="145A32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672584" y="969264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Sprint 3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4672584" y="1216152"/>
            <a:ext cx="1828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48CA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Weeks 5–6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4672584" y="1536192"/>
            <a:ext cx="1783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Job Search &amp; Filter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4672584" y="1883664"/>
            <a:ext cx="1783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Application Submission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4672584" y="2231136"/>
            <a:ext cx="1783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Application Tracking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4809744" y="3200400"/>
            <a:ext cx="1508760" cy="228600"/>
          </a:xfrm>
          <a:prstGeom prst="rect">
            <a:avLst/>
          </a:prstGeom>
          <a:solidFill>
            <a:srgbClr val="06D6A0"/>
          </a:solidFill>
          <a:ln w="12700">
            <a:solidFill>
              <a:srgbClr val="06D6A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809744" y="3200400"/>
            <a:ext cx="15087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A16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COMPLETED</a:t>
            </a:r>
            <a:endParaRPr lang="en-US" sz="850" dirty="0"/>
          </a:p>
        </p:txBody>
      </p:sp>
      <p:sp>
        <p:nvSpPr>
          <p:cNvPr id="31" name="Shape 29"/>
          <p:cNvSpPr/>
          <p:nvPr/>
        </p:nvSpPr>
        <p:spPr>
          <a:xfrm>
            <a:off x="6711696" y="960120"/>
            <a:ext cx="1965960" cy="2514600"/>
          </a:xfrm>
          <a:prstGeom prst="rect">
            <a:avLst/>
          </a:prstGeom>
          <a:solidFill>
            <a:srgbClr val="7D6608"/>
          </a:solidFill>
          <a:ln w="12700">
            <a:solidFill>
              <a:srgbClr val="1E5FAD"/>
            </a:solidFill>
            <a:prstDash val="solid"/>
          </a:ln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6711696" y="960120"/>
            <a:ext cx="1965960" cy="502920"/>
          </a:xfrm>
          <a:prstGeom prst="rect">
            <a:avLst/>
          </a:prstGeom>
          <a:solidFill>
            <a:srgbClr val="7D660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803136" y="969264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Sprint 4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6803136" y="1216152"/>
            <a:ext cx="1828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48CA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Weeks 7–8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6803136" y="1536192"/>
            <a:ext cx="1783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Admin Dashboard</a:t>
            </a:r>
            <a:endParaRPr lang="en-US" sz="950" dirty="0"/>
          </a:p>
        </p:txBody>
      </p:sp>
      <p:sp>
        <p:nvSpPr>
          <p:cNvPr id="36" name="Text 34"/>
          <p:cNvSpPr/>
          <p:nvPr/>
        </p:nvSpPr>
        <p:spPr>
          <a:xfrm>
            <a:off x="6803136" y="1883664"/>
            <a:ext cx="1783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UI Refinement</a:t>
            </a:r>
            <a:endParaRPr lang="en-US" sz="950" dirty="0"/>
          </a:p>
        </p:txBody>
      </p:sp>
      <p:sp>
        <p:nvSpPr>
          <p:cNvPr id="37" name="Text 35"/>
          <p:cNvSpPr/>
          <p:nvPr/>
        </p:nvSpPr>
        <p:spPr>
          <a:xfrm>
            <a:off x="6803136" y="2231136"/>
            <a:ext cx="1783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Testing &amp; Bug Fixes</a:t>
            </a:r>
            <a:endParaRPr lang="en-US" sz="950" dirty="0"/>
          </a:p>
        </p:txBody>
      </p:sp>
      <p:sp>
        <p:nvSpPr>
          <p:cNvPr id="38" name="Shape 36"/>
          <p:cNvSpPr/>
          <p:nvPr/>
        </p:nvSpPr>
        <p:spPr>
          <a:xfrm>
            <a:off x="6940296" y="3200400"/>
            <a:ext cx="1508760" cy="228600"/>
          </a:xfrm>
          <a:prstGeom prst="rect">
            <a:avLst/>
          </a:prstGeom>
          <a:solidFill>
            <a:srgbClr val="06D6A0"/>
          </a:solidFill>
          <a:ln w="12700">
            <a:solidFill>
              <a:srgbClr val="06D6A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940296" y="3200400"/>
            <a:ext cx="15087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A16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COMPLETED</a:t>
            </a:r>
            <a:endParaRPr lang="en-US" sz="850" dirty="0"/>
          </a:p>
        </p:txBody>
      </p:sp>
      <p:sp>
        <p:nvSpPr>
          <p:cNvPr id="40" name="Shape 38"/>
          <p:cNvSpPr/>
          <p:nvPr/>
        </p:nvSpPr>
        <p:spPr>
          <a:xfrm>
            <a:off x="320040" y="3566160"/>
            <a:ext cx="8503920" cy="1051560"/>
          </a:xfrm>
          <a:prstGeom prst="rect">
            <a:avLst/>
          </a:prstGeom>
          <a:solidFill>
            <a:srgbClr val="102845"/>
          </a:solidFill>
          <a:ln w="12700">
            <a:solidFill>
              <a:srgbClr val="1E5FAD"/>
            </a:solidFill>
            <a:prstDash val="solid"/>
          </a:ln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</p:sp>
      <p:sp>
        <p:nvSpPr>
          <p:cNvPr id="41" name="Text 39"/>
          <p:cNvSpPr/>
          <p:nvPr/>
        </p:nvSpPr>
        <p:spPr>
          <a:xfrm>
            <a:off x="502920" y="3621024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Collection Methods</a:t>
            </a:r>
            <a:endParaRPr lang="en-US" sz="1200" dirty="0"/>
          </a:p>
        </p:txBody>
      </p:sp>
      <p:sp>
        <p:nvSpPr>
          <p:cNvPr id="42" name="Text 40"/>
          <p:cNvSpPr/>
          <p:nvPr/>
        </p:nvSpPr>
        <p:spPr>
          <a:xfrm>
            <a:off x="502920" y="3931920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48CA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Supervisor Interviews: </a:t>
            </a:r>
            <a:endParaRPr lang="en-US" sz="900" dirty="0"/>
          </a:p>
        </p:txBody>
      </p:sp>
      <p:sp>
        <p:nvSpPr>
          <p:cNvPr id="43" name="Text 41"/>
          <p:cNvSpPr/>
          <p:nvPr/>
        </p:nvSpPr>
        <p:spPr>
          <a:xfrm>
            <a:off x="502920" y="4133088"/>
            <a:ext cx="26517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85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Structured sessions with Mr. Omar Gaciye for guidance on requirements &amp; architecture</a:t>
            </a:r>
            <a:endParaRPr lang="en-US" sz="850" dirty="0"/>
          </a:p>
        </p:txBody>
      </p:sp>
      <p:sp>
        <p:nvSpPr>
          <p:cNvPr id="44" name="Text 42"/>
          <p:cNvSpPr/>
          <p:nvPr/>
        </p:nvSpPr>
        <p:spPr>
          <a:xfrm>
            <a:off x="3337560" y="3931920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48CA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Job Seeker Surveys: </a:t>
            </a:r>
            <a:endParaRPr lang="en-US" sz="900" dirty="0"/>
          </a:p>
        </p:txBody>
      </p:sp>
      <p:sp>
        <p:nvSpPr>
          <p:cNvPr id="45" name="Text 43"/>
          <p:cNvSpPr/>
          <p:nvPr/>
        </p:nvSpPr>
        <p:spPr>
          <a:xfrm>
            <a:off x="3337560" y="4133088"/>
            <a:ext cx="26517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85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42 responses: 85% difficulty finding jobs; 79% want tracking; 92% prioritize ease of use</a:t>
            </a:r>
            <a:endParaRPr lang="en-US" sz="850" dirty="0"/>
          </a:p>
        </p:txBody>
      </p:sp>
      <p:sp>
        <p:nvSpPr>
          <p:cNvPr id="46" name="Text 44"/>
          <p:cNvSpPr/>
          <p:nvPr/>
        </p:nvSpPr>
        <p:spPr>
          <a:xfrm>
            <a:off x="6172200" y="3931920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48CA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Platform Analysis: </a:t>
            </a:r>
            <a:endParaRPr lang="en-US" sz="900" dirty="0"/>
          </a:p>
        </p:txBody>
      </p:sp>
      <p:sp>
        <p:nvSpPr>
          <p:cNvPr id="47" name="Text 45"/>
          <p:cNvSpPr/>
          <p:nvPr/>
        </p:nvSpPr>
        <p:spPr>
          <a:xfrm>
            <a:off x="6172200" y="4133088"/>
            <a:ext cx="26517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85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Detailed review of LinkedIn, Indeed, and Glassdoor for feature benchmarking</a:t>
            </a:r>
            <a:endParaRPr lang="en-US" sz="850" dirty="0"/>
          </a:p>
        </p:txBody>
      </p:sp>
      <p:sp>
        <p:nvSpPr>
          <p:cNvPr id="50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FF0000"/>
          </a:solidFill>
          <a:ln w="12700">
            <a:solidFill>
              <a:srgbClr val="00B4D8"/>
            </a:solidFill>
            <a:prstDash val="solid"/>
          </a:ln>
        </p:spPr>
      </p:sp>
    </p:spTree>
  </p:cSld>
  <p:clrMapOvr>
    <a:masterClrMapping/>
  </p:clrMapOvr>
  <p:transition spd="slow">
    <p:wipe/>
  </p:transition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0206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</a:t>
            </a:r>
            <a:r>
              <a:rPr lang="en-US" sz="2600" b="1" dirty="0" smtClean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 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804672"/>
            <a:ext cx="8229600" cy="36576"/>
          </a:xfrm>
          <a:prstGeom prst="rect">
            <a:avLst/>
          </a:prstGeom>
          <a:solidFill>
            <a:srgbClr val="1E5FAD"/>
          </a:solidFill>
          <a:ln w="12700">
            <a:solidFill>
              <a:srgbClr val="1E5FAD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20040" y="914400"/>
            <a:ext cx="8503920" cy="749808"/>
          </a:xfrm>
          <a:prstGeom prst="rect">
            <a:avLst/>
          </a:prstGeom>
          <a:solidFill>
            <a:srgbClr val="1A3A6B"/>
          </a:solidFill>
          <a:ln w="12700">
            <a:solidFill>
              <a:srgbClr val="1E5FAD"/>
            </a:solidFill>
            <a:prstDash val="solid"/>
          </a:ln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320040" y="914400"/>
            <a:ext cx="109728" cy="749808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30352" y="960120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 LAYER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30352" y="1216152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B0C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 Browser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3840480" y="1091547"/>
            <a:ext cx="4846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Job Seekers  |  Employers  |  Administrators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320040" y="1801368"/>
            <a:ext cx="8503920" cy="749808"/>
          </a:xfrm>
          <a:prstGeom prst="rect">
            <a:avLst/>
          </a:prstGeom>
          <a:solidFill>
            <a:srgbClr val="0E2F44"/>
          </a:solidFill>
          <a:ln w="12700">
            <a:solidFill>
              <a:srgbClr val="1E5FAD"/>
            </a:solidFill>
            <a:prstDash val="solid"/>
          </a:ln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20040" y="1801368"/>
            <a:ext cx="109728" cy="749808"/>
          </a:xfrm>
          <a:prstGeom prst="rect">
            <a:avLst/>
          </a:prstGeom>
          <a:solidFill>
            <a:srgbClr val="1E5FAD"/>
          </a:solidFill>
          <a:ln w="12700">
            <a:solidFill>
              <a:srgbClr val="1E5FA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30352" y="1847088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E5F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 SERVER LAYER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30352" y="2103120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B0C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Django Application Server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3831336" y="2037259"/>
            <a:ext cx="4846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 Request Handling  •  URL Routing  •  Response Generation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320040" y="2688336"/>
            <a:ext cx="8503920" cy="1508760"/>
          </a:xfrm>
          <a:prstGeom prst="rect">
            <a:avLst/>
          </a:prstGeom>
          <a:solidFill>
            <a:srgbClr val="0A2235"/>
          </a:solidFill>
          <a:ln w="12700">
            <a:solidFill>
              <a:srgbClr val="1E5FAD"/>
            </a:solidFill>
            <a:prstDash val="solid"/>
          </a:ln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20040" y="2688336"/>
            <a:ext cx="109728" cy="1508760"/>
          </a:xfrm>
          <a:prstGeom prst="rect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30352" y="2734056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D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APPLICATION LAYER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502920" y="3218688"/>
            <a:ext cx="1261872" cy="877824"/>
          </a:xfrm>
          <a:prstGeom prst="rect">
            <a:avLst/>
          </a:prstGeom>
          <a:solidFill>
            <a:srgbClr val="1A4B8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02920" y="3218688"/>
            <a:ext cx="1261872" cy="8778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coreapp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1901952" y="3218688"/>
            <a:ext cx="1261872" cy="877824"/>
          </a:xfrm>
          <a:prstGeom prst="rect">
            <a:avLst/>
          </a:prstGeom>
          <a:solidFill>
            <a:srgbClr val="1E5FAD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2175002" y="3218688"/>
            <a:ext cx="1261872" cy="8778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jobsapp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3354324" y="3218688"/>
            <a:ext cx="1261872" cy="877824"/>
          </a:xfrm>
          <a:prstGeom prst="rect">
            <a:avLst/>
          </a:prstGeom>
          <a:solidFill>
            <a:srgbClr val="1A527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01974" y="3218688"/>
            <a:ext cx="1261872" cy="8778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companyapp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4703826" y="3218688"/>
            <a:ext cx="1261872" cy="877824"/>
          </a:xfrm>
          <a:prstGeom prst="rect">
            <a:avLst/>
          </a:prstGeom>
          <a:solidFill>
            <a:srgbClr val="145A32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930521" y="3218688"/>
            <a:ext cx="1261872" cy="8778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shaqodoonapp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6099048" y="3218688"/>
            <a:ext cx="1261872" cy="877824"/>
          </a:xfrm>
          <a:prstGeom prst="rect">
            <a:avLst/>
          </a:prstGeom>
          <a:solidFill>
            <a:srgbClr val="6E2FBD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371979" y="3218688"/>
            <a:ext cx="1261872" cy="8778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applications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7498080" y="3218688"/>
            <a:ext cx="1261872" cy="877824"/>
          </a:xfrm>
          <a:prstGeom prst="rect">
            <a:avLst/>
          </a:prstGeom>
          <a:solidFill>
            <a:srgbClr val="7D3C9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813437" y="3204135"/>
            <a:ext cx="1261872" cy="8778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adminapp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320040" y="4334256"/>
            <a:ext cx="8503920" cy="640080"/>
          </a:xfrm>
          <a:prstGeom prst="rect">
            <a:avLst/>
          </a:prstGeom>
          <a:solidFill>
            <a:srgbClr val="1A0A2E"/>
          </a:solidFill>
          <a:ln w="12700">
            <a:solidFill>
              <a:srgbClr val="1E5FAD"/>
            </a:solidFill>
            <a:prstDash val="solid"/>
          </a:ln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320040" y="4334256"/>
            <a:ext cx="109728" cy="640080"/>
          </a:xfrm>
          <a:prstGeom prst="rect">
            <a:avLst/>
          </a:prstGeom>
          <a:solidFill>
            <a:srgbClr val="48CAE4"/>
          </a:solidFill>
          <a:ln w="12700">
            <a:solidFill>
              <a:srgbClr val="48CAE4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30352" y="4379976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48CA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DATABASE LAYER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530352" y="4636008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B0C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Microsoft SQL Server </a:t>
            </a:r>
            <a:endParaRPr lang="en-US" sz="950" dirty="0"/>
          </a:p>
        </p:txBody>
      </p:sp>
      <p:sp>
        <p:nvSpPr>
          <p:cNvPr id="37" name="Text 35"/>
          <p:cNvSpPr/>
          <p:nvPr/>
        </p:nvSpPr>
        <p:spPr>
          <a:xfrm>
            <a:off x="3840480" y="4468530"/>
            <a:ext cx="4846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Users  •  Profiles  •  Jobs  •  Applications</a:t>
            </a:r>
            <a:endParaRPr lang="en-US" sz="950" dirty="0"/>
          </a:p>
        </p:txBody>
      </p:sp>
      <p:sp>
        <p:nvSpPr>
          <p:cNvPr id="39" name="Shape 37"/>
          <p:cNvSpPr/>
          <p:nvPr/>
        </p:nvSpPr>
        <p:spPr>
          <a:xfrm>
            <a:off x="4434840" y="1676908"/>
            <a:ext cx="274320" cy="109728"/>
          </a:xfrm>
          <a:prstGeom prst="rect">
            <a:avLst/>
          </a:prstGeom>
          <a:solidFill>
            <a:srgbClr val="B0C4DE"/>
          </a:solidFill>
          <a:ln w="12700">
            <a:solidFill>
              <a:srgbClr val="B0C4DE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4434840" y="2563876"/>
            <a:ext cx="274320" cy="109728"/>
          </a:xfrm>
          <a:prstGeom prst="rect">
            <a:avLst/>
          </a:prstGeom>
          <a:solidFill>
            <a:srgbClr val="B0C4DE"/>
          </a:solidFill>
          <a:ln w="12700">
            <a:solidFill>
              <a:srgbClr val="B0C4DE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4434840" y="4209288"/>
            <a:ext cx="274320" cy="109728"/>
          </a:xfrm>
          <a:prstGeom prst="rect">
            <a:avLst/>
          </a:prstGeom>
          <a:solidFill>
            <a:srgbClr val="B0C4DE"/>
          </a:solidFill>
          <a:ln w="12700">
            <a:solidFill>
              <a:srgbClr val="B0C4DE"/>
            </a:solidFill>
            <a:prstDash val="solid"/>
          </a:ln>
        </p:spPr>
      </p:sp>
      <p:pic>
        <p:nvPicPr>
          <p:cNvPr id="42" name="Picture 4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53946" y="3348990"/>
            <a:ext cx="797814" cy="797814"/>
          </a:xfrm>
          <a:prstGeom prst="rect">
            <a:avLst/>
          </a:prstGeom>
        </p:spPr>
      </p:pic>
      <p:pic>
        <p:nvPicPr>
          <p:cNvPr id="43" name="Picture 42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88970" y="3252470"/>
            <a:ext cx="930910" cy="930910"/>
          </a:xfrm>
          <a:prstGeom prst="rect">
            <a:avLst/>
          </a:prstGeom>
        </p:spPr>
      </p:pic>
      <p:pic>
        <p:nvPicPr>
          <p:cNvPr id="45" name="Picture 44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49545" y="3499484"/>
            <a:ext cx="429657" cy="295725"/>
          </a:xfrm>
          <a:prstGeom prst="rect">
            <a:avLst/>
          </a:prstGeom>
        </p:spPr>
      </p:pic>
      <p:pic>
        <p:nvPicPr>
          <p:cNvPr id="46" name="Picture 45"/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91992" y="3218688"/>
            <a:ext cx="749689" cy="749689"/>
          </a:xfrm>
          <a:prstGeom prst="rect">
            <a:avLst/>
          </a:prstGeom>
        </p:spPr>
      </p:pic>
      <p:pic>
        <p:nvPicPr>
          <p:cNvPr id="48" name="Picture 47"/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70251" y="3320684"/>
            <a:ext cx="629995" cy="629995"/>
          </a:xfrm>
          <a:prstGeom prst="rect">
            <a:avLst/>
          </a:prstGeom>
        </p:spPr>
      </p:pic>
      <p:pic>
        <p:nvPicPr>
          <p:cNvPr id="49" name="Picture 48"/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2997" y="3197352"/>
            <a:ext cx="713232" cy="713232"/>
          </a:xfrm>
          <a:prstGeom prst="rect">
            <a:avLst/>
          </a:prstGeom>
          <a:effectLst>
            <a:innerShdw blurRad="63500" dist="50800" dir="2700000">
              <a:prstClr val="black">
                <a:alpha val="50000"/>
              </a:prstClr>
            </a:innerShdw>
          </a:effectLst>
        </p:spPr>
      </p:pic>
      <p:sp>
        <p:nvSpPr>
          <p:cNvPr id="50" name="Shape 0"/>
          <p:cNvSpPr/>
          <p:nvPr/>
        </p:nvSpPr>
        <p:spPr>
          <a:xfrm>
            <a:off x="0" y="6096"/>
            <a:ext cx="164592" cy="5143500"/>
          </a:xfrm>
          <a:prstGeom prst="rect">
            <a:avLst/>
          </a:prstGeom>
          <a:solidFill>
            <a:srgbClr val="FF0000"/>
          </a:solidFill>
          <a:ln w="12700">
            <a:solidFill>
              <a:srgbClr val="00B4D8"/>
            </a:solidFill>
            <a:prstDash val="solid"/>
          </a:ln>
        </p:spPr>
      </p:sp>
    </p:spTree>
  </p:cSld>
  <p:clrMapOvr>
    <a:masterClrMapping/>
  </p:clrMapOvr>
  <p:transition spd="slow">
    <p:wipe/>
  </p:transition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0206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Database Design — Microsoft SQL Server 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804672"/>
            <a:ext cx="8229600" cy="36576"/>
          </a:xfrm>
          <a:prstGeom prst="rect">
            <a:avLst/>
          </a:prstGeom>
          <a:solidFill>
            <a:srgbClr val="1E5FAD"/>
          </a:solidFill>
          <a:ln w="12700">
            <a:solidFill>
              <a:srgbClr val="1E5FAD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20040" y="914400"/>
            <a:ext cx="8503920" cy="457200"/>
          </a:xfrm>
          <a:prstGeom prst="rect">
            <a:avLst/>
          </a:prstGeom>
          <a:solidFill>
            <a:srgbClr val="1A4B8C"/>
          </a:solidFill>
          <a:ln w="12700">
            <a:solidFill>
              <a:srgbClr val="00B4D8"/>
            </a:solidFill>
            <a:prstDash val="solid"/>
          </a:ln>
        </p:spPr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" y="950976"/>
            <a:ext cx="365760" cy="36576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868680" y="950976"/>
            <a:ext cx="7772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Microsoft SQL Server  •  Version 12.0.2269.0  •  </a:t>
            </a:r>
            <a:r>
              <a:rPr lang="en-US" sz="1100" dirty="0" smtClean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</a:t>
            </a: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Entities  •  Django ORM Integration</a:t>
            </a:r>
            <a:endParaRPr lang="en-US" sz="1100" dirty="0"/>
          </a:p>
        </p:txBody>
      </p:sp>
      <p:sp>
        <p:nvSpPr>
          <p:cNvPr id="7" name="Shape 4"/>
          <p:cNvSpPr/>
          <p:nvPr/>
        </p:nvSpPr>
        <p:spPr>
          <a:xfrm>
            <a:off x="320040" y="1508760"/>
            <a:ext cx="2633472" cy="1389888"/>
          </a:xfrm>
          <a:prstGeom prst="rect">
            <a:avLst/>
          </a:prstGeom>
          <a:solidFill>
            <a:srgbClr val="1E5FAD"/>
          </a:solidFill>
          <a:ln w="12700">
            <a:solidFill>
              <a:srgbClr val="1E5FAD"/>
            </a:solidFill>
            <a:prstDash val="solid"/>
          </a:ln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320040" y="1508760"/>
            <a:ext cx="2633472" cy="384048"/>
          </a:xfrm>
          <a:prstGeom prst="rect">
            <a:avLst/>
          </a:prstGeom>
          <a:solidFill>
            <a:srgbClr val="1E5FAD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411480" y="1545336"/>
            <a:ext cx="2450592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 err="1" smtClean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auth_user</a:t>
            </a:r>
            <a:r>
              <a:rPr lang="en-US" sz="1100" b="1" dirty="0" smtClean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(Admin)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429768" y="1965960"/>
            <a:ext cx="23774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id (PK)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429768" y="2203704"/>
            <a:ext cx="23774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username</a:t>
            </a:r>
            <a:endParaRPr lang="en-US" sz="900" dirty="0"/>
          </a:p>
        </p:txBody>
      </p:sp>
      <p:sp>
        <p:nvSpPr>
          <p:cNvPr id="12" name="Text 9"/>
          <p:cNvSpPr/>
          <p:nvPr/>
        </p:nvSpPr>
        <p:spPr>
          <a:xfrm>
            <a:off x="429768" y="2441448"/>
            <a:ext cx="23774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email</a:t>
            </a:r>
            <a:endParaRPr lang="en-US" sz="900" dirty="0"/>
          </a:p>
        </p:txBody>
      </p:sp>
      <p:sp>
        <p:nvSpPr>
          <p:cNvPr id="13" name="Text 10"/>
          <p:cNvSpPr/>
          <p:nvPr/>
        </p:nvSpPr>
        <p:spPr>
          <a:xfrm>
            <a:off x="429768" y="2679192"/>
            <a:ext cx="23774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password (hashed)</a:t>
            </a:r>
            <a:endParaRPr lang="en-US" sz="900" dirty="0"/>
          </a:p>
        </p:txBody>
      </p:sp>
      <p:sp>
        <p:nvSpPr>
          <p:cNvPr id="14" name="Shape 11"/>
          <p:cNvSpPr/>
          <p:nvPr/>
        </p:nvSpPr>
        <p:spPr>
          <a:xfrm>
            <a:off x="3172968" y="1508760"/>
            <a:ext cx="2633472" cy="1389888"/>
          </a:xfrm>
          <a:prstGeom prst="rect">
            <a:avLst/>
          </a:prstGeom>
          <a:solidFill>
            <a:srgbClr val="145A32"/>
          </a:solidFill>
          <a:ln w="12700">
            <a:solidFill>
              <a:srgbClr val="1E5FAD"/>
            </a:solidFill>
            <a:prstDash val="solid"/>
          </a:ln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3172968" y="1508760"/>
            <a:ext cx="2633472" cy="384048"/>
          </a:xfrm>
          <a:prstGeom prst="rect">
            <a:avLst/>
          </a:prstGeom>
          <a:solidFill>
            <a:srgbClr val="145A32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3264408" y="1545336"/>
            <a:ext cx="2450592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JobSeekerProfile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3282696" y="1965960"/>
            <a:ext cx="23774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</a:t>
            </a:r>
            <a:r>
              <a:rPr lang="en-US" sz="900" dirty="0" err="1" smtClean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sh_username</a:t>
            </a:r>
            <a:endParaRPr lang="en-US" sz="900" dirty="0"/>
          </a:p>
        </p:txBody>
      </p:sp>
      <p:sp>
        <p:nvSpPr>
          <p:cNvPr id="18" name="Text 15"/>
          <p:cNvSpPr/>
          <p:nvPr/>
        </p:nvSpPr>
        <p:spPr>
          <a:xfrm>
            <a:off x="3282696" y="2203704"/>
            <a:ext cx="23774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skills</a:t>
            </a:r>
            <a:endParaRPr lang="en-US" sz="900" dirty="0"/>
          </a:p>
        </p:txBody>
      </p:sp>
      <p:sp>
        <p:nvSpPr>
          <p:cNvPr id="19" name="Text 16"/>
          <p:cNvSpPr/>
          <p:nvPr/>
        </p:nvSpPr>
        <p:spPr>
          <a:xfrm>
            <a:off x="3282696" y="2441448"/>
            <a:ext cx="23774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resume (FILE)</a:t>
            </a:r>
            <a:endParaRPr lang="en-US" sz="900" dirty="0"/>
          </a:p>
        </p:txBody>
      </p:sp>
      <p:sp>
        <p:nvSpPr>
          <p:cNvPr id="20" name="Text 17"/>
          <p:cNvSpPr/>
          <p:nvPr/>
        </p:nvSpPr>
        <p:spPr>
          <a:xfrm>
            <a:off x="3282696" y="2679192"/>
            <a:ext cx="23774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location</a:t>
            </a:r>
            <a:endParaRPr lang="en-US" sz="900" dirty="0"/>
          </a:p>
        </p:txBody>
      </p:sp>
      <p:sp>
        <p:nvSpPr>
          <p:cNvPr id="21" name="Shape 18"/>
          <p:cNvSpPr/>
          <p:nvPr/>
        </p:nvSpPr>
        <p:spPr>
          <a:xfrm>
            <a:off x="6025896" y="1508760"/>
            <a:ext cx="2633472" cy="1389888"/>
          </a:xfrm>
          <a:prstGeom prst="rect">
            <a:avLst/>
          </a:prstGeom>
          <a:solidFill>
            <a:srgbClr val="1A5276"/>
          </a:solidFill>
          <a:ln w="12700">
            <a:solidFill>
              <a:srgbClr val="1E5FAD"/>
            </a:solidFill>
            <a:prstDash val="solid"/>
          </a:ln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</p:sp>
      <p:sp>
        <p:nvSpPr>
          <p:cNvPr id="22" name="Shape 19"/>
          <p:cNvSpPr/>
          <p:nvPr/>
        </p:nvSpPr>
        <p:spPr>
          <a:xfrm>
            <a:off x="6025896" y="1508760"/>
            <a:ext cx="2633472" cy="384048"/>
          </a:xfrm>
          <a:prstGeom prst="rect">
            <a:avLst/>
          </a:prstGeom>
          <a:solidFill>
            <a:srgbClr val="1A527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6117336" y="1545336"/>
            <a:ext cx="2450592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CompanyProfile</a:t>
            </a:r>
            <a:endParaRPr lang="en-US" sz="1100" dirty="0"/>
          </a:p>
        </p:txBody>
      </p:sp>
      <p:sp>
        <p:nvSpPr>
          <p:cNvPr id="24" name="Text 21"/>
          <p:cNvSpPr/>
          <p:nvPr/>
        </p:nvSpPr>
        <p:spPr>
          <a:xfrm>
            <a:off x="6135624" y="1965960"/>
            <a:ext cx="23774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</a:t>
            </a:r>
            <a:r>
              <a:rPr lang="en-US" sz="900" dirty="0" err="1" smtClean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c_username</a:t>
            </a:r>
            <a:endParaRPr lang="en-US" sz="900" dirty="0"/>
          </a:p>
        </p:txBody>
      </p:sp>
      <p:sp>
        <p:nvSpPr>
          <p:cNvPr id="25" name="Text 22"/>
          <p:cNvSpPr/>
          <p:nvPr/>
        </p:nvSpPr>
        <p:spPr>
          <a:xfrm>
            <a:off x="6135624" y="2203704"/>
            <a:ext cx="23774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company_name</a:t>
            </a:r>
            <a:endParaRPr lang="en-US" sz="900" dirty="0"/>
          </a:p>
        </p:txBody>
      </p:sp>
      <p:sp>
        <p:nvSpPr>
          <p:cNvPr id="26" name="Text 23"/>
          <p:cNvSpPr/>
          <p:nvPr/>
        </p:nvSpPr>
        <p:spPr>
          <a:xfrm>
            <a:off x="6135624" y="2441448"/>
            <a:ext cx="23774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description</a:t>
            </a:r>
            <a:endParaRPr lang="en-US" sz="900" dirty="0"/>
          </a:p>
        </p:txBody>
      </p:sp>
      <p:sp>
        <p:nvSpPr>
          <p:cNvPr id="27" name="Text 24"/>
          <p:cNvSpPr/>
          <p:nvPr/>
        </p:nvSpPr>
        <p:spPr>
          <a:xfrm>
            <a:off x="6135624" y="2679192"/>
            <a:ext cx="23774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</a:t>
            </a:r>
            <a:r>
              <a:rPr lang="en-US" sz="900" dirty="0" smtClean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Government lenses </a:t>
            </a:r>
            <a:endParaRPr lang="en-US" sz="900" dirty="0"/>
          </a:p>
        </p:txBody>
      </p:sp>
      <p:sp>
        <p:nvSpPr>
          <p:cNvPr id="28" name="Shape 25"/>
          <p:cNvSpPr/>
          <p:nvPr/>
        </p:nvSpPr>
        <p:spPr>
          <a:xfrm>
            <a:off x="320040" y="3063240"/>
            <a:ext cx="2633472" cy="1389888"/>
          </a:xfrm>
          <a:prstGeom prst="rect">
            <a:avLst/>
          </a:prstGeom>
          <a:solidFill>
            <a:srgbClr val="7D6608"/>
          </a:solidFill>
          <a:ln w="12700">
            <a:solidFill>
              <a:srgbClr val="1E5FAD"/>
            </a:solidFill>
            <a:prstDash val="solid"/>
          </a:ln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</p:sp>
      <p:sp>
        <p:nvSpPr>
          <p:cNvPr id="29" name="Shape 26"/>
          <p:cNvSpPr/>
          <p:nvPr/>
        </p:nvSpPr>
        <p:spPr>
          <a:xfrm>
            <a:off x="320040" y="3063240"/>
            <a:ext cx="2633472" cy="384048"/>
          </a:xfrm>
          <a:prstGeom prst="rect">
            <a:avLst/>
          </a:prstGeom>
          <a:solidFill>
            <a:srgbClr val="7D660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411480" y="3099816"/>
            <a:ext cx="2450592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Job</a:t>
            </a:r>
            <a:endParaRPr lang="en-US" sz="1100" dirty="0"/>
          </a:p>
        </p:txBody>
      </p:sp>
      <p:sp>
        <p:nvSpPr>
          <p:cNvPr id="31" name="Text 28"/>
          <p:cNvSpPr/>
          <p:nvPr/>
        </p:nvSpPr>
        <p:spPr>
          <a:xfrm>
            <a:off x="429768" y="3520440"/>
            <a:ext cx="23774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title</a:t>
            </a:r>
            <a:endParaRPr lang="en-US" sz="900" dirty="0"/>
          </a:p>
        </p:txBody>
      </p:sp>
      <p:sp>
        <p:nvSpPr>
          <p:cNvPr id="32" name="Text 29"/>
          <p:cNvSpPr/>
          <p:nvPr/>
        </p:nvSpPr>
        <p:spPr>
          <a:xfrm>
            <a:off x="429768" y="3758184"/>
            <a:ext cx="23774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company (FK→Company)</a:t>
            </a:r>
            <a:endParaRPr lang="en-US" sz="900" dirty="0"/>
          </a:p>
        </p:txBody>
      </p:sp>
      <p:sp>
        <p:nvSpPr>
          <p:cNvPr id="33" name="Text 30"/>
          <p:cNvSpPr/>
          <p:nvPr/>
        </p:nvSpPr>
        <p:spPr>
          <a:xfrm>
            <a:off x="429768" y="3995928"/>
            <a:ext cx="23774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job_type</a:t>
            </a:r>
            <a:endParaRPr lang="en-US" sz="900" dirty="0"/>
          </a:p>
        </p:txBody>
      </p:sp>
      <p:sp>
        <p:nvSpPr>
          <p:cNvPr id="34" name="Text 31"/>
          <p:cNvSpPr/>
          <p:nvPr/>
        </p:nvSpPr>
        <p:spPr>
          <a:xfrm>
            <a:off x="429768" y="4233672"/>
            <a:ext cx="23774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is_active</a:t>
            </a:r>
            <a:endParaRPr lang="en-US" sz="900" dirty="0"/>
          </a:p>
        </p:txBody>
      </p:sp>
      <p:sp>
        <p:nvSpPr>
          <p:cNvPr id="35" name="Shape 32"/>
          <p:cNvSpPr/>
          <p:nvPr/>
        </p:nvSpPr>
        <p:spPr>
          <a:xfrm>
            <a:off x="3172968" y="3063240"/>
            <a:ext cx="2633472" cy="1389888"/>
          </a:xfrm>
          <a:prstGeom prst="rect">
            <a:avLst/>
          </a:prstGeom>
          <a:solidFill>
            <a:srgbClr val="6E2FBD"/>
          </a:solidFill>
          <a:ln w="12700">
            <a:solidFill>
              <a:srgbClr val="1E5FAD"/>
            </a:solidFill>
            <a:prstDash val="solid"/>
          </a:ln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</p:sp>
      <p:sp>
        <p:nvSpPr>
          <p:cNvPr id="36" name="Shape 33"/>
          <p:cNvSpPr/>
          <p:nvPr/>
        </p:nvSpPr>
        <p:spPr>
          <a:xfrm>
            <a:off x="3172968" y="3063240"/>
            <a:ext cx="2633472" cy="384048"/>
          </a:xfrm>
          <a:prstGeom prst="rect">
            <a:avLst/>
          </a:prstGeom>
          <a:solidFill>
            <a:srgbClr val="6E2FBD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7" name="Text 34"/>
          <p:cNvSpPr/>
          <p:nvPr/>
        </p:nvSpPr>
        <p:spPr>
          <a:xfrm>
            <a:off x="3264408" y="3099816"/>
            <a:ext cx="2450592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JobApplication</a:t>
            </a:r>
            <a:endParaRPr lang="en-US" sz="1100" dirty="0"/>
          </a:p>
        </p:txBody>
      </p:sp>
      <p:sp>
        <p:nvSpPr>
          <p:cNvPr id="38" name="Text 35"/>
          <p:cNvSpPr/>
          <p:nvPr/>
        </p:nvSpPr>
        <p:spPr>
          <a:xfrm>
            <a:off x="3282696" y="3520440"/>
            <a:ext cx="23774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job (FK→Job)</a:t>
            </a:r>
            <a:endParaRPr lang="en-US" sz="900" dirty="0"/>
          </a:p>
        </p:txBody>
      </p:sp>
      <p:sp>
        <p:nvSpPr>
          <p:cNvPr id="39" name="Text 36"/>
          <p:cNvSpPr/>
          <p:nvPr/>
        </p:nvSpPr>
        <p:spPr>
          <a:xfrm>
            <a:off x="3282696" y="3758184"/>
            <a:ext cx="23774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applicant (FK→Seeker)</a:t>
            </a:r>
            <a:endParaRPr lang="en-US" sz="900" dirty="0"/>
          </a:p>
        </p:txBody>
      </p:sp>
      <p:sp>
        <p:nvSpPr>
          <p:cNvPr id="40" name="Text 37"/>
          <p:cNvSpPr/>
          <p:nvPr/>
        </p:nvSpPr>
        <p:spPr>
          <a:xfrm>
            <a:off x="3282696" y="3995928"/>
            <a:ext cx="23774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status</a:t>
            </a:r>
            <a:endParaRPr lang="en-US" sz="900" dirty="0"/>
          </a:p>
        </p:txBody>
      </p:sp>
      <p:sp>
        <p:nvSpPr>
          <p:cNvPr id="41" name="Text 38"/>
          <p:cNvSpPr/>
          <p:nvPr/>
        </p:nvSpPr>
        <p:spPr>
          <a:xfrm>
            <a:off x="3282696" y="4233672"/>
            <a:ext cx="23774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applied_date</a:t>
            </a:r>
            <a:endParaRPr lang="en-US" sz="900" dirty="0"/>
          </a:p>
        </p:txBody>
      </p:sp>
      <p:sp>
        <p:nvSpPr>
          <p:cNvPr id="42" name="Shape 39"/>
          <p:cNvSpPr/>
          <p:nvPr/>
        </p:nvSpPr>
        <p:spPr>
          <a:xfrm>
            <a:off x="320040" y="4553712"/>
            <a:ext cx="8503920" cy="411480"/>
          </a:xfrm>
          <a:prstGeom prst="rect">
            <a:avLst/>
          </a:prstGeom>
          <a:solidFill>
            <a:srgbClr val="112244"/>
          </a:solidFill>
          <a:ln w="12700">
            <a:solidFill>
              <a:srgbClr val="1E5FAD"/>
            </a:solidFill>
            <a:prstDash val="solid"/>
          </a:ln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</p:sp>
      <p:sp>
        <p:nvSpPr>
          <p:cNvPr id="43" name="Text 40"/>
          <p:cNvSpPr/>
          <p:nvPr/>
        </p:nvSpPr>
        <p:spPr>
          <a:xfrm>
            <a:off x="502920" y="4608576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Relationships: </a:t>
            </a:r>
            <a:endParaRPr lang="en-US" sz="950" dirty="0"/>
          </a:p>
        </p:txBody>
      </p:sp>
      <p:sp>
        <p:nvSpPr>
          <p:cNvPr id="44" name="Text 41"/>
          <p:cNvSpPr/>
          <p:nvPr/>
        </p:nvSpPr>
        <p:spPr>
          <a:xfrm>
            <a:off x="1691640" y="4608576"/>
            <a:ext cx="7040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900" dirty="0" err="1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Company_DB</a:t>
            </a:r>
            <a:r>
              <a:rPr lang="en-US" sz="90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→ Job (1:N) | Job → </a:t>
            </a:r>
            <a:r>
              <a:rPr lang="en-US" sz="900" dirty="0" err="1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Application_DB</a:t>
            </a:r>
            <a:r>
              <a:rPr lang="en-US" sz="90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(1:N) | </a:t>
            </a:r>
            <a:r>
              <a:rPr lang="en-US" sz="900" dirty="0" err="1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shaqod_DB</a:t>
            </a:r>
            <a:r>
              <a:rPr lang="en-US" sz="90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→ </a:t>
            </a:r>
            <a:r>
              <a:rPr lang="en-US" sz="900" dirty="0" err="1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Application_DB</a:t>
            </a:r>
            <a:r>
              <a:rPr lang="en-US" sz="90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(1:N)</a:t>
            </a:r>
            <a:endParaRPr lang="en-US" sz="900" dirty="0"/>
          </a:p>
        </p:txBody>
      </p:sp>
      <p:sp>
        <p:nvSpPr>
          <p:cNvPr id="45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FF0000"/>
          </a:solidFill>
          <a:ln w="12700">
            <a:solidFill>
              <a:srgbClr val="00B4D8"/>
            </a:solidFill>
            <a:prstDash val="solid"/>
          </a:ln>
        </p:spPr>
      </p:sp>
    </p:spTree>
  </p:cSld>
  <p:clrMapOvr>
    <a:masterClrMapping/>
  </p:clrMapOvr>
  <p:transition spd="slow">
    <p:wipe/>
  </p:transition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206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6" name="Picture 45"/>
          <p:cNvPicPr/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rightnessContrast bright="-40000" contrast="4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2852" y="836634"/>
            <a:ext cx="8229600" cy="4162963"/>
          </a:xfrm>
          <a:prstGeom prst="rect">
            <a:avLst/>
          </a:prstGeom>
          <a:ln>
            <a:solidFill>
              <a:srgbClr val="FF0000"/>
            </a:solidFill>
          </a:ln>
          <a:effectLst>
            <a:glow rad="101600">
              <a:schemeClr val="accent2">
                <a:satMod val="175000"/>
                <a:alpha val="40000"/>
              </a:schemeClr>
            </a:glow>
          </a:effectLst>
        </p:spPr>
      </p:pic>
      <p:sp>
        <p:nvSpPr>
          <p:cNvPr id="47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FF0000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48" name="Shape 10"/>
          <p:cNvSpPr/>
          <p:nvPr/>
        </p:nvSpPr>
        <p:spPr>
          <a:xfrm>
            <a:off x="2615579" y="374969"/>
            <a:ext cx="3200400" cy="277792"/>
          </a:xfrm>
          <a:prstGeom prst="rect">
            <a:avLst/>
          </a:prstGeom>
          <a:solidFill>
            <a:srgbClr val="1E5FAD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49" name="TextBox 48"/>
          <p:cNvSpPr txBox="1"/>
          <p:nvPr/>
        </p:nvSpPr>
        <p:spPr>
          <a:xfrm>
            <a:off x="3795747" y="283032"/>
            <a:ext cx="209851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 smtClean="0">
                <a:solidFill>
                  <a:srgbClr val="FF0000"/>
                </a:solidFill>
              </a:rPr>
              <a:t>ERD</a:t>
            </a:r>
            <a:endParaRPr lang="en-US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370256593"/>
      </p:ext>
    </p:extLst>
  </p:cSld>
  <p:clrMapOvr>
    <a:masterClrMapping/>
  </p:clrMapOvr>
  <p:transition spd="slow">
    <p:wipe/>
  </p:transition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0206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Technology Stack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804672"/>
            <a:ext cx="8229600" cy="36576"/>
          </a:xfrm>
          <a:prstGeom prst="rect">
            <a:avLst/>
          </a:prstGeom>
          <a:solidFill>
            <a:srgbClr val="1E5FAD"/>
          </a:solidFill>
          <a:ln w="12700">
            <a:solidFill>
              <a:srgbClr val="1E5FA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20040" y="960120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320040" y="1298448"/>
            <a:ext cx="2331720" cy="676656"/>
          </a:xfrm>
          <a:prstGeom prst="rect">
            <a:avLst/>
          </a:prstGeom>
          <a:solidFill>
            <a:srgbClr val="3B6A9A"/>
          </a:solidFill>
          <a:ln w="12700">
            <a:solidFill>
              <a:srgbClr val="1E5FAD"/>
            </a:solidFill>
            <a:prstDash val="solid"/>
          </a:ln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886968" y="1353312"/>
            <a:ext cx="16916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</a:t>
            </a:r>
            <a:endParaRPr lang="en-US" sz="1050" dirty="0"/>
          </a:p>
        </p:txBody>
      </p:sp>
      <p:sp>
        <p:nvSpPr>
          <p:cNvPr id="8" name="Text 5"/>
          <p:cNvSpPr/>
          <p:nvPr/>
        </p:nvSpPr>
        <p:spPr>
          <a:xfrm>
            <a:off x="886968" y="1645920"/>
            <a:ext cx="1691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B0C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 Language</a:t>
            </a:r>
            <a:endParaRPr lang="en-US" sz="900" dirty="0"/>
          </a:p>
        </p:txBody>
      </p:sp>
      <p:sp>
        <p:nvSpPr>
          <p:cNvPr id="9" name="Shape 6"/>
          <p:cNvSpPr/>
          <p:nvPr/>
        </p:nvSpPr>
        <p:spPr>
          <a:xfrm>
            <a:off x="320040" y="2075688"/>
            <a:ext cx="2331720" cy="676656"/>
          </a:xfrm>
          <a:prstGeom prst="rect">
            <a:avLst/>
          </a:prstGeom>
          <a:solidFill>
            <a:srgbClr val="0C4B33"/>
          </a:solidFill>
          <a:ln w="12700">
            <a:solidFill>
              <a:srgbClr val="1E5FAD"/>
            </a:solidFill>
            <a:prstDash val="solid"/>
          </a:ln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</p:sp>
      <p:pic>
        <p:nvPicPr>
          <p:cNvPr id="10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" y="2167128"/>
            <a:ext cx="384048" cy="384048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886968" y="2130552"/>
            <a:ext cx="16916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Django 6.0.4 LTS</a:t>
            </a:r>
            <a:endParaRPr lang="en-US" sz="1050" dirty="0"/>
          </a:p>
        </p:txBody>
      </p:sp>
      <p:sp>
        <p:nvSpPr>
          <p:cNvPr id="12" name="Text 8"/>
          <p:cNvSpPr/>
          <p:nvPr/>
        </p:nvSpPr>
        <p:spPr>
          <a:xfrm>
            <a:off x="886968" y="2423160"/>
            <a:ext cx="1691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B0C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 Framework</a:t>
            </a:r>
            <a:endParaRPr lang="en-US" sz="900" dirty="0"/>
          </a:p>
        </p:txBody>
      </p:sp>
      <p:sp>
        <p:nvSpPr>
          <p:cNvPr id="13" name="Text 9"/>
          <p:cNvSpPr/>
          <p:nvPr/>
        </p:nvSpPr>
        <p:spPr>
          <a:xfrm>
            <a:off x="2743200" y="960120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Frontend</a:t>
            </a:r>
            <a:endParaRPr lang="en-US" sz="1200" dirty="0"/>
          </a:p>
        </p:txBody>
      </p:sp>
      <p:sp>
        <p:nvSpPr>
          <p:cNvPr id="14" name="Shape 10"/>
          <p:cNvSpPr/>
          <p:nvPr/>
        </p:nvSpPr>
        <p:spPr>
          <a:xfrm>
            <a:off x="2743200" y="1298448"/>
            <a:ext cx="2331720" cy="676656"/>
          </a:xfrm>
          <a:prstGeom prst="rect">
            <a:avLst/>
          </a:prstGeom>
          <a:solidFill>
            <a:srgbClr val="8B2500"/>
          </a:solidFill>
          <a:ln w="12700">
            <a:solidFill>
              <a:srgbClr val="1E5FAD"/>
            </a:solidFill>
            <a:prstDash val="solid"/>
          </a:ln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</p:sp>
      <p:pic>
        <p:nvPicPr>
          <p:cNvPr id="15" name="Image 2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34640" y="1389888"/>
            <a:ext cx="384048" cy="384048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3310128" y="1353312"/>
            <a:ext cx="16916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HTML5 / CSS3</a:t>
            </a:r>
            <a:endParaRPr lang="en-US" sz="1050" dirty="0"/>
          </a:p>
        </p:txBody>
      </p:sp>
      <p:sp>
        <p:nvSpPr>
          <p:cNvPr id="17" name="Text 12"/>
          <p:cNvSpPr/>
          <p:nvPr/>
        </p:nvSpPr>
        <p:spPr>
          <a:xfrm>
            <a:off x="3310128" y="1645920"/>
            <a:ext cx="1691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B0C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 &amp; Style</a:t>
            </a:r>
            <a:endParaRPr lang="en-US" sz="900" dirty="0"/>
          </a:p>
        </p:txBody>
      </p:sp>
      <p:sp>
        <p:nvSpPr>
          <p:cNvPr id="18" name="Shape 13"/>
          <p:cNvSpPr/>
          <p:nvPr/>
        </p:nvSpPr>
        <p:spPr>
          <a:xfrm>
            <a:off x="2743200" y="2075688"/>
            <a:ext cx="2331720" cy="676656"/>
          </a:xfrm>
          <a:prstGeom prst="rect">
            <a:avLst/>
          </a:prstGeom>
          <a:solidFill>
            <a:srgbClr val="6F42C1"/>
          </a:solidFill>
          <a:ln w="12700">
            <a:solidFill>
              <a:srgbClr val="1E5FAD"/>
            </a:solidFill>
            <a:prstDash val="solid"/>
          </a:ln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</p:sp>
      <p:sp>
        <p:nvSpPr>
          <p:cNvPr id="20" name="Text 14"/>
          <p:cNvSpPr/>
          <p:nvPr/>
        </p:nvSpPr>
        <p:spPr>
          <a:xfrm>
            <a:off x="3310128" y="2130552"/>
            <a:ext cx="16916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Bootstrap 5.3</a:t>
            </a:r>
            <a:endParaRPr lang="en-US" sz="1050" dirty="0"/>
          </a:p>
        </p:txBody>
      </p:sp>
      <p:sp>
        <p:nvSpPr>
          <p:cNvPr id="21" name="Text 15"/>
          <p:cNvSpPr/>
          <p:nvPr/>
        </p:nvSpPr>
        <p:spPr>
          <a:xfrm>
            <a:off x="3310128" y="2423160"/>
            <a:ext cx="1691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B0C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Responsive UI</a:t>
            </a:r>
            <a:endParaRPr lang="en-US" sz="900" dirty="0"/>
          </a:p>
        </p:txBody>
      </p:sp>
      <p:sp>
        <p:nvSpPr>
          <p:cNvPr id="22" name="Shape 16"/>
          <p:cNvSpPr/>
          <p:nvPr/>
        </p:nvSpPr>
        <p:spPr>
          <a:xfrm>
            <a:off x="2743200" y="2852928"/>
            <a:ext cx="2331720" cy="676656"/>
          </a:xfrm>
          <a:prstGeom prst="rect">
            <a:avLst/>
          </a:prstGeom>
          <a:solidFill>
            <a:srgbClr val="8A6914"/>
          </a:solidFill>
          <a:ln w="12700">
            <a:solidFill>
              <a:srgbClr val="1E5FAD"/>
            </a:solidFill>
            <a:prstDash val="solid"/>
          </a:ln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</p:sp>
      <p:sp>
        <p:nvSpPr>
          <p:cNvPr id="24" name="Text 17"/>
          <p:cNvSpPr/>
          <p:nvPr/>
        </p:nvSpPr>
        <p:spPr>
          <a:xfrm>
            <a:off x="3310128" y="2907792"/>
            <a:ext cx="16916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JavaScript</a:t>
            </a:r>
            <a:endParaRPr lang="en-US" sz="1050" dirty="0"/>
          </a:p>
        </p:txBody>
      </p:sp>
      <p:sp>
        <p:nvSpPr>
          <p:cNvPr id="25" name="Text 18"/>
          <p:cNvSpPr/>
          <p:nvPr/>
        </p:nvSpPr>
        <p:spPr>
          <a:xfrm>
            <a:off x="3310128" y="3200400"/>
            <a:ext cx="1691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B0C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Interactivity</a:t>
            </a:r>
            <a:endParaRPr lang="en-US" sz="900" dirty="0"/>
          </a:p>
        </p:txBody>
      </p:sp>
      <p:sp>
        <p:nvSpPr>
          <p:cNvPr id="26" name="Text 19"/>
          <p:cNvSpPr/>
          <p:nvPr/>
        </p:nvSpPr>
        <p:spPr>
          <a:xfrm>
            <a:off x="5166360" y="960120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Database &amp; Tools</a:t>
            </a:r>
            <a:endParaRPr lang="en-US" sz="1200" dirty="0"/>
          </a:p>
        </p:txBody>
      </p:sp>
      <p:sp>
        <p:nvSpPr>
          <p:cNvPr id="27" name="Shape 20"/>
          <p:cNvSpPr/>
          <p:nvPr/>
        </p:nvSpPr>
        <p:spPr>
          <a:xfrm>
            <a:off x="5166360" y="1298448"/>
            <a:ext cx="2331720" cy="676656"/>
          </a:xfrm>
          <a:prstGeom prst="rect">
            <a:avLst/>
          </a:prstGeom>
          <a:solidFill>
            <a:srgbClr val="1A3A6B"/>
          </a:solidFill>
          <a:ln w="12700">
            <a:solidFill>
              <a:srgbClr val="1E5FAD"/>
            </a:solidFill>
            <a:prstDash val="solid"/>
          </a:ln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</p:sp>
      <p:pic>
        <p:nvPicPr>
          <p:cNvPr id="28" name="Image 5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257800" y="1389888"/>
            <a:ext cx="384048" cy="384048"/>
          </a:xfrm>
          <a:prstGeom prst="rect">
            <a:avLst/>
          </a:prstGeom>
        </p:spPr>
      </p:pic>
      <p:sp>
        <p:nvSpPr>
          <p:cNvPr id="29" name="Text 21"/>
          <p:cNvSpPr/>
          <p:nvPr/>
        </p:nvSpPr>
        <p:spPr>
          <a:xfrm>
            <a:off x="5733288" y="1353312"/>
            <a:ext cx="16916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MS SQL Server</a:t>
            </a:r>
            <a:endParaRPr lang="en-US" sz="1050" dirty="0"/>
          </a:p>
        </p:txBody>
      </p:sp>
      <p:sp>
        <p:nvSpPr>
          <p:cNvPr id="35" name="Shape 26"/>
          <p:cNvSpPr/>
          <p:nvPr/>
        </p:nvSpPr>
        <p:spPr>
          <a:xfrm>
            <a:off x="5166360" y="2066544"/>
            <a:ext cx="2331720" cy="676656"/>
          </a:xfrm>
          <a:prstGeom prst="rect">
            <a:avLst/>
          </a:prstGeom>
          <a:solidFill>
            <a:srgbClr val="2B2B2B"/>
          </a:solidFill>
          <a:ln w="12700">
            <a:solidFill>
              <a:srgbClr val="1E5FAD"/>
            </a:solidFill>
            <a:prstDash val="solid"/>
          </a:ln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</p:sp>
      <p:sp>
        <p:nvSpPr>
          <p:cNvPr id="37" name="Text 27"/>
          <p:cNvSpPr/>
          <p:nvPr/>
        </p:nvSpPr>
        <p:spPr>
          <a:xfrm>
            <a:off x="5733288" y="2121408"/>
            <a:ext cx="16916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Git/GitHub 2.40</a:t>
            </a:r>
            <a:endParaRPr lang="en-US" sz="1050" dirty="0"/>
          </a:p>
        </p:txBody>
      </p:sp>
      <p:sp>
        <p:nvSpPr>
          <p:cNvPr id="38" name="Text 28"/>
          <p:cNvSpPr/>
          <p:nvPr/>
        </p:nvSpPr>
        <p:spPr>
          <a:xfrm>
            <a:off x="5733288" y="2414016"/>
            <a:ext cx="1691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B0C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Version Control</a:t>
            </a:r>
            <a:endParaRPr lang="en-US" sz="900" dirty="0"/>
          </a:p>
        </p:txBody>
      </p:sp>
      <p:sp>
        <p:nvSpPr>
          <p:cNvPr id="39" name="Shape 29"/>
          <p:cNvSpPr/>
          <p:nvPr/>
        </p:nvSpPr>
        <p:spPr>
          <a:xfrm>
            <a:off x="5166360" y="2843784"/>
            <a:ext cx="2331720" cy="676656"/>
          </a:xfrm>
          <a:prstGeom prst="rect">
            <a:avLst/>
          </a:prstGeom>
          <a:solidFill>
            <a:srgbClr val="0078D7"/>
          </a:solidFill>
          <a:ln w="12700">
            <a:solidFill>
              <a:srgbClr val="1E5FAD"/>
            </a:solidFill>
            <a:prstDash val="solid"/>
          </a:ln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</p:sp>
      <p:sp>
        <p:nvSpPr>
          <p:cNvPr id="41" name="Text 30"/>
          <p:cNvSpPr/>
          <p:nvPr/>
        </p:nvSpPr>
        <p:spPr>
          <a:xfrm>
            <a:off x="5733288" y="2898648"/>
            <a:ext cx="16916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Code </a:t>
            </a:r>
            <a:endParaRPr lang="en-US" sz="1050" dirty="0"/>
          </a:p>
        </p:txBody>
      </p:sp>
      <p:sp>
        <p:nvSpPr>
          <p:cNvPr id="42" name="Text 31"/>
          <p:cNvSpPr/>
          <p:nvPr/>
        </p:nvSpPr>
        <p:spPr>
          <a:xfrm>
            <a:off x="5733288" y="3191256"/>
            <a:ext cx="1691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B0C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 Editor</a:t>
            </a:r>
            <a:endParaRPr lang="en-US" sz="900" dirty="0"/>
          </a:p>
        </p:txBody>
      </p:sp>
      <p:sp>
        <p:nvSpPr>
          <p:cNvPr id="47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FF0000"/>
          </a:solidFill>
          <a:ln w="12700">
            <a:solidFill>
              <a:srgbClr val="00B4D8"/>
            </a:solidFill>
            <a:prstDash val="solid"/>
          </a:ln>
        </p:spPr>
      </p:sp>
      <p:pic>
        <p:nvPicPr>
          <p:cNvPr id="32" name="Picture 31"/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46561" y="2944368"/>
            <a:ext cx="449199" cy="449199"/>
          </a:xfrm>
          <a:prstGeom prst="rect">
            <a:avLst/>
          </a:prstGeom>
        </p:spPr>
      </p:pic>
      <p:pic>
        <p:nvPicPr>
          <p:cNvPr id="33" name="Picture 32"/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56490" y="1764792"/>
            <a:ext cx="1726064" cy="1293876"/>
          </a:xfrm>
          <a:prstGeom prst="rect">
            <a:avLst/>
          </a:prstGeom>
        </p:spPr>
      </p:pic>
      <p:pic>
        <p:nvPicPr>
          <p:cNvPr id="43" name="Picture 42"/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17112" y="2871216"/>
            <a:ext cx="694944" cy="694944"/>
          </a:xfrm>
          <a:prstGeom prst="rect">
            <a:avLst/>
          </a:prstGeom>
        </p:spPr>
      </p:pic>
      <p:pic>
        <p:nvPicPr>
          <p:cNvPr id="45" name="Picture 44"/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17112" y="2112264"/>
            <a:ext cx="676075" cy="567797"/>
          </a:xfrm>
          <a:prstGeom prst="rect">
            <a:avLst/>
          </a:prstGeom>
        </p:spPr>
      </p:pic>
      <p:pic>
        <p:nvPicPr>
          <p:cNvPr id="48" name="Picture 47"/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0040" y="1347787"/>
            <a:ext cx="614553" cy="614553"/>
          </a:xfrm>
          <a:prstGeom prst="rect">
            <a:avLst/>
          </a:prstGeom>
        </p:spPr>
      </p:pic>
    </p:spTree>
  </p:cSld>
  <p:clrMapOvr>
    <a:masterClrMapping/>
  </p:clrMapOvr>
  <p:transition spd="slow">
    <p:wipe/>
  </p:transition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0206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Modules &amp; Key Features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804672"/>
            <a:ext cx="8229600" cy="36576"/>
          </a:xfrm>
          <a:prstGeom prst="rect">
            <a:avLst/>
          </a:prstGeom>
          <a:solidFill>
            <a:srgbClr val="1E5FAD"/>
          </a:solidFill>
          <a:ln w="12700">
            <a:solidFill>
              <a:srgbClr val="1E5FAD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20040" y="960120"/>
            <a:ext cx="2633472" cy="1920240"/>
          </a:xfrm>
          <a:prstGeom prst="rect">
            <a:avLst/>
          </a:prstGeom>
          <a:solidFill>
            <a:srgbClr val="1E5FAD"/>
          </a:solidFill>
          <a:ln w="12700">
            <a:solidFill>
              <a:srgbClr val="1E5FAD"/>
            </a:solidFill>
            <a:prstDash val="solid"/>
          </a:ln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9768" y="1051560"/>
            <a:ext cx="347472" cy="347472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850392" y="105156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 Authentication</a:t>
            </a:r>
            <a:endParaRPr lang="en-US" sz="1050" dirty="0"/>
          </a:p>
        </p:txBody>
      </p:sp>
      <p:sp>
        <p:nvSpPr>
          <p:cNvPr id="7" name="Text 4"/>
          <p:cNvSpPr/>
          <p:nvPr/>
        </p:nvSpPr>
        <p:spPr>
          <a:xfrm>
            <a:off x="429768" y="1490472"/>
            <a:ext cx="24231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8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Two registration paths (Seeker/Employer)</a:t>
            </a:r>
            <a:endParaRPr lang="en-US" sz="880" dirty="0"/>
          </a:p>
        </p:txBody>
      </p:sp>
      <p:sp>
        <p:nvSpPr>
          <p:cNvPr id="8" name="Text 5"/>
          <p:cNvSpPr/>
          <p:nvPr/>
        </p:nvSpPr>
        <p:spPr>
          <a:xfrm>
            <a:off x="429768" y="1828800"/>
            <a:ext cx="24231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8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PBKDF2-SHA256 password </a:t>
            </a:r>
            <a:r>
              <a:rPr lang="en-US" sz="880" dirty="0" smtClean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hashing for admin</a:t>
            </a:r>
            <a:endParaRPr lang="en-US" sz="880" dirty="0"/>
          </a:p>
        </p:txBody>
      </p:sp>
      <p:sp>
        <p:nvSpPr>
          <p:cNvPr id="9" name="Text 6"/>
          <p:cNvSpPr/>
          <p:nvPr/>
        </p:nvSpPr>
        <p:spPr>
          <a:xfrm>
            <a:off x="429768" y="2167128"/>
            <a:ext cx="24231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8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Role-based access control (RBAC)</a:t>
            </a:r>
            <a:endParaRPr lang="en-US" sz="880" dirty="0"/>
          </a:p>
        </p:txBody>
      </p:sp>
      <p:sp>
        <p:nvSpPr>
          <p:cNvPr id="10" name="Text 7"/>
          <p:cNvSpPr/>
          <p:nvPr/>
        </p:nvSpPr>
        <p:spPr>
          <a:xfrm>
            <a:off x="429768" y="2505456"/>
            <a:ext cx="24231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8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Secure session management</a:t>
            </a:r>
            <a:endParaRPr lang="en-US" sz="880" dirty="0"/>
          </a:p>
        </p:txBody>
      </p:sp>
      <p:sp>
        <p:nvSpPr>
          <p:cNvPr id="11" name="Shape 8"/>
          <p:cNvSpPr/>
          <p:nvPr/>
        </p:nvSpPr>
        <p:spPr>
          <a:xfrm>
            <a:off x="3172968" y="960120"/>
            <a:ext cx="2633472" cy="1920240"/>
          </a:xfrm>
          <a:prstGeom prst="rect">
            <a:avLst/>
          </a:prstGeom>
          <a:solidFill>
            <a:srgbClr val="145A32"/>
          </a:solidFill>
          <a:ln w="12700">
            <a:solidFill>
              <a:srgbClr val="1E5FAD"/>
            </a:solidFill>
            <a:prstDash val="solid"/>
          </a:ln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</p:sp>
      <p:pic>
        <p:nvPicPr>
          <p:cNvPr id="12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82696" y="1051560"/>
            <a:ext cx="347472" cy="347472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3703320" y="105156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Profile Management</a:t>
            </a:r>
            <a:endParaRPr lang="en-US" sz="1050" dirty="0"/>
          </a:p>
        </p:txBody>
      </p:sp>
      <p:sp>
        <p:nvSpPr>
          <p:cNvPr id="14" name="Text 10"/>
          <p:cNvSpPr/>
          <p:nvPr/>
        </p:nvSpPr>
        <p:spPr>
          <a:xfrm>
            <a:off x="3282696" y="1490472"/>
            <a:ext cx="24231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8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Job Seeker: skills, resume</a:t>
            </a:r>
            <a:r>
              <a:rPr lang="en-US" sz="880" dirty="0" smtClean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</a:t>
            </a:r>
            <a:endParaRPr lang="en-US" sz="880" dirty="0"/>
          </a:p>
        </p:txBody>
      </p:sp>
      <p:sp>
        <p:nvSpPr>
          <p:cNvPr id="15" name="Text 11"/>
          <p:cNvSpPr/>
          <p:nvPr/>
        </p:nvSpPr>
        <p:spPr>
          <a:xfrm>
            <a:off x="3282696" y="1828800"/>
            <a:ext cx="24231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8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Employer: company info, logo, industry</a:t>
            </a:r>
            <a:endParaRPr lang="en-US" sz="880" dirty="0"/>
          </a:p>
        </p:txBody>
      </p:sp>
      <p:sp>
        <p:nvSpPr>
          <p:cNvPr id="16" name="Text 12"/>
          <p:cNvSpPr/>
          <p:nvPr/>
        </p:nvSpPr>
        <p:spPr>
          <a:xfrm>
            <a:off x="3282696" y="2167128"/>
            <a:ext cx="24231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8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Resume upload (</a:t>
            </a:r>
            <a:r>
              <a:rPr lang="en-US" sz="880" dirty="0" smtClean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PDF/DOC)</a:t>
            </a:r>
            <a:endParaRPr lang="en-US" sz="880" dirty="0"/>
          </a:p>
        </p:txBody>
      </p:sp>
      <p:sp>
        <p:nvSpPr>
          <p:cNvPr id="17" name="Text 13"/>
          <p:cNvSpPr/>
          <p:nvPr/>
        </p:nvSpPr>
        <p:spPr>
          <a:xfrm>
            <a:off x="3282696" y="2505456"/>
            <a:ext cx="24231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8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Profile photo with Pillow processing</a:t>
            </a:r>
            <a:endParaRPr lang="en-US" sz="880" dirty="0"/>
          </a:p>
        </p:txBody>
      </p:sp>
      <p:sp>
        <p:nvSpPr>
          <p:cNvPr id="18" name="Shape 14"/>
          <p:cNvSpPr/>
          <p:nvPr/>
        </p:nvSpPr>
        <p:spPr>
          <a:xfrm>
            <a:off x="6025896" y="960120"/>
            <a:ext cx="2633472" cy="1920240"/>
          </a:xfrm>
          <a:prstGeom prst="rect">
            <a:avLst/>
          </a:prstGeom>
          <a:solidFill>
            <a:srgbClr val="7D6608"/>
          </a:solidFill>
          <a:ln w="12700">
            <a:solidFill>
              <a:srgbClr val="1E5FAD"/>
            </a:solidFill>
            <a:prstDash val="solid"/>
          </a:ln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</p:sp>
      <p:pic>
        <p:nvPicPr>
          <p:cNvPr id="19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35624" y="1051560"/>
            <a:ext cx="347472" cy="347472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6556248" y="105156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Job Management</a:t>
            </a:r>
            <a:endParaRPr lang="en-US" sz="1050" dirty="0"/>
          </a:p>
        </p:txBody>
      </p:sp>
      <p:sp>
        <p:nvSpPr>
          <p:cNvPr id="21" name="Text 16"/>
          <p:cNvSpPr/>
          <p:nvPr/>
        </p:nvSpPr>
        <p:spPr>
          <a:xfrm>
            <a:off x="6135624" y="1490472"/>
            <a:ext cx="24231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8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Full CRUD for job listings</a:t>
            </a:r>
            <a:endParaRPr lang="en-US" sz="880" dirty="0"/>
          </a:p>
        </p:txBody>
      </p:sp>
      <p:sp>
        <p:nvSpPr>
          <p:cNvPr id="22" name="Text 17"/>
          <p:cNvSpPr/>
          <p:nvPr/>
        </p:nvSpPr>
        <p:spPr>
          <a:xfrm>
            <a:off x="6135624" y="1828800"/>
            <a:ext cx="24231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8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Job types: Full-time, Part-time, Contract</a:t>
            </a:r>
            <a:endParaRPr lang="en-US" sz="880" dirty="0"/>
          </a:p>
        </p:txBody>
      </p:sp>
      <p:sp>
        <p:nvSpPr>
          <p:cNvPr id="23" name="Text 18"/>
          <p:cNvSpPr/>
          <p:nvPr/>
        </p:nvSpPr>
        <p:spPr>
          <a:xfrm>
            <a:off x="6135624" y="2167128"/>
            <a:ext cx="24231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8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Activate/deactivate without deleting</a:t>
            </a:r>
            <a:endParaRPr lang="en-US" sz="880" dirty="0"/>
          </a:p>
        </p:txBody>
      </p:sp>
      <p:sp>
        <p:nvSpPr>
          <p:cNvPr id="24" name="Text 19"/>
          <p:cNvSpPr/>
          <p:nvPr/>
        </p:nvSpPr>
        <p:spPr>
          <a:xfrm>
            <a:off x="6135624" y="2505456"/>
            <a:ext cx="24231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8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Employer dashboard with stats</a:t>
            </a:r>
            <a:endParaRPr lang="en-US" sz="880" dirty="0"/>
          </a:p>
        </p:txBody>
      </p:sp>
      <p:sp>
        <p:nvSpPr>
          <p:cNvPr id="25" name="Shape 20"/>
          <p:cNvSpPr/>
          <p:nvPr/>
        </p:nvSpPr>
        <p:spPr>
          <a:xfrm>
            <a:off x="320040" y="3063240"/>
            <a:ext cx="2633472" cy="1920240"/>
          </a:xfrm>
          <a:prstGeom prst="rect">
            <a:avLst/>
          </a:prstGeom>
          <a:solidFill>
            <a:srgbClr val="6E2FBD"/>
          </a:solidFill>
          <a:ln w="12700">
            <a:solidFill>
              <a:srgbClr val="1E5FAD"/>
            </a:solidFill>
            <a:prstDash val="solid"/>
          </a:ln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</p:sp>
      <p:pic>
        <p:nvPicPr>
          <p:cNvPr id="2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29768" y="3154680"/>
            <a:ext cx="347472" cy="347472"/>
          </a:xfrm>
          <a:prstGeom prst="rect">
            <a:avLst/>
          </a:prstGeom>
        </p:spPr>
      </p:pic>
      <p:sp>
        <p:nvSpPr>
          <p:cNvPr id="27" name="Text 21"/>
          <p:cNvSpPr/>
          <p:nvPr/>
        </p:nvSpPr>
        <p:spPr>
          <a:xfrm>
            <a:off x="850392" y="315468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Job Search &amp; Apply</a:t>
            </a:r>
            <a:endParaRPr lang="en-US" sz="1050" dirty="0"/>
          </a:p>
        </p:txBody>
      </p:sp>
      <p:sp>
        <p:nvSpPr>
          <p:cNvPr id="28" name="Text 22"/>
          <p:cNvSpPr/>
          <p:nvPr/>
        </p:nvSpPr>
        <p:spPr>
          <a:xfrm>
            <a:off x="429768" y="3593592"/>
            <a:ext cx="24231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8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Keyword search (title + description)</a:t>
            </a:r>
            <a:endParaRPr lang="en-US" sz="880" dirty="0"/>
          </a:p>
        </p:txBody>
      </p:sp>
      <p:sp>
        <p:nvSpPr>
          <p:cNvPr id="29" name="Text 23"/>
          <p:cNvSpPr/>
          <p:nvPr/>
        </p:nvSpPr>
        <p:spPr>
          <a:xfrm>
            <a:off x="429768" y="3931920"/>
            <a:ext cx="24231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8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Filter by location &amp; job type</a:t>
            </a:r>
            <a:endParaRPr lang="en-US" sz="880" dirty="0"/>
          </a:p>
        </p:txBody>
      </p:sp>
      <p:sp>
        <p:nvSpPr>
          <p:cNvPr id="30" name="Text 24"/>
          <p:cNvSpPr/>
          <p:nvPr/>
        </p:nvSpPr>
        <p:spPr>
          <a:xfrm>
            <a:off x="429768" y="4270248"/>
            <a:ext cx="24231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8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One-click application submission</a:t>
            </a:r>
            <a:endParaRPr lang="en-US" sz="880" dirty="0"/>
          </a:p>
        </p:txBody>
      </p:sp>
      <p:sp>
        <p:nvSpPr>
          <p:cNvPr id="31" name="Text 25"/>
          <p:cNvSpPr/>
          <p:nvPr/>
        </p:nvSpPr>
        <p:spPr>
          <a:xfrm>
            <a:off x="429768" y="4608576"/>
            <a:ext cx="24231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8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Duplicate application prevention</a:t>
            </a:r>
            <a:endParaRPr lang="en-US" sz="880" dirty="0"/>
          </a:p>
        </p:txBody>
      </p:sp>
      <p:sp>
        <p:nvSpPr>
          <p:cNvPr id="32" name="Shape 26"/>
          <p:cNvSpPr/>
          <p:nvPr/>
        </p:nvSpPr>
        <p:spPr>
          <a:xfrm>
            <a:off x="3172968" y="3063240"/>
            <a:ext cx="2633472" cy="1920240"/>
          </a:xfrm>
          <a:prstGeom prst="rect">
            <a:avLst/>
          </a:prstGeom>
          <a:solidFill>
            <a:srgbClr val="1A5276"/>
          </a:solidFill>
          <a:ln w="12700">
            <a:solidFill>
              <a:srgbClr val="1E5FAD"/>
            </a:solidFill>
            <a:prstDash val="solid"/>
          </a:ln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</p:sp>
      <p:pic>
        <p:nvPicPr>
          <p:cNvPr id="33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282696" y="3154680"/>
            <a:ext cx="347472" cy="347472"/>
          </a:xfrm>
          <a:prstGeom prst="rect">
            <a:avLst/>
          </a:prstGeom>
        </p:spPr>
      </p:pic>
      <p:sp>
        <p:nvSpPr>
          <p:cNvPr id="34" name="Text 27"/>
          <p:cNvSpPr/>
          <p:nvPr/>
        </p:nvSpPr>
        <p:spPr>
          <a:xfrm>
            <a:off x="3703320" y="315468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Application Tracking</a:t>
            </a:r>
            <a:endParaRPr lang="en-US" sz="1050" dirty="0"/>
          </a:p>
        </p:txBody>
      </p:sp>
      <p:sp>
        <p:nvSpPr>
          <p:cNvPr id="35" name="Text 28"/>
          <p:cNvSpPr/>
          <p:nvPr/>
        </p:nvSpPr>
        <p:spPr>
          <a:xfrm>
            <a:off x="3282696" y="3593592"/>
            <a:ext cx="24231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8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</a:t>
            </a:r>
            <a:r>
              <a:rPr lang="en-US" sz="880" dirty="0" smtClean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88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 display for seekers</a:t>
            </a:r>
            <a:endParaRPr lang="en-US" sz="880" dirty="0"/>
          </a:p>
        </p:txBody>
      </p:sp>
      <p:sp>
        <p:nvSpPr>
          <p:cNvPr id="36" name="Text 29"/>
          <p:cNvSpPr/>
          <p:nvPr/>
        </p:nvSpPr>
        <p:spPr>
          <a:xfrm>
            <a:off x="3282696" y="3931920"/>
            <a:ext cx="24231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8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Status: Pending → Under Review → Accepted/Rejected</a:t>
            </a:r>
            <a:endParaRPr lang="en-US" sz="880" dirty="0"/>
          </a:p>
        </p:txBody>
      </p:sp>
      <p:sp>
        <p:nvSpPr>
          <p:cNvPr id="37" name="Text 30"/>
          <p:cNvSpPr/>
          <p:nvPr/>
        </p:nvSpPr>
        <p:spPr>
          <a:xfrm>
            <a:off x="3282696" y="4270248"/>
            <a:ext cx="24231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8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Bootstrap badges (color-coded)</a:t>
            </a:r>
            <a:endParaRPr lang="en-US" sz="880" dirty="0"/>
          </a:p>
        </p:txBody>
      </p:sp>
      <p:sp>
        <p:nvSpPr>
          <p:cNvPr id="38" name="Text 31"/>
          <p:cNvSpPr/>
          <p:nvPr/>
        </p:nvSpPr>
        <p:spPr>
          <a:xfrm>
            <a:off x="3282696" y="4608576"/>
            <a:ext cx="24231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8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Employer full applicant profile view</a:t>
            </a:r>
            <a:endParaRPr lang="en-US" sz="880" dirty="0"/>
          </a:p>
        </p:txBody>
      </p:sp>
      <p:sp>
        <p:nvSpPr>
          <p:cNvPr id="39" name="Shape 32"/>
          <p:cNvSpPr/>
          <p:nvPr/>
        </p:nvSpPr>
        <p:spPr>
          <a:xfrm>
            <a:off x="6025896" y="3063240"/>
            <a:ext cx="2633472" cy="1920240"/>
          </a:xfrm>
          <a:prstGeom prst="rect">
            <a:avLst/>
          </a:prstGeom>
          <a:solidFill>
            <a:srgbClr val="5D2E8C"/>
          </a:solidFill>
          <a:ln w="12700">
            <a:solidFill>
              <a:srgbClr val="1E5FAD"/>
            </a:solidFill>
            <a:prstDash val="solid"/>
          </a:ln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</p:sp>
      <p:pic>
        <p:nvPicPr>
          <p:cNvPr id="40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135624" y="3154680"/>
            <a:ext cx="347472" cy="347472"/>
          </a:xfrm>
          <a:prstGeom prst="rect">
            <a:avLst/>
          </a:prstGeom>
        </p:spPr>
      </p:pic>
      <p:sp>
        <p:nvSpPr>
          <p:cNvPr id="41" name="Text 33"/>
          <p:cNvSpPr/>
          <p:nvPr/>
        </p:nvSpPr>
        <p:spPr>
          <a:xfrm>
            <a:off x="6556248" y="315468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 Dashboard</a:t>
            </a:r>
            <a:endParaRPr lang="en-US" sz="1050" dirty="0"/>
          </a:p>
        </p:txBody>
      </p:sp>
      <p:sp>
        <p:nvSpPr>
          <p:cNvPr id="42" name="Text 34"/>
          <p:cNvSpPr/>
          <p:nvPr/>
        </p:nvSpPr>
        <p:spPr>
          <a:xfrm>
            <a:off x="6135624" y="3593592"/>
            <a:ext cx="24231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8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Django built-in admin panel</a:t>
            </a:r>
            <a:endParaRPr lang="en-US" sz="880" dirty="0"/>
          </a:p>
        </p:txBody>
      </p:sp>
      <p:sp>
        <p:nvSpPr>
          <p:cNvPr id="43" name="Text 35"/>
          <p:cNvSpPr/>
          <p:nvPr/>
        </p:nvSpPr>
        <p:spPr>
          <a:xfrm>
            <a:off x="6135624" y="3931920"/>
            <a:ext cx="24231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8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CRUD for all models</a:t>
            </a:r>
            <a:endParaRPr lang="en-US" sz="880" dirty="0"/>
          </a:p>
        </p:txBody>
      </p:sp>
      <p:sp>
        <p:nvSpPr>
          <p:cNvPr id="44" name="Text 36"/>
          <p:cNvSpPr/>
          <p:nvPr/>
        </p:nvSpPr>
        <p:spPr>
          <a:xfrm>
            <a:off x="6135624" y="4270248"/>
            <a:ext cx="24231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8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Search, filter &amp; monitor platform</a:t>
            </a:r>
            <a:endParaRPr lang="en-US" sz="880" dirty="0"/>
          </a:p>
        </p:txBody>
      </p:sp>
      <p:sp>
        <p:nvSpPr>
          <p:cNvPr id="45" name="Text 37"/>
          <p:cNvSpPr/>
          <p:nvPr/>
        </p:nvSpPr>
        <p:spPr>
          <a:xfrm>
            <a:off x="6135624" y="4608576"/>
            <a:ext cx="24231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8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Application activity overview</a:t>
            </a:r>
            <a:endParaRPr lang="en-US" sz="880" dirty="0"/>
          </a:p>
        </p:txBody>
      </p:sp>
      <p:sp>
        <p:nvSpPr>
          <p:cNvPr id="46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FF0000"/>
          </a:solidFill>
          <a:ln w="12700">
            <a:solidFill>
              <a:srgbClr val="00B4D8"/>
            </a:solidFill>
            <a:prstDash val="solid"/>
          </a:ln>
        </p:spPr>
      </p:sp>
    </p:spTree>
  </p:cSld>
  <p:clrMapOvr>
    <a:masterClrMapping/>
  </p:clrMapOvr>
  <p:transition spd="slow">
    <p:wipe/>
  </p:transition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10">
    <p:bg>
      <p:bgPr>
        <a:solidFill>
          <a:srgbClr val="00206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Functional &amp; Non-Functional Requirements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804672"/>
            <a:ext cx="8229600" cy="36576"/>
          </a:xfrm>
          <a:prstGeom prst="rect">
            <a:avLst/>
          </a:prstGeom>
          <a:solidFill>
            <a:srgbClr val="1E5FAD"/>
          </a:solidFill>
          <a:ln w="12700">
            <a:solidFill>
              <a:srgbClr val="1E5FAD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20040" y="960120"/>
            <a:ext cx="4846320" cy="3977640"/>
          </a:xfrm>
          <a:prstGeom prst="rect">
            <a:avLst/>
          </a:prstGeom>
          <a:solidFill>
            <a:srgbClr val="102845"/>
          </a:solidFill>
          <a:ln w="12700">
            <a:solidFill>
              <a:srgbClr val="1E5FAD"/>
            </a:solidFill>
            <a:prstDash val="solid"/>
          </a:ln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457200" y="100584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Functional Requirements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57200" y="1399032"/>
            <a:ext cx="658368" cy="292608"/>
          </a:xfrm>
          <a:prstGeom prst="rect">
            <a:avLst/>
          </a:prstGeom>
          <a:solidFill>
            <a:srgbClr val="1E5FAD"/>
          </a:solidFill>
          <a:ln w="12700">
            <a:solidFill>
              <a:srgbClr val="1E5FA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1399032"/>
            <a:ext cx="65836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FR-01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1188720" y="1399032"/>
            <a:ext cx="3840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Users register as job seeker or employer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457200" y="1837944"/>
            <a:ext cx="658368" cy="292608"/>
          </a:xfrm>
          <a:prstGeom prst="rect">
            <a:avLst/>
          </a:prstGeom>
          <a:solidFill>
            <a:srgbClr val="1E5FAD"/>
          </a:solidFill>
          <a:ln w="12700">
            <a:solidFill>
              <a:srgbClr val="1E5FA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7200" y="1837944"/>
            <a:ext cx="65836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FR-02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1188720" y="1837944"/>
            <a:ext cx="3840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Registered users log in/out securely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457200" y="2276856"/>
            <a:ext cx="658368" cy="292608"/>
          </a:xfrm>
          <a:prstGeom prst="rect">
            <a:avLst/>
          </a:prstGeom>
          <a:solidFill>
            <a:srgbClr val="1E5FAD"/>
          </a:solidFill>
          <a:ln w="12700">
            <a:solidFill>
              <a:srgbClr val="1E5FA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2276856"/>
            <a:ext cx="65836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FR-03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1188720" y="2276856"/>
            <a:ext cx="3840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Job seekers create/edit profiles &amp; upload resume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457200" y="2715768"/>
            <a:ext cx="658368" cy="292608"/>
          </a:xfrm>
          <a:prstGeom prst="rect">
            <a:avLst/>
          </a:prstGeom>
          <a:solidFill>
            <a:srgbClr val="1E5FAD"/>
          </a:solidFill>
          <a:ln w="12700">
            <a:solidFill>
              <a:srgbClr val="1E5FA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57200" y="2715768"/>
            <a:ext cx="65836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FR-04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1188720" y="2715768"/>
            <a:ext cx="3840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Employers post, edit &amp; delete job listings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457200" y="3154680"/>
            <a:ext cx="658368" cy="292608"/>
          </a:xfrm>
          <a:prstGeom prst="rect">
            <a:avLst/>
          </a:prstGeom>
          <a:solidFill>
            <a:srgbClr val="1E5FAD"/>
          </a:solidFill>
          <a:ln w="12700">
            <a:solidFill>
              <a:srgbClr val="1E5FAD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3154680"/>
            <a:ext cx="65836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FR-05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1188720" y="3154680"/>
            <a:ext cx="3840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Job seekers search and filter job listings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457200" y="3593592"/>
            <a:ext cx="658368" cy="292608"/>
          </a:xfrm>
          <a:prstGeom prst="rect">
            <a:avLst/>
          </a:prstGeom>
          <a:solidFill>
            <a:srgbClr val="1E5FAD"/>
          </a:solidFill>
          <a:ln w="12700">
            <a:solidFill>
              <a:srgbClr val="1E5FAD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57200" y="3593592"/>
            <a:ext cx="65836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FR-06</a:t>
            </a:r>
            <a:endParaRPr lang="en-US" sz="850" dirty="0"/>
          </a:p>
        </p:txBody>
      </p:sp>
      <p:sp>
        <p:nvSpPr>
          <p:cNvPr id="23" name="Text 21"/>
          <p:cNvSpPr/>
          <p:nvPr/>
        </p:nvSpPr>
        <p:spPr>
          <a:xfrm>
            <a:off x="1188720" y="3593592"/>
            <a:ext cx="3840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Job seekers apply for jobs with single click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457200" y="4032504"/>
            <a:ext cx="658368" cy="292608"/>
          </a:xfrm>
          <a:prstGeom prst="rect">
            <a:avLst/>
          </a:prstGeom>
          <a:solidFill>
            <a:srgbClr val="1E5FAD"/>
          </a:solidFill>
          <a:ln w="12700">
            <a:solidFill>
              <a:srgbClr val="1E5FAD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57200" y="4032504"/>
            <a:ext cx="65836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FR-07</a:t>
            </a:r>
            <a:endParaRPr lang="en-US" sz="850" dirty="0"/>
          </a:p>
        </p:txBody>
      </p:sp>
      <p:sp>
        <p:nvSpPr>
          <p:cNvPr id="26" name="Text 24"/>
          <p:cNvSpPr/>
          <p:nvPr/>
        </p:nvSpPr>
        <p:spPr>
          <a:xfrm>
            <a:off x="1188720" y="4032504"/>
            <a:ext cx="3840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Job seekers view status of submitted applications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457200" y="4471416"/>
            <a:ext cx="658368" cy="292608"/>
          </a:xfrm>
          <a:prstGeom prst="rect">
            <a:avLst/>
          </a:prstGeom>
          <a:solidFill>
            <a:srgbClr val="1E5FAD"/>
          </a:solidFill>
          <a:ln w="12700">
            <a:solidFill>
              <a:srgbClr val="1E5FAD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57200" y="4471416"/>
            <a:ext cx="65836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FR-08</a:t>
            </a:r>
            <a:endParaRPr lang="en-US" sz="850" dirty="0"/>
          </a:p>
        </p:txBody>
      </p:sp>
      <p:sp>
        <p:nvSpPr>
          <p:cNvPr id="29" name="Text 27"/>
          <p:cNvSpPr/>
          <p:nvPr/>
        </p:nvSpPr>
        <p:spPr>
          <a:xfrm>
            <a:off x="1188720" y="4471416"/>
            <a:ext cx="3840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Employers view and manage received applications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5349240" y="960120"/>
            <a:ext cx="3474720" cy="3977640"/>
          </a:xfrm>
          <a:prstGeom prst="rect">
            <a:avLst/>
          </a:prstGeom>
          <a:solidFill>
            <a:srgbClr val="102845"/>
          </a:solidFill>
          <a:ln w="12700">
            <a:solidFill>
              <a:srgbClr val="1E5FAD"/>
            </a:solidFill>
            <a:prstDash val="solid"/>
          </a:ln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</p:sp>
      <p:sp>
        <p:nvSpPr>
          <p:cNvPr id="31" name="Text 29"/>
          <p:cNvSpPr/>
          <p:nvPr/>
        </p:nvSpPr>
        <p:spPr>
          <a:xfrm>
            <a:off x="5440680" y="1005840"/>
            <a:ext cx="3291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D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Non-Functional Requirements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5440680" y="1399032"/>
            <a:ext cx="3246120" cy="749808"/>
          </a:xfrm>
          <a:prstGeom prst="rect">
            <a:avLst/>
          </a:prstGeom>
          <a:solidFill>
            <a:srgbClr val="1A4B8C"/>
          </a:solidFill>
          <a:ln w="12700">
            <a:solidFill>
              <a:srgbClr val="1E5FAD"/>
            </a:solidFill>
            <a:prstDash val="solid"/>
          </a:ln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</p:sp>
      <p:sp>
        <p:nvSpPr>
          <p:cNvPr id="33" name="Text 31"/>
          <p:cNvSpPr/>
          <p:nvPr/>
        </p:nvSpPr>
        <p:spPr>
          <a:xfrm>
            <a:off x="5532120" y="1426464"/>
            <a:ext cx="548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NFR-01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6144768" y="1426464"/>
            <a:ext cx="14630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FD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5532120" y="1673352"/>
            <a:ext cx="30632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95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Passwords hashed via PBKDF2-SHA256</a:t>
            </a:r>
            <a:endParaRPr lang="en-US" sz="950" dirty="0"/>
          </a:p>
        </p:txBody>
      </p:sp>
      <p:sp>
        <p:nvSpPr>
          <p:cNvPr id="36" name="Shape 34"/>
          <p:cNvSpPr/>
          <p:nvPr/>
        </p:nvSpPr>
        <p:spPr>
          <a:xfrm>
            <a:off x="5440680" y="2240280"/>
            <a:ext cx="3246120" cy="749808"/>
          </a:xfrm>
          <a:prstGeom prst="rect">
            <a:avLst/>
          </a:prstGeom>
          <a:solidFill>
            <a:srgbClr val="1A4B8C"/>
          </a:solidFill>
          <a:ln w="12700">
            <a:solidFill>
              <a:srgbClr val="1E5FAD"/>
            </a:solidFill>
            <a:prstDash val="solid"/>
          </a:ln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</p:sp>
      <p:sp>
        <p:nvSpPr>
          <p:cNvPr id="37" name="Text 35"/>
          <p:cNvSpPr/>
          <p:nvPr/>
        </p:nvSpPr>
        <p:spPr>
          <a:xfrm>
            <a:off x="5532120" y="2267712"/>
            <a:ext cx="548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NFR-02</a:t>
            </a:r>
            <a:endParaRPr lang="en-US" sz="800" dirty="0"/>
          </a:p>
        </p:txBody>
      </p:sp>
      <p:sp>
        <p:nvSpPr>
          <p:cNvPr id="38" name="Text 36"/>
          <p:cNvSpPr/>
          <p:nvPr/>
        </p:nvSpPr>
        <p:spPr>
          <a:xfrm>
            <a:off x="6144768" y="2267712"/>
            <a:ext cx="14630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FD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Usability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5532120" y="2514600"/>
            <a:ext cx="30632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95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Fully usable on 320px screens and above</a:t>
            </a:r>
            <a:endParaRPr lang="en-US" sz="950" dirty="0"/>
          </a:p>
        </p:txBody>
      </p:sp>
      <p:sp>
        <p:nvSpPr>
          <p:cNvPr id="40" name="Shape 38"/>
          <p:cNvSpPr/>
          <p:nvPr/>
        </p:nvSpPr>
        <p:spPr>
          <a:xfrm>
            <a:off x="5440680" y="3081528"/>
            <a:ext cx="3246120" cy="749808"/>
          </a:xfrm>
          <a:prstGeom prst="rect">
            <a:avLst/>
          </a:prstGeom>
          <a:solidFill>
            <a:srgbClr val="1A4B8C"/>
          </a:solidFill>
          <a:ln w="12700">
            <a:solidFill>
              <a:srgbClr val="1E5FAD"/>
            </a:solidFill>
            <a:prstDash val="solid"/>
          </a:ln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</p:sp>
      <p:sp>
        <p:nvSpPr>
          <p:cNvPr id="41" name="Text 39"/>
          <p:cNvSpPr/>
          <p:nvPr/>
        </p:nvSpPr>
        <p:spPr>
          <a:xfrm>
            <a:off x="5532120" y="3108960"/>
            <a:ext cx="548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NFR-03</a:t>
            </a:r>
            <a:endParaRPr lang="en-US" sz="800" dirty="0"/>
          </a:p>
        </p:txBody>
      </p:sp>
      <p:sp>
        <p:nvSpPr>
          <p:cNvPr id="42" name="Text 40"/>
          <p:cNvSpPr/>
          <p:nvPr/>
        </p:nvSpPr>
        <p:spPr>
          <a:xfrm>
            <a:off x="6144768" y="3108960"/>
            <a:ext cx="14630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FD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Performance</a:t>
            </a:r>
            <a:endParaRPr lang="en-US" sz="900" dirty="0"/>
          </a:p>
        </p:txBody>
      </p:sp>
      <p:sp>
        <p:nvSpPr>
          <p:cNvPr id="43" name="Text 41"/>
          <p:cNvSpPr/>
          <p:nvPr/>
        </p:nvSpPr>
        <p:spPr>
          <a:xfrm>
            <a:off x="5532120" y="3355848"/>
            <a:ext cx="30632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95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Page load &lt; 3 seconds under normal conditions</a:t>
            </a:r>
            <a:endParaRPr lang="en-US" sz="950" dirty="0"/>
          </a:p>
        </p:txBody>
      </p:sp>
      <p:sp>
        <p:nvSpPr>
          <p:cNvPr id="44" name="Shape 42"/>
          <p:cNvSpPr/>
          <p:nvPr/>
        </p:nvSpPr>
        <p:spPr>
          <a:xfrm>
            <a:off x="5440680" y="3922776"/>
            <a:ext cx="3246120" cy="749808"/>
          </a:xfrm>
          <a:prstGeom prst="rect">
            <a:avLst/>
          </a:prstGeom>
          <a:solidFill>
            <a:srgbClr val="1A4B8C"/>
          </a:solidFill>
          <a:ln w="12700">
            <a:solidFill>
              <a:srgbClr val="1E5FAD"/>
            </a:solidFill>
            <a:prstDash val="solid"/>
          </a:ln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5532120" y="3950208"/>
            <a:ext cx="548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NFR-04</a:t>
            </a:r>
            <a:endParaRPr lang="en-US" sz="800" dirty="0"/>
          </a:p>
        </p:txBody>
      </p:sp>
      <p:sp>
        <p:nvSpPr>
          <p:cNvPr id="46" name="Text 44"/>
          <p:cNvSpPr/>
          <p:nvPr/>
        </p:nvSpPr>
        <p:spPr>
          <a:xfrm>
            <a:off x="6144768" y="3950208"/>
            <a:ext cx="14630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FD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Reliability</a:t>
            </a:r>
            <a:endParaRPr lang="en-US" sz="900" dirty="0"/>
          </a:p>
        </p:txBody>
      </p:sp>
      <p:sp>
        <p:nvSpPr>
          <p:cNvPr id="47" name="Text 45"/>
          <p:cNvSpPr/>
          <p:nvPr/>
        </p:nvSpPr>
        <p:spPr>
          <a:xfrm>
            <a:off x="5532120" y="4197096"/>
            <a:ext cx="30632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95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Graceful error handling with clear user messages</a:t>
            </a:r>
            <a:endParaRPr lang="en-US" sz="950" dirty="0"/>
          </a:p>
        </p:txBody>
      </p:sp>
      <p:sp>
        <p:nvSpPr>
          <p:cNvPr id="48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</p:spTree>
  </p:cSld>
  <p:clrMapOvr>
    <a:masterClrMapping/>
  </p:clrMapOvr>
  <p:transition spd="slow">
    <p:wipe/>
  </p:transition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0206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 Implementation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804672"/>
            <a:ext cx="8229600" cy="36576"/>
          </a:xfrm>
          <a:prstGeom prst="rect">
            <a:avLst/>
          </a:prstGeom>
          <a:solidFill>
            <a:srgbClr val="1E5FAD"/>
          </a:solidFill>
          <a:ln w="12700">
            <a:solidFill>
              <a:srgbClr val="1E5FAD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20040" y="960120"/>
            <a:ext cx="2633472" cy="1755648"/>
          </a:xfrm>
          <a:prstGeom prst="rect">
            <a:avLst/>
          </a:prstGeom>
          <a:solidFill>
            <a:srgbClr val="1E5FAD"/>
          </a:solidFill>
          <a:ln w="12700">
            <a:solidFill>
              <a:srgbClr val="1E5FAD"/>
            </a:solidFill>
            <a:prstDash val="solid"/>
          </a:ln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9768" y="1051560"/>
            <a:ext cx="347472" cy="347472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850392" y="105156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CSRF Protection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429768" y="1472184"/>
            <a:ext cx="24231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90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Django CsrfViewMiddleware enabled on all forms. Every form includes csrf_token tag. Prevents cross-site request forgery attacks. Invalid tokens return HTTP 403 Forbidden.</a:t>
            </a:r>
            <a:endParaRPr lang="en-US" sz="900" dirty="0"/>
          </a:p>
        </p:txBody>
      </p:sp>
      <p:sp>
        <p:nvSpPr>
          <p:cNvPr id="8" name="Shape 5"/>
          <p:cNvSpPr/>
          <p:nvPr/>
        </p:nvSpPr>
        <p:spPr>
          <a:xfrm>
            <a:off x="3172968" y="960120"/>
            <a:ext cx="2633472" cy="1755648"/>
          </a:xfrm>
          <a:prstGeom prst="rect">
            <a:avLst/>
          </a:prstGeom>
          <a:solidFill>
            <a:srgbClr val="145A32"/>
          </a:solidFill>
          <a:ln w="12700">
            <a:solidFill>
              <a:srgbClr val="1E5FAD"/>
            </a:solidFill>
            <a:prstDash val="solid"/>
          </a:ln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</p:sp>
      <p:pic>
        <p:nvPicPr>
          <p:cNvPr id="9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82696" y="1051560"/>
            <a:ext cx="347472" cy="347472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3703320" y="105156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 Injection Prevention</a:t>
            </a:r>
            <a:endParaRPr lang="en-US" sz="1000" dirty="0"/>
          </a:p>
        </p:txBody>
      </p:sp>
      <p:sp>
        <p:nvSpPr>
          <p:cNvPr id="11" name="Text 7"/>
          <p:cNvSpPr/>
          <p:nvPr/>
        </p:nvSpPr>
        <p:spPr>
          <a:xfrm>
            <a:off x="3282696" y="1472184"/>
            <a:ext cx="24231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90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Django ORM uses parameterized queries throughout. All database interactions filtered via ORM abstraction. All injection attempts blocked in security testing.</a:t>
            </a:r>
            <a:endParaRPr lang="en-US" sz="900" dirty="0"/>
          </a:p>
        </p:txBody>
      </p:sp>
      <p:sp>
        <p:nvSpPr>
          <p:cNvPr id="12" name="Shape 8"/>
          <p:cNvSpPr/>
          <p:nvPr/>
        </p:nvSpPr>
        <p:spPr>
          <a:xfrm>
            <a:off x="6025896" y="960120"/>
            <a:ext cx="2633472" cy="1755648"/>
          </a:xfrm>
          <a:prstGeom prst="rect">
            <a:avLst/>
          </a:prstGeom>
          <a:solidFill>
            <a:srgbClr val="7D6608"/>
          </a:solidFill>
          <a:ln w="12700">
            <a:solidFill>
              <a:srgbClr val="1E5FAD"/>
            </a:solidFill>
            <a:prstDash val="solid"/>
          </a:ln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</p:sp>
      <p:pic>
        <p:nvPicPr>
          <p:cNvPr id="13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35624" y="1051560"/>
            <a:ext cx="347472" cy="347472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6556248" y="105156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XSS Prevention</a:t>
            </a:r>
            <a:endParaRPr lang="en-US" sz="1000" dirty="0"/>
          </a:p>
        </p:txBody>
      </p:sp>
      <p:sp>
        <p:nvSpPr>
          <p:cNvPr id="15" name="Text 10"/>
          <p:cNvSpPr/>
          <p:nvPr/>
        </p:nvSpPr>
        <p:spPr>
          <a:xfrm>
            <a:off x="6135624" y="1472184"/>
            <a:ext cx="24231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90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Automatic HTML escaping in all Django templates. User-submitted content sanitized before rendering. All injected script tags neutralized.</a:t>
            </a:r>
            <a:endParaRPr lang="en-US" sz="900" dirty="0"/>
          </a:p>
        </p:txBody>
      </p:sp>
      <p:sp>
        <p:nvSpPr>
          <p:cNvPr id="16" name="Shape 11"/>
          <p:cNvSpPr/>
          <p:nvPr/>
        </p:nvSpPr>
        <p:spPr>
          <a:xfrm>
            <a:off x="320040" y="2898648"/>
            <a:ext cx="2633472" cy="1755648"/>
          </a:xfrm>
          <a:prstGeom prst="rect">
            <a:avLst/>
          </a:prstGeom>
          <a:solidFill>
            <a:srgbClr val="6E2FBD"/>
          </a:solidFill>
          <a:ln w="12700">
            <a:solidFill>
              <a:srgbClr val="1E5FAD"/>
            </a:solidFill>
            <a:prstDash val="solid"/>
          </a:ln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</p:sp>
      <p:pic>
        <p:nvPicPr>
          <p:cNvPr id="17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29768" y="2990088"/>
            <a:ext cx="347472" cy="347472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850392" y="2990088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Password Security</a:t>
            </a:r>
            <a:endParaRPr lang="en-US" sz="1000" dirty="0"/>
          </a:p>
        </p:txBody>
      </p:sp>
      <p:sp>
        <p:nvSpPr>
          <p:cNvPr id="19" name="Text 13"/>
          <p:cNvSpPr/>
          <p:nvPr/>
        </p:nvSpPr>
        <p:spPr>
          <a:xfrm>
            <a:off x="429768" y="3410712"/>
            <a:ext cx="24231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90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PBKDF2-SHA256 algorithm with 180,000 iterations and random salt. No plain-text passwords stored. Django password strength validators enforced.</a:t>
            </a:r>
            <a:endParaRPr lang="en-US" sz="900" dirty="0"/>
          </a:p>
        </p:txBody>
      </p:sp>
      <p:sp>
        <p:nvSpPr>
          <p:cNvPr id="20" name="Shape 14"/>
          <p:cNvSpPr/>
          <p:nvPr/>
        </p:nvSpPr>
        <p:spPr>
          <a:xfrm>
            <a:off x="3172968" y="2898648"/>
            <a:ext cx="2633472" cy="1755648"/>
          </a:xfrm>
          <a:prstGeom prst="rect">
            <a:avLst/>
          </a:prstGeom>
          <a:solidFill>
            <a:srgbClr val="1A5276"/>
          </a:solidFill>
          <a:ln w="12700">
            <a:solidFill>
              <a:srgbClr val="1E5FAD"/>
            </a:solidFill>
            <a:prstDash val="solid"/>
          </a:ln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</p:sp>
      <p:pic>
        <p:nvPicPr>
          <p:cNvPr id="21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282696" y="2990088"/>
            <a:ext cx="347472" cy="347472"/>
          </a:xfrm>
          <a:prstGeom prst="rect">
            <a:avLst/>
          </a:prstGeom>
        </p:spPr>
      </p:pic>
      <p:sp>
        <p:nvSpPr>
          <p:cNvPr id="22" name="Text 15"/>
          <p:cNvSpPr/>
          <p:nvPr/>
        </p:nvSpPr>
        <p:spPr>
          <a:xfrm>
            <a:off x="3703320" y="2990088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Role-Based Access Control</a:t>
            </a:r>
            <a:endParaRPr lang="en-US" sz="1000" dirty="0"/>
          </a:p>
        </p:txBody>
      </p:sp>
      <p:sp>
        <p:nvSpPr>
          <p:cNvPr id="23" name="Text 16"/>
          <p:cNvSpPr/>
          <p:nvPr/>
        </p:nvSpPr>
        <p:spPr>
          <a:xfrm>
            <a:off x="3282696" y="3410712"/>
            <a:ext cx="24231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90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@login_required decorator on all sensitive views. Role checks prevent cross-role access (seeker ↔ employer). Unauthenticated access redirected to login page.</a:t>
            </a:r>
            <a:endParaRPr lang="en-US" sz="900" dirty="0"/>
          </a:p>
        </p:txBody>
      </p:sp>
      <p:sp>
        <p:nvSpPr>
          <p:cNvPr id="24" name="Shape 17"/>
          <p:cNvSpPr/>
          <p:nvPr/>
        </p:nvSpPr>
        <p:spPr>
          <a:xfrm>
            <a:off x="6025896" y="2898648"/>
            <a:ext cx="2633472" cy="1755648"/>
          </a:xfrm>
          <a:prstGeom prst="rect">
            <a:avLst/>
          </a:prstGeom>
          <a:solidFill>
            <a:srgbClr val="5D2E8C"/>
          </a:solidFill>
          <a:ln w="12700">
            <a:solidFill>
              <a:srgbClr val="1E5FAD"/>
            </a:solidFill>
            <a:prstDash val="solid"/>
          </a:ln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</p:sp>
      <p:pic>
        <p:nvPicPr>
          <p:cNvPr id="25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135624" y="2990088"/>
            <a:ext cx="347472" cy="347472"/>
          </a:xfrm>
          <a:prstGeom prst="rect">
            <a:avLst/>
          </a:prstGeom>
        </p:spPr>
      </p:pic>
      <p:sp>
        <p:nvSpPr>
          <p:cNvPr id="26" name="Text 18"/>
          <p:cNvSpPr/>
          <p:nvPr/>
        </p:nvSpPr>
        <p:spPr>
          <a:xfrm>
            <a:off x="6556248" y="2990088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Secure File Upload</a:t>
            </a:r>
            <a:endParaRPr lang="en-US" sz="1000" dirty="0"/>
          </a:p>
        </p:txBody>
      </p:sp>
      <p:sp>
        <p:nvSpPr>
          <p:cNvPr id="27" name="Text 19"/>
          <p:cNvSpPr/>
          <p:nvPr/>
        </p:nvSpPr>
        <p:spPr>
          <a:xfrm>
            <a:off x="6135624" y="3410712"/>
            <a:ext cx="24231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90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 type and size validation </a:t>
            </a:r>
            <a:r>
              <a:rPr lang="en-US" sz="900" dirty="0" smtClean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90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Files stored outside web root in </a:t>
            </a:r>
            <a:r>
              <a:rPr lang="en-US" sz="900" dirty="0" smtClean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static directory</a:t>
            </a:r>
            <a:r>
              <a:rPr lang="en-US" sz="90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Served via Django's file serving, not direct URL access.</a:t>
            </a:r>
            <a:endParaRPr lang="en-US" sz="900" dirty="0"/>
          </a:p>
        </p:txBody>
      </p:sp>
      <p:sp>
        <p:nvSpPr>
          <p:cNvPr id="28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FF0000"/>
          </a:solidFill>
          <a:ln w="12700">
            <a:solidFill>
              <a:srgbClr val="00B4D8"/>
            </a:solidFill>
            <a:prstDash val="solid"/>
          </a:ln>
        </p:spPr>
      </p:sp>
    </p:spTree>
  </p:cSld>
  <p:clrMapOvr>
    <a:masterClrMapping/>
  </p:clrMapOvr>
  <p:transition spd="slow">
    <p:wipe/>
  </p:transition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12">
    <p:bg>
      <p:bgPr>
        <a:solidFill>
          <a:srgbClr val="00206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Testing Strategy &amp; Unit Testing Results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804672"/>
            <a:ext cx="8229600" cy="36576"/>
          </a:xfrm>
          <a:prstGeom prst="rect">
            <a:avLst/>
          </a:prstGeom>
          <a:solidFill>
            <a:srgbClr val="1E5FAD"/>
          </a:solidFill>
          <a:ln w="12700">
            <a:solidFill>
              <a:srgbClr val="1E5FAD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20040" y="960120"/>
            <a:ext cx="1554480" cy="777240"/>
          </a:xfrm>
          <a:prstGeom prst="rect">
            <a:avLst/>
          </a:prstGeom>
          <a:solidFill>
            <a:srgbClr val="1E5FAD"/>
          </a:solidFill>
          <a:ln w="12700">
            <a:solidFill>
              <a:srgbClr val="1E5FAD"/>
            </a:solidFill>
            <a:prstDash val="solid"/>
          </a:ln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320040" y="987552"/>
            <a:ext cx="1554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320040" y="1261872"/>
            <a:ext cx="1554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43 test cases</a:t>
            </a:r>
            <a:endParaRPr lang="en-US" sz="850" dirty="0"/>
          </a:p>
          <a:p>
            <a:pPr marL="0" indent="0" algn="ctr">
              <a:buNone/>
            </a:pPr>
            <a:r>
              <a:rPr lang="en-US" sz="85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PASS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2020824" y="960120"/>
            <a:ext cx="1554480" cy="777240"/>
          </a:xfrm>
          <a:prstGeom prst="rect">
            <a:avLst/>
          </a:prstGeom>
          <a:solidFill>
            <a:srgbClr val="145A32"/>
          </a:solidFill>
          <a:ln w="12700">
            <a:solidFill>
              <a:srgbClr val="1E5FAD"/>
            </a:solidFill>
            <a:prstDash val="solid"/>
          </a:ln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2020824" y="987552"/>
            <a:ext cx="1554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Integration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2020824" y="1261872"/>
            <a:ext cx="1554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scenarios</a:t>
            </a:r>
            <a:endParaRPr lang="en-US" sz="850" dirty="0"/>
          </a:p>
          <a:p>
            <a:pPr marL="0" indent="0" algn="ctr">
              <a:buNone/>
            </a:pPr>
            <a:r>
              <a:rPr lang="en-US" sz="85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PASS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3721608" y="960120"/>
            <a:ext cx="1554480" cy="777240"/>
          </a:xfrm>
          <a:prstGeom prst="rect">
            <a:avLst/>
          </a:prstGeom>
          <a:solidFill>
            <a:srgbClr val="7D6608"/>
          </a:solidFill>
          <a:ln w="12700">
            <a:solidFill>
              <a:srgbClr val="1E5FAD"/>
            </a:solidFill>
            <a:prstDash val="solid"/>
          </a:ln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721608" y="987552"/>
            <a:ext cx="1554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Functional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3721608" y="1261872"/>
            <a:ext cx="1554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End-to-end</a:t>
            </a:r>
            <a:endParaRPr lang="en-US" sz="850" dirty="0"/>
          </a:p>
          <a:p>
            <a:pPr marL="0" indent="0" algn="ctr">
              <a:buNone/>
            </a:pPr>
            <a:r>
              <a:rPr lang="en-US" sz="85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workflows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5422392" y="960120"/>
            <a:ext cx="1554480" cy="777240"/>
          </a:xfrm>
          <a:prstGeom prst="rect">
            <a:avLst/>
          </a:prstGeom>
          <a:solidFill>
            <a:srgbClr val="6E2FBD"/>
          </a:solidFill>
          <a:ln w="12700">
            <a:solidFill>
              <a:srgbClr val="1E5FAD"/>
            </a:solidFill>
            <a:prstDash val="solid"/>
          </a:ln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5422392" y="987552"/>
            <a:ext cx="1554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Usability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5422392" y="1261872"/>
            <a:ext cx="1554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real users</a:t>
            </a:r>
            <a:endParaRPr lang="en-US" sz="850" dirty="0"/>
          </a:p>
          <a:p>
            <a:pPr marL="0" indent="0" algn="ctr">
              <a:buNone/>
            </a:pPr>
            <a:r>
              <a:rPr lang="en-US" sz="85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observed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7123176" y="960120"/>
            <a:ext cx="1554480" cy="777240"/>
          </a:xfrm>
          <a:prstGeom prst="rect">
            <a:avLst/>
          </a:prstGeom>
          <a:solidFill>
            <a:srgbClr val="1A5276"/>
          </a:solidFill>
          <a:ln w="12700">
            <a:solidFill>
              <a:srgbClr val="1E5FAD"/>
            </a:solidFill>
            <a:prstDash val="solid"/>
          </a:ln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7123176" y="987552"/>
            <a:ext cx="1554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7123176" y="1261872"/>
            <a:ext cx="1554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SQL/XSS/</a:t>
            </a:r>
            <a:endParaRPr lang="en-US" sz="850" dirty="0"/>
          </a:p>
          <a:p>
            <a:pPr marL="0" indent="0" algn="ctr">
              <a:buNone/>
            </a:pPr>
            <a:r>
              <a:rPr lang="en-US" sz="85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CSRF tested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320040" y="18745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 Tests: 43/43 Passed</a:t>
            </a:r>
            <a:endParaRPr lang="en-US" sz="1200" dirty="0"/>
          </a:p>
        </p:txBody>
      </p:sp>
      <p:graphicFrame>
        <p:nvGraphicFramePr>
          <p:cNvPr id="20" name="Chart 0"/>
          <p:cNvGraphicFramePr/>
          <p:nvPr>
            <p:extLst>
              <p:ext uri="{D42A27DB-BD31-4B8C-83A1-F6EECF244321}">
                <p14:modId xmlns:p14="http://schemas.microsoft.com/office/powerpoint/2010/main" val="602404285"/>
              </p:ext>
            </p:extLst>
          </p:nvPr>
        </p:nvGraphicFramePr>
        <p:xfrm>
          <a:off x="320040" y="2194560"/>
          <a:ext cx="5120640" cy="26060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21" name="Shape 18"/>
          <p:cNvSpPr/>
          <p:nvPr/>
        </p:nvSpPr>
        <p:spPr>
          <a:xfrm>
            <a:off x="5623560" y="1874520"/>
            <a:ext cx="3200400" cy="2926080"/>
          </a:xfrm>
          <a:prstGeom prst="rect">
            <a:avLst/>
          </a:prstGeom>
          <a:solidFill>
            <a:srgbClr val="102845"/>
          </a:solidFill>
          <a:ln w="12700">
            <a:solidFill>
              <a:srgbClr val="1E5FAD"/>
            </a:solidFill>
            <a:prstDash val="solid"/>
          </a:ln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</p:sp>
      <p:sp>
        <p:nvSpPr>
          <p:cNvPr id="22" name="Text 19"/>
          <p:cNvSpPr/>
          <p:nvPr/>
        </p:nvSpPr>
        <p:spPr>
          <a:xfrm>
            <a:off x="5760720" y="1920240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 Test Results</a:t>
            </a:r>
            <a:endParaRPr lang="en-US" sz="1100" dirty="0"/>
          </a:p>
        </p:txBody>
      </p:sp>
      <p:sp>
        <p:nvSpPr>
          <p:cNvPr id="23" name="Text 20"/>
          <p:cNvSpPr/>
          <p:nvPr/>
        </p:nvSpPr>
        <p:spPr>
          <a:xfrm>
            <a:off x="5760720" y="2286000"/>
            <a:ext cx="1737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 Injection</a:t>
            </a:r>
            <a:endParaRPr lang="en-US" sz="950" dirty="0"/>
          </a:p>
        </p:txBody>
      </p:sp>
      <p:sp>
        <p:nvSpPr>
          <p:cNvPr id="24" name="Text 21"/>
          <p:cNvSpPr/>
          <p:nvPr/>
        </p:nvSpPr>
        <p:spPr>
          <a:xfrm>
            <a:off x="7498080" y="2286000"/>
            <a:ext cx="1234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b="1" dirty="0">
                <a:solidFill>
                  <a:srgbClr val="06D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BLOCKED ✓</a:t>
            </a:r>
            <a:endParaRPr lang="en-US" sz="900" dirty="0"/>
          </a:p>
        </p:txBody>
      </p:sp>
      <p:sp>
        <p:nvSpPr>
          <p:cNvPr id="25" name="Text 22"/>
          <p:cNvSpPr/>
          <p:nvPr/>
        </p:nvSpPr>
        <p:spPr>
          <a:xfrm>
            <a:off x="5760720" y="2688336"/>
            <a:ext cx="1737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XSS Attack</a:t>
            </a:r>
            <a:endParaRPr lang="en-US" sz="950" dirty="0"/>
          </a:p>
        </p:txBody>
      </p:sp>
      <p:sp>
        <p:nvSpPr>
          <p:cNvPr id="26" name="Text 23"/>
          <p:cNvSpPr/>
          <p:nvPr/>
        </p:nvSpPr>
        <p:spPr>
          <a:xfrm>
            <a:off x="7498080" y="2688336"/>
            <a:ext cx="1234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b="1" dirty="0">
                <a:solidFill>
                  <a:srgbClr val="06D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BLOCKED ✓</a:t>
            </a:r>
            <a:endParaRPr lang="en-US" sz="900" dirty="0"/>
          </a:p>
        </p:txBody>
      </p:sp>
      <p:sp>
        <p:nvSpPr>
          <p:cNvPr id="27" name="Text 24"/>
          <p:cNvSpPr/>
          <p:nvPr/>
        </p:nvSpPr>
        <p:spPr>
          <a:xfrm>
            <a:off x="5760720" y="3090672"/>
            <a:ext cx="1737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CSRF Forgery</a:t>
            </a:r>
            <a:endParaRPr lang="en-US" sz="950" dirty="0"/>
          </a:p>
        </p:txBody>
      </p:sp>
      <p:sp>
        <p:nvSpPr>
          <p:cNvPr id="28" name="Text 25"/>
          <p:cNvSpPr/>
          <p:nvPr/>
        </p:nvSpPr>
        <p:spPr>
          <a:xfrm>
            <a:off x="7498080" y="3090672"/>
            <a:ext cx="1234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b="1" dirty="0">
                <a:solidFill>
                  <a:srgbClr val="06D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BLOCKED ✓</a:t>
            </a:r>
            <a:endParaRPr lang="en-US" sz="900" dirty="0"/>
          </a:p>
        </p:txBody>
      </p:sp>
      <p:sp>
        <p:nvSpPr>
          <p:cNvPr id="29" name="Text 26"/>
          <p:cNvSpPr/>
          <p:nvPr/>
        </p:nvSpPr>
        <p:spPr>
          <a:xfrm>
            <a:off x="5760720" y="3493008"/>
            <a:ext cx="1737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Unauth Access</a:t>
            </a:r>
            <a:endParaRPr lang="en-US" sz="950" dirty="0"/>
          </a:p>
        </p:txBody>
      </p:sp>
      <p:sp>
        <p:nvSpPr>
          <p:cNvPr id="30" name="Text 27"/>
          <p:cNvSpPr/>
          <p:nvPr/>
        </p:nvSpPr>
        <p:spPr>
          <a:xfrm>
            <a:off x="7498080" y="3493008"/>
            <a:ext cx="1234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b="1" dirty="0">
                <a:solidFill>
                  <a:srgbClr val="06D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REDIRECTED ✓</a:t>
            </a:r>
            <a:endParaRPr lang="en-US" sz="900" dirty="0"/>
          </a:p>
        </p:txBody>
      </p:sp>
      <p:sp>
        <p:nvSpPr>
          <p:cNvPr id="31" name="Text 28"/>
          <p:cNvSpPr/>
          <p:nvPr/>
        </p:nvSpPr>
        <p:spPr>
          <a:xfrm>
            <a:off x="5760720" y="3895344"/>
            <a:ext cx="1737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 Cross-Access</a:t>
            </a:r>
            <a:endParaRPr lang="en-US" sz="950" dirty="0"/>
          </a:p>
        </p:txBody>
      </p:sp>
      <p:sp>
        <p:nvSpPr>
          <p:cNvPr id="32" name="Text 29"/>
          <p:cNvSpPr/>
          <p:nvPr/>
        </p:nvSpPr>
        <p:spPr>
          <a:xfrm>
            <a:off x="7498080" y="3895344"/>
            <a:ext cx="1234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b="1" dirty="0">
                <a:solidFill>
                  <a:srgbClr val="06D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DENIED ✓</a:t>
            </a:r>
            <a:endParaRPr lang="en-US" sz="900" dirty="0"/>
          </a:p>
        </p:txBody>
      </p:sp>
      <p:sp>
        <p:nvSpPr>
          <p:cNvPr id="33" name="Text 30"/>
          <p:cNvSpPr/>
          <p:nvPr/>
        </p:nvSpPr>
        <p:spPr>
          <a:xfrm>
            <a:off x="5760720" y="4297680"/>
            <a:ext cx="1737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Plain-text </a:t>
            </a:r>
            <a:r>
              <a:rPr lang="en-US" sz="950" dirty="0" smtClean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Passwords for admin</a:t>
            </a:r>
            <a:endParaRPr lang="en-US" sz="950" dirty="0"/>
          </a:p>
        </p:txBody>
      </p:sp>
      <p:sp>
        <p:nvSpPr>
          <p:cNvPr id="34" name="Text 31"/>
          <p:cNvSpPr/>
          <p:nvPr/>
        </p:nvSpPr>
        <p:spPr>
          <a:xfrm>
            <a:off x="7498080" y="4297680"/>
            <a:ext cx="1234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b="1" dirty="0">
                <a:solidFill>
                  <a:srgbClr val="06D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STORED ✓</a:t>
            </a:r>
            <a:endParaRPr lang="en-US" sz="900" dirty="0"/>
          </a:p>
        </p:txBody>
      </p:sp>
      <p:sp>
        <p:nvSpPr>
          <p:cNvPr id="35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</p:spTree>
  </p:cSld>
  <p:clrMapOvr>
    <a:masterClrMapping/>
  </p:clrMapOvr>
  <p:transition spd="slow">
    <p:wipe/>
  </p:transition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206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FF0000"/>
          </a:solidFill>
          <a:ln w="12700">
            <a:solidFill>
              <a:srgbClr val="00B4D8"/>
            </a:solidFill>
            <a:prstDash val="solid"/>
          </a:ln>
        </p:spPr>
      </p:sp>
      <p:pic>
        <p:nvPicPr>
          <p:cNvPr id="37" name="Picture 3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4592" y="-6578"/>
            <a:ext cx="8898591" cy="51500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89924928"/>
      </p:ext>
    </p:extLst>
  </p:cSld>
  <p:clrMapOvr>
    <a:masterClrMapping/>
  </p:clrMapOvr>
  <p:transition spd="slow">
    <p:wipe/>
  </p:transition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206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FF0000"/>
          </a:solidFill>
          <a:ln w="12700">
            <a:solidFill>
              <a:srgbClr val="00B4D8"/>
            </a:solidFill>
            <a:prstDash val="solid"/>
          </a:ln>
        </p:spPr>
      </p:sp>
      <p:pic>
        <p:nvPicPr>
          <p:cNvPr id="38" name="Picture 37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4592" y="0"/>
            <a:ext cx="8956646" cy="51434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65851087"/>
      </p:ext>
    </p:extLst>
  </p:cSld>
  <p:clrMapOvr>
    <a:masterClrMapping/>
  </p:clrMapOvr>
  <p:transition spd="slow">
    <p:wipe/>
  </p:transition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206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FF0000"/>
          </a:solidFill>
          <a:ln w="12700">
            <a:solidFill>
              <a:srgbClr val="00B4D8"/>
            </a:solidFill>
            <a:prstDash val="solid"/>
          </a:ln>
        </p:spPr>
      </p:sp>
      <p:pic>
        <p:nvPicPr>
          <p:cNvPr id="2" name="Picture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4592" y="0"/>
            <a:ext cx="8979408" cy="514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39732352"/>
      </p:ext>
    </p:extLst>
  </p:cSld>
  <p:clrMapOvr>
    <a:masterClrMapping/>
  </p:clrMapOvr>
  <p:transition spd="slow">
    <p:wipe/>
  </p:transition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13">
    <p:bg>
      <p:bgPr>
        <a:solidFill>
          <a:srgbClr val="00206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Integration Testing Results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804672"/>
            <a:ext cx="8229600" cy="36576"/>
          </a:xfrm>
          <a:prstGeom prst="rect">
            <a:avLst/>
          </a:prstGeom>
          <a:solidFill>
            <a:srgbClr val="1E5FAD"/>
          </a:solidFill>
          <a:ln w="12700">
            <a:solidFill>
              <a:srgbClr val="1E5FAD"/>
            </a:solidFill>
            <a:prstDash val="solid"/>
          </a:ln>
        </p:spPr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960120"/>
          <a:ext cx="8046720" cy="2199640"/>
        </p:xfrm>
        <a:graphic>
          <a:graphicData uri="http://schemas.openxmlformats.org/drawingml/2006/table">
            <a:tbl>
              <a:tblPr/>
              <a:tblGrid>
                <a:gridCol w="594360"/>
                <a:gridCol w="2743200"/>
                <a:gridCol w="3886200"/>
                <a:gridCol w="822960"/>
              </a:tblGrid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ID</a:t>
                      </a:r>
                      <a:endParaRPr lang="en-US" sz="10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5FA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Scenario</a:t>
                      </a:r>
                      <a:endParaRPr lang="en-US" sz="10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5FA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Expected / Actual Outcome</a:t>
                      </a:r>
                      <a:endParaRPr lang="en-US" sz="10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5FA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Result</a:t>
                      </a:r>
                      <a:endParaRPr lang="en-US" sz="10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5FAD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48CAE4"/>
                          </a:solidFill>
                        </a:rPr>
                        <a:t>IT-01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284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E8F4FD"/>
                          </a:solidFill>
                        </a:rPr>
                        <a:t>Job seeker registers → completes profile → views listings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284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E8F4FD"/>
                          </a:solidFill>
                        </a:rPr>
                        <a:t>User created; profile saved; listings display correctly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284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06D6A0"/>
                          </a:solidFill>
                        </a:rPr>
                        <a:t>PASS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2845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48CAE4"/>
                          </a:solidFill>
                        </a:rPr>
                        <a:t>IT-02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213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E8F4FD"/>
                          </a:solidFill>
                        </a:rPr>
                        <a:t>Employer registers → posts job → job appears in search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213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E8F4FD"/>
                          </a:solidFill>
                        </a:rPr>
                        <a:t>Employer account &amp; job listing saved; appears in public search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213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06D6A0"/>
                          </a:solidFill>
                        </a:rPr>
                        <a:t>PASS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213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48CAE4"/>
                          </a:solidFill>
                        </a:rPr>
                        <a:t>IT-03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284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E8F4FD"/>
                          </a:solidFill>
                        </a:rPr>
                        <a:t>Seeker applies → employer sees application → updates status → seeker sees update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284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E8F4FD"/>
                          </a:solidFill>
                        </a:rPr>
                        <a:t>Full application lifecycle with real-time status sync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284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06D6A0"/>
                          </a:solidFill>
                        </a:rPr>
                        <a:t>PASS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2845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48CAE4"/>
                          </a:solidFill>
                        </a:rPr>
                        <a:t>IT-04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213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E8F4FD"/>
                          </a:solidFill>
                        </a:rPr>
                        <a:t>Unauthenticated user attempts to apply for a job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213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E8F4FD"/>
                          </a:solidFill>
                        </a:rPr>
                        <a:t>User redirected to login page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213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06D6A0"/>
                          </a:solidFill>
                        </a:rPr>
                        <a:t>PASS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213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48CAE4"/>
                          </a:solidFill>
                        </a:rPr>
                        <a:t>IT-05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284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E8F4FD"/>
                          </a:solidFill>
                        </a:rPr>
                        <a:t>Job seeker attempts to access employer dashboard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284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E8F4FD"/>
                          </a:solidFill>
                        </a:rPr>
                        <a:t>Redirected to home with access denied message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284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06D6A0"/>
                          </a:solidFill>
                        </a:rPr>
                        <a:t>PASS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2845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48CAE4"/>
                          </a:solidFill>
                        </a:rPr>
                        <a:t>IT-06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213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E8F4FD"/>
                          </a:solidFill>
                        </a:rPr>
                        <a:t>Employer deactivates job listing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213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E8F4FD"/>
                          </a:solidFill>
                        </a:rPr>
                        <a:t>Job disappears from public search immediately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213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06D6A0"/>
                          </a:solidFill>
                        </a:rPr>
                        <a:t>PASS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213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48CAE4"/>
                          </a:solidFill>
                        </a:rPr>
                        <a:t>IT-07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284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E8F4FD"/>
                          </a:solidFill>
                        </a:rPr>
                        <a:t>Job seeker applies twice to the same job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284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E8F4FD"/>
                          </a:solidFill>
                        </a:rPr>
                        <a:t>Second application rejected; user sees 'already applied' message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284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06D6A0"/>
                          </a:solidFill>
                        </a:rPr>
                        <a:t>PASS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2845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320040" y="4617720"/>
            <a:ext cx="8503920" cy="384048"/>
          </a:xfrm>
          <a:prstGeom prst="rect">
            <a:avLst/>
          </a:prstGeom>
          <a:solidFill>
            <a:srgbClr val="1A4B8C"/>
          </a:solidFill>
          <a:ln w="12700">
            <a:solidFill>
              <a:srgbClr val="1E5FAD"/>
            </a:solidFill>
            <a:prstDash val="solid"/>
          </a:ln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457200" y="46634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/ 7 Integration Scenarios: ALL PASSED  |  System modules interact correctly across all tested workflows</a:t>
            </a:r>
            <a:endParaRPr lang="en-US" sz="1050" dirty="0"/>
          </a:p>
        </p:txBody>
      </p:sp>
      <p:sp>
        <p:nvSpPr>
          <p:cNvPr id="7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</p:spTree>
  </p:cSld>
  <p:clrMapOvr>
    <a:masterClrMapping/>
  </p:clrMapOvr>
  <p:transition spd="slow">
    <p:wipe/>
  </p:transition>
  <p:timing>
    <p:tnLst>
      <p:par>
        <p:cTn id="1" dur="indefinite" restart="never" nodeType="tmRoot"/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14">
    <p:bg>
      <p:bgPr>
        <a:solidFill>
          <a:srgbClr val="00206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 Acceptance Testing (UAT) Results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804672"/>
            <a:ext cx="8229600" cy="36576"/>
          </a:xfrm>
          <a:prstGeom prst="rect">
            <a:avLst/>
          </a:prstGeom>
          <a:solidFill>
            <a:srgbClr val="1E5FAD"/>
          </a:solidFill>
          <a:ln w="12700">
            <a:solidFill>
              <a:srgbClr val="1E5FA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20040" y="950976"/>
            <a:ext cx="8503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B0C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Participants: 4 Job Seekers (recent graduates) + 4 HR Professionals as Employers</a:t>
            </a:r>
            <a:endParaRPr lang="en-US" sz="1050" dirty="0"/>
          </a:p>
        </p:txBody>
      </p:sp>
      <p:graphicFrame>
        <p:nvGraphicFramePr>
          <p:cNvPr id="5" name="Chart 0"/>
          <p:cNvGraphicFramePr/>
          <p:nvPr/>
        </p:nvGraphicFramePr>
        <p:xfrm>
          <a:off x="320040" y="1298448"/>
          <a:ext cx="5303520" cy="34747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6" name="Shape 3"/>
          <p:cNvSpPr/>
          <p:nvPr/>
        </p:nvSpPr>
        <p:spPr>
          <a:xfrm>
            <a:off x="5852160" y="1298448"/>
            <a:ext cx="2971800" cy="804672"/>
          </a:xfrm>
          <a:prstGeom prst="rect">
            <a:avLst/>
          </a:prstGeom>
          <a:solidFill>
            <a:srgbClr val="0A3A2A"/>
          </a:solidFill>
          <a:ln w="12700">
            <a:solidFill>
              <a:srgbClr val="1E5FAD"/>
            </a:solidFill>
            <a:prstDash val="solid"/>
          </a:ln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5897880" y="1335024"/>
            <a:ext cx="1188720" cy="6949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06D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</a:t>
            </a:r>
            <a:endParaRPr lang="en-US" sz="3000" dirty="0"/>
          </a:p>
        </p:txBody>
      </p:sp>
      <p:sp>
        <p:nvSpPr>
          <p:cNvPr id="8" name="Text 5"/>
          <p:cNvSpPr/>
          <p:nvPr/>
        </p:nvSpPr>
        <p:spPr>
          <a:xfrm>
            <a:off x="7132320" y="1408176"/>
            <a:ext cx="16002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Rated Good or</a:t>
            </a:r>
            <a:endParaRPr lang="en-US" sz="10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Excellent Overall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5852160" y="2231136"/>
            <a:ext cx="2971800" cy="804672"/>
          </a:xfrm>
          <a:prstGeom prst="rect">
            <a:avLst/>
          </a:prstGeom>
          <a:solidFill>
            <a:srgbClr val="0A2A38"/>
          </a:solidFill>
          <a:ln w="12700">
            <a:solidFill>
              <a:srgbClr val="1E5FAD"/>
            </a:solidFill>
            <a:prstDash val="solid"/>
          </a:ln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</p:sp>
      <p:sp>
        <p:nvSpPr>
          <p:cNvPr id="10" name="Text 7"/>
          <p:cNvSpPr/>
          <p:nvPr/>
        </p:nvSpPr>
        <p:spPr>
          <a:xfrm>
            <a:off x="5897880" y="2267712"/>
            <a:ext cx="1188720" cy="6949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88%</a:t>
            </a:r>
            <a:endParaRPr lang="en-US" sz="3000" dirty="0"/>
          </a:p>
        </p:txBody>
      </p:sp>
      <p:sp>
        <p:nvSpPr>
          <p:cNvPr id="11" name="Text 8"/>
          <p:cNvSpPr/>
          <p:nvPr/>
        </p:nvSpPr>
        <p:spPr>
          <a:xfrm>
            <a:off x="7132320" y="2340864"/>
            <a:ext cx="16002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Rated Apply Process</a:t>
            </a:r>
            <a:endParaRPr lang="en-US" sz="10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Excellent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5852160" y="3163824"/>
            <a:ext cx="2971800" cy="804672"/>
          </a:xfrm>
          <a:prstGeom prst="rect">
            <a:avLst/>
          </a:prstGeom>
          <a:solidFill>
            <a:srgbClr val="2A2000"/>
          </a:solidFill>
          <a:ln w="12700">
            <a:solidFill>
              <a:srgbClr val="1E5FAD"/>
            </a:solidFill>
            <a:prstDash val="solid"/>
          </a:ln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</p:sp>
      <p:sp>
        <p:nvSpPr>
          <p:cNvPr id="13" name="Text 10"/>
          <p:cNvSpPr/>
          <p:nvPr/>
        </p:nvSpPr>
        <p:spPr>
          <a:xfrm>
            <a:off x="5897880" y="3200400"/>
            <a:ext cx="1188720" cy="6949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FFD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43</a:t>
            </a:r>
            <a:endParaRPr lang="en-US" sz="3000" dirty="0"/>
          </a:p>
        </p:txBody>
      </p:sp>
      <p:sp>
        <p:nvSpPr>
          <p:cNvPr id="14" name="Text 11"/>
          <p:cNvSpPr/>
          <p:nvPr/>
        </p:nvSpPr>
        <p:spPr>
          <a:xfrm>
            <a:off x="7132320" y="3273552"/>
            <a:ext cx="16002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 Tests</a:t>
            </a:r>
            <a:endParaRPr lang="en-US" sz="10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Passed</a:t>
            </a:r>
            <a:endParaRPr lang="en-US" sz="1000" dirty="0"/>
          </a:p>
        </p:txBody>
      </p:sp>
      <p:sp>
        <p:nvSpPr>
          <p:cNvPr id="15" name="Shape 12"/>
          <p:cNvSpPr/>
          <p:nvPr/>
        </p:nvSpPr>
        <p:spPr>
          <a:xfrm>
            <a:off x="5852160" y="4096512"/>
            <a:ext cx="2971800" cy="804672"/>
          </a:xfrm>
          <a:prstGeom prst="rect">
            <a:avLst/>
          </a:prstGeom>
          <a:solidFill>
            <a:srgbClr val="102845"/>
          </a:solidFill>
          <a:ln w="12700">
            <a:solidFill>
              <a:srgbClr val="1E5FAD"/>
            </a:solidFill>
            <a:prstDash val="solid"/>
          </a:ln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</p:sp>
      <p:sp>
        <p:nvSpPr>
          <p:cNvPr id="16" name="Text 13"/>
          <p:cNvSpPr/>
          <p:nvPr/>
        </p:nvSpPr>
        <p:spPr>
          <a:xfrm>
            <a:off x="5897880" y="4133088"/>
            <a:ext cx="1188720" cy="6949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1E5F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12/12</a:t>
            </a:r>
            <a:endParaRPr lang="en-US" sz="3000" dirty="0"/>
          </a:p>
        </p:txBody>
      </p:sp>
      <p:sp>
        <p:nvSpPr>
          <p:cNvPr id="17" name="Text 14"/>
          <p:cNvSpPr/>
          <p:nvPr/>
        </p:nvSpPr>
        <p:spPr>
          <a:xfrm>
            <a:off x="7132320" y="4206240"/>
            <a:ext cx="16002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Requirements</a:t>
            </a:r>
            <a:endParaRPr lang="en-US" sz="10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Fully Met</a:t>
            </a:r>
            <a:endParaRPr lang="en-US" sz="1000" dirty="0"/>
          </a:p>
        </p:txBody>
      </p:sp>
      <p:sp>
        <p:nvSpPr>
          <p:cNvPr id="18" name="Text 15"/>
          <p:cNvSpPr/>
          <p:nvPr/>
        </p:nvSpPr>
        <p:spPr>
          <a:xfrm>
            <a:off x="320040" y="4846320"/>
            <a:ext cx="20116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Participant Feedback:</a:t>
            </a:r>
            <a:endParaRPr lang="en-US" sz="950" dirty="0"/>
          </a:p>
        </p:txBody>
      </p:sp>
      <p:sp>
        <p:nvSpPr>
          <p:cNvPr id="19" name="Text 16"/>
          <p:cNvSpPr/>
          <p:nvPr/>
        </p:nvSpPr>
        <p:spPr>
          <a:xfrm>
            <a:off x="2240280" y="4846320"/>
            <a:ext cx="65836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B0C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"Clean &amp; professional interface"  •  "Application tracking feature was excellent"  •  "Significant improvement over paper-based processes"</a:t>
            </a:r>
            <a:endParaRPr lang="en-US" sz="900" dirty="0"/>
          </a:p>
        </p:txBody>
      </p:sp>
      <p:sp>
        <p:nvSpPr>
          <p:cNvPr id="20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</p:spTree>
  </p:cSld>
  <p:clrMapOvr>
    <a:masterClrMapping/>
  </p:clrMapOvr>
  <p:transition spd="slow">
    <p:wipe/>
  </p:transition>
  <p:timing>
    <p:tnLst>
      <p:par>
        <p:cTn id="1" dur="indefinite" restart="never" nodeType="tmRoot"/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15">
    <p:bg>
      <p:bgPr>
        <a:solidFill>
          <a:srgbClr val="00206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Evaluation — All Requirements Met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804672"/>
            <a:ext cx="8229600" cy="36576"/>
          </a:xfrm>
          <a:prstGeom prst="rect">
            <a:avLst/>
          </a:prstGeom>
          <a:solidFill>
            <a:srgbClr val="1E5FAD"/>
          </a:solidFill>
          <a:ln w="12700">
            <a:solidFill>
              <a:srgbClr val="1E5FAD"/>
            </a:solidFill>
            <a:prstDash val="solid"/>
          </a:ln>
        </p:spPr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960120"/>
          <a:ext cx="8503920" cy="2781300"/>
        </p:xfrm>
        <a:graphic>
          <a:graphicData uri="http://schemas.openxmlformats.org/drawingml/2006/table">
            <a:tbl>
              <a:tblPr/>
              <a:tblGrid>
                <a:gridCol w="640080"/>
                <a:gridCol w="1051560"/>
                <a:gridCol w="5852160"/>
                <a:gridCol w="960120"/>
              </a:tblGrid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</a:rPr>
                        <a:t>ID</a:t>
                      </a:r>
                      <a:endParaRPr lang="en-US" sz="950" dirty="0"/>
                    </a:p>
                  </a:txBody>
                  <a:tcPr marL="50800" marR="50800" marT="38100" marB="38100">
                    <a:lnL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5FA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</a:rPr>
                        <a:t>Type</a:t>
                      </a:r>
                      <a:endParaRPr lang="en-US" sz="950" dirty="0"/>
                    </a:p>
                  </a:txBody>
                  <a:tcPr marL="50800" marR="50800" marT="38100" marB="38100">
                    <a:lnL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5FA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</a:rPr>
                        <a:t>Requirement Description</a:t>
                      </a:r>
                      <a:endParaRPr lang="en-US" sz="950" dirty="0"/>
                    </a:p>
                  </a:txBody>
                  <a:tcPr marL="50800" marR="50800" marT="38100" marB="38100">
                    <a:lnL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5FA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</a:rPr>
                        <a:t>Status</a:t>
                      </a:r>
                      <a:endParaRPr lang="en-US" sz="950" dirty="0"/>
                    </a:p>
                  </a:txBody>
                  <a:tcPr marL="50800" marR="50800" marT="38100" marB="38100">
                    <a:lnL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5FAD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48CAE4"/>
                          </a:solidFill>
                        </a:rPr>
                        <a:t>FR-01</a:t>
                      </a:r>
                      <a:endParaRPr lang="en-US" sz="900" dirty="0"/>
                    </a:p>
                  </a:txBody>
                  <a:tcPr marL="50800" marR="50800" marT="38100" marB="38100">
                    <a:lnL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284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00B4D8"/>
                          </a:solidFill>
                        </a:rPr>
                        <a:t>Functional</a:t>
                      </a:r>
                      <a:endParaRPr lang="en-US" sz="900" dirty="0"/>
                    </a:p>
                  </a:txBody>
                  <a:tcPr marL="50800" marR="50800" marT="38100" marB="38100">
                    <a:lnL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284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E8F4FD"/>
                          </a:solidFill>
                        </a:rPr>
                        <a:t>Users register as job seeker or employer</a:t>
                      </a:r>
                      <a:endParaRPr lang="en-US" sz="900" dirty="0"/>
                    </a:p>
                  </a:txBody>
                  <a:tcPr marL="50800" marR="50800" marT="38100" marB="38100">
                    <a:lnL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284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06D6A0"/>
                          </a:solidFill>
                        </a:rPr>
                        <a:t>✓ Fully Met</a:t>
                      </a:r>
                      <a:endParaRPr lang="en-US" sz="900" dirty="0"/>
                    </a:p>
                  </a:txBody>
                  <a:tcPr marL="50800" marR="50800" marT="38100" marB="38100">
                    <a:lnL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2845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48CAE4"/>
                          </a:solidFill>
                        </a:rPr>
                        <a:t>FR-02</a:t>
                      </a:r>
                      <a:endParaRPr lang="en-US" sz="900" dirty="0"/>
                    </a:p>
                  </a:txBody>
                  <a:tcPr marL="50800" marR="50800" marT="38100" marB="38100">
                    <a:lnL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213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00B4D8"/>
                          </a:solidFill>
                        </a:rPr>
                        <a:t>Functional</a:t>
                      </a:r>
                      <a:endParaRPr lang="en-US" sz="900" dirty="0"/>
                    </a:p>
                  </a:txBody>
                  <a:tcPr marL="50800" marR="50800" marT="38100" marB="38100">
                    <a:lnL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213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E8F4FD"/>
                          </a:solidFill>
                        </a:rPr>
                        <a:t>Registered users log in and log out securely</a:t>
                      </a:r>
                      <a:endParaRPr lang="en-US" sz="900" dirty="0"/>
                    </a:p>
                  </a:txBody>
                  <a:tcPr marL="50800" marR="50800" marT="38100" marB="38100">
                    <a:lnL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213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06D6A0"/>
                          </a:solidFill>
                        </a:rPr>
                        <a:t>✓ Fully Met</a:t>
                      </a:r>
                      <a:endParaRPr lang="en-US" sz="900" dirty="0"/>
                    </a:p>
                  </a:txBody>
                  <a:tcPr marL="50800" marR="50800" marT="38100" marB="38100">
                    <a:lnL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213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48CAE4"/>
                          </a:solidFill>
                        </a:rPr>
                        <a:t>FR-03</a:t>
                      </a:r>
                      <a:endParaRPr lang="en-US" sz="900" dirty="0"/>
                    </a:p>
                  </a:txBody>
                  <a:tcPr marL="50800" marR="50800" marT="38100" marB="38100">
                    <a:lnL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284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00B4D8"/>
                          </a:solidFill>
                        </a:rPr>
                        <a:t>Functional</a:t>
                      </a:r>
                      <a:endParaRPr lang="en-US" sz="900" dirty="0"/>
                    </a:p>
                  </a:txBody>
                  <a:tcPr marL="50800" marR="50800" marT="38100" marB="38100">
                    <a:lnL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284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E8F4FD"/>
                          </a:solidFill>
                        </a:rPr>
                        <a:t>Job seekers create/edit profiles, upload resume</a:t>
                      </a:r>
                      <a:endParaRPr lang="en-US" sz="900" dirty="0"/>
                    </a:p>
                  </a:txBody>
                  <a:tcPr marL="50800" marR="50800" marT="38100" marB="38100">
                    <a:lnL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284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06D6A0"/>
                          </a:solidFill>
                        </a:rPr>
                        <a:t>✓ Fully Met</a:t>
                      </a:r>
                      <a:endParaRPr lang="en-US" sz="900" dirty="0"/>
                    </a:p>
                  </a:txBody>
                  <a:tcPr marL="50800" marR="50800" marT="38100" marB="38100">
                    <a:lnL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2845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48CAE4"/>
                          </a:solidFill>
                        </a:rPr>
                        <a:t>FR-04</a:t>
                      </a:r>
                      <a:endParaRPr lang="en-US" sz="900" dirty="0"/>
                    </a:p>
                  </a:txBody>
                  <a:tcPr marL="50800" marR="50800" marT="38100" marB="38100">
                    <a:lnL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213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00B4D8"/>
                          </a:solidFill>
                        </a:rPr>
                        <a:t>Functional</a:t>
                      </a:r>
                      <a:endParaRPr lang="en-US" sz="900" dirty="0"/>
                    </a:p>
                  </a:txBody>
                  <a:tcPr marL="50800" marR="50800" marT="38100" marB="38100">
                    <a:lnL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213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E8F4FD"/>
                          </a:solidFill>
                        </a:rPr>
                        <a:t>Employers post, edit, and delete job listings</a:t>
                      </a:r>
                      <a:endParaRPr lang="en-US" sz="900" dirty="0"/>
                    </a:p>
                  </a:txBody>
                  <a:tcPr marL="50800" marR="50800" marT="38100" marB="38100">
                    <a:lnL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213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06D6A0"/>
                          </a:solidFill>
                        </a:rPr>
                        <a:t>✓ Fully Met</a:t>
                      </a:r>
                      <a:endParaRPr lang="en-US" sz="900" dirty="0"/>
                    </a:p>
                  </a:txBody>
                  <a:tcPr marL="50800" marR="50800" marT="38100" marB="38100">
                    <a:lnL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213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48CAE4"/>
                          </a:solidFill>
                        </a:rPr>
                        <a:t>FR-05</a:t>
                      </a:r>
                      <a:endParaRPr lang="en-US" sz="900" dirty="0"/>
                    </a:p>
                  </a:txBody>
                  <a:tcPr marL="50800" marR="50800" marT="38100" marB="38100">
                    <a:lnL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284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00B4D8"/>
                          </a:solidFill>
                        </a:rPr>
                        <a:t>Functional</a:t>
                      </a:r>
                      <a:endParaRPr lang="en-US" sz="900" dirty="0"/>
                    </a:p>
                  </a:txBody>
                  <a:tcPr marL="50800" marR="50800" marT="38100" marB="38100">
                    <a:lnL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284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E8F4FD"/>
                          </a:solidFill>
                        </a:rPr>
                        <a:t>Job seekers search and filter job listings</a:t>
                      </a:r>
                      <a:endParaRPr lang="en-US" sz="900" dirty="0"/>
                    </a:p>
                  </a:txBody>
                  <a:tcPr marL="50800" marR="50800" marT="38100" marB="38100">
                    <a:lnL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284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06D6A0"/>
                          </a:solidFill>
                        </a:rPr>
                        <a:t>✓ Fully Met</a:t>
                      </a:r>
                      <a:endParaRPr lang="en-US" sz="900" dirty="0"/>
                    </a:p>
                  </a:txBody>
                  <a:tcPr marL="50800" marR="50800" marT="38100" marB="38100">
                    <a:lnL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2845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48CAE4"/>
                          </a:solidFill>
                        </a:rPr>
                        <a:t>FR-06</a:t>
                      </a:r>
                      <a:endParaRPr lang="en-US" sz="900" dirty="0"/>
                    </a:p>
                  </a:txBody>
                  <a:tcPr marL="50800" marR="50800" marT="38100" marB="38100">
                    <a:lnL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213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00B4D8"/>
                          </a:solidFill>
                        </a:rPr>
                        <a:t>Functional</a:t>
                      </a:r>
                      <a:endParaRPr lang="en-US" sz="900" dirty="0"/>
                    </a:p>
                  </a:txBody>
                  <a:tcPr marL="50800" marR="50800" marT="38100" marB="38100">
                    <a:lnL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213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E8F4FD"/>
                          </a:solidFill>
                        </a:rPr>
                        <a:t>Job seekers apply for jobs with single click</a:t>
                      </a:r>
                      <a:endParaRPr lang="en-US" sz="900" dirty="0"/>
                    </a:p>
                  </a:txBody>
                  <a:tcPr marL="50800" marR="50800" marT="38100" marB="38100">
                    <a:lnL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213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06D6A0"/>
                          </a:solidFill>
                        </a:rPr>
                        <a:t>✓ Fully Met</a:t>
                      </a:r>
                      <a:endParaRPr lang="en-US" sz="900" dirty="0"/>
                    </a:p>
                  </a:txBody>
                  <a:tcPr marL="50800" marR="50800" marT="38100" marB="38100">
                    <a:lnL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213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48CAE4"/>
                          </a:solidFill>
                        </a:rPr>
                        <a:t>FR-07</a:t>
                      </a:r>
                      <a:endParaRPr lang="en-US" sz="900" dirty="0"/>
                    </a:p>
                  </a:txBody>
                  <a:tcPr marL="50800" marR="50800" marT="38100" marB="38100">
                    <a:lnL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284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00B4D8"/>
                          </a:solidFill>
                        </a:rPr>
                        <a:t>Functional</a:t>
                      </a:r>
                      <a:endParaRPr lang="en-US" sz="900" dirty="0"/>
                    </a:p>
                  </a:txBody>
                  <a:tcPr marL="50800" marR="50800" marT="38100" marB="38100">
                    <a:lnL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284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E8F4FD"/>
                          </a:solidFill>
                        </a:rPr>
                        <a:t>Job seekers view status of submitted applications</a:t>
                      </a:r>
                      <a:endParaRPr lang="en-US" sz="900" dirty="0"/>
                    </a:p>
                  </a:txBody>
                  <a:tcPr marL="50800" marR="50800" marT="38100" marB="38100">
                    <a:lnL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284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06D6A0"/>
                          </a:solidFill>
                        </a:rPr>
                        <a:t>✓ Fully Met</a:t>
                      </a:r>
                      <a:endParaRPr lang="en-US" sz="900" dirty="0"/>
                    </a:p>
                  </a:txBody>
                  <a:tcPr marL="50800" marR="50800" marT="38100" marB="38100">
                    <a:lnL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2845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48CAE4"/>
                          </a:solidFill>
                        </a:rPr>
                        <a:t>FR-08</a:t>
                      </a:r>
                      <a:endParaRPr lang="en-US" sz="900" dirty="0"/>
                    </a:p>
                  </a:txBody>
                  <a:tcPr marL="50800" marR="50800" marT="38100" marB="38100">
                    <a:lnL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213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00B4D8"/>
                          </a:solidFill>
                        </a:rPr>
                        <a:t>Functional</a:t>
                      </a:r>
                      <a:endParaRPr lang="en-US" sz="900" dirty="0"/>
                    </a:p>
                  </a:txBody>
                  <a:tcPr marL="50800" marR="50800" marT="38100" marB="38100">
                    <a:lnL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213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E8F4FD"/>
                          </a:solidFill>
                        </a:rPr>
                        <a:t>Employers view and manage received applications</a:t>
                      </a:r>
                      <a:endParaRPr lang="en-US" sz="900" dirty="0"/>
                    </a:p>
                  </a:txBody>
                  <a:tcPr marL="50800" marR="50800" marT="38100" marB="38100">
                    <a:lnL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213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06D6A0"/>
                          </a:solidFill>
                        </a:rPr>
                        <a:t>✓ Fully Met</a:t>
                      </a:r>
                      <a:endParaRPr lang="en-US" sz="900" dirty="0"/>
                    </a:p>
                  </a:txBody>
                  <a:tcPr marL="50800" marR="50800" marT="38100" marB="38100">
                    <a:lnL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213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48CAE4"/>
                          </a:solidFill>
                        </a:rPr>
                        <a:t>NFR-01</a:t>
                      </a:r>
                      <a:endParaRPr lang="en-US" sz="900" dirty="0"/>
                    </a:p>
                  </a:txBody>
                  <a:tcPr marL="50800" marR="50800" marT="38100" marB="38100">
                    <a:lnL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284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FFD166"/>
                          </a:solidFill>
                        </a:rPr>
                        <a:t>Security</a:t>
                      </a:r>
                      <a:endParaRPr lang="en-US" sz="900" dirty="0"/>
                    </a:p>
                  </a:txBody>
                  <a:tcPr marL="50800" marR="50800" marT="38100" marB="38100">
                    <a:lnL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284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E8F4FD"/>
                          </a:solidFill>
                        </a:rPr>
                        <a:t>Passwords hashed using PBKDF2-SHA256</a:t>
                      </a:r>
                      <a:endParaRPr lang="en-US" sz="900" dirty="0"/>
                    </a:p>
                  </a:txBody>
                  <a:tcPr marL="50800" marR="50800" marT="38100" marB="38100">
                    <a:lnL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284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06D6A0"/>
                          </a:solidFill>
                        </a:rPr>
                        <a:t>✓ Fully Met</a:t>
                      </a:r>
                      <a:endParaRPr lang="en-US" sz="900" dirty="0"/>
                    </a:p>
                  </a:txBody>
                  <a:tcPr marL="50800" marR="50800" marT="38100" marB="38100">
                    <a:lnL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2845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48CAE4"/>
                          </a:solidFill>
                        </a:rPr>
                        <a:t>NFR-02</a:t>
                      </a:r>
                      <a:endParaRPr lang="en-US" sz="900" dirty="0"/>
                    </a:p>
                  </a:txBody>
                  <a:tcPr marL="50800" marR="50800" marT="38100" marB="38100">
                    <a:lnL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213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FFD166"/>
                          </a:solidFill>
                        </a:rPr>
                        <a:t>Usability</a:t>
                      </a:r>
                      <a:endParaRPr lang="en-US" sz="900" dirty="0"/>
                    </a:p>
                  </a:txBody>
                  <a:tcPr marL="50800" marR="50800" marT="38100" marB="38100">
                    <a:lnL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213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E8F4FD"/>
                          </a:solidFill>
                        </a:rPr>
                        <a:t>System usable on screens 320px and above</a:t>
                      </a:r>
                      <a:endParaRPr lang="en-US" sz="900" dirty="0"/>
                    </a:p>
                  </a:txBody>
                  <a:tcPr marL="50800" marR="50800" marT="38100" marB="38100">
                    <a:lnL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213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06D6A0"/>
                          </a:solidFill>
                        </a:rPr>
                        <a:t>✓ Fully Met</a:t>
                      </a:r>
                      <a:endParaRPr lang="en-US" sz="900" dirty="0"/>
                    </a:p>
                  </a:txBody>
                  <a:tcPr marL="50800" marR="50800" marT="38100" marB="38100">
                    <a:lnL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213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48CAE4"/>
                          </a:solidFill>
                        </a:rPr>
                        <a:t>NFR-03</a:t>
                      </a:r>
                      <a:endParaRPr lang="en-US" sz="900" dirty="0"/>
                    </a:p>
                  </a:txBody>
                  <a:tcPr marL="50800" marR="50800" marT="38100" marB="38100">
                    <a:lnL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284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FFD166"/>
                          </a:solidFill>
                        </a:rPr>
                        <a:t>Performance</a:t>
                      </a:r>
                      <a:endParaRPr lang="en-US" sz="900" dirty="0"/>
                    </a:p>
                  </a:txBody>
                  <a:tcPr marL="50800" marR="50800" marT="38100" marB="38100">
                    <a:lnL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284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E8F4FD"/>
                          </a:solidFill>
                        </a:rPr>
                        <a:t>Page load times under three seconds</a:t>
                      </a:r>
                      <a:endParaRPr lang="en-US" sz="900" dirty="0"/>
                    </a:p>
                  </a:txBody>
                  <a:tcPr marL="50800" marR="50800" marT="38100" marB="38100">
                    <a:lnL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284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06D6A0"/>
                          </a:solidFill>
                        </a:rPr>
                        <a:t>✓ Fully Met</a:t>
                      </a:r>
                      <a:endParaRPr lang="en-US" sz="900" dirty="0"/>
                    </a:p>
                  </a:txBody>
                  <a:tcPr marL="50800" marR="50800" marT="38100" marB="38100">
                    <a:lnL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2845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48CAE4"/>
                          </a:solidFill>
                        </a:rPr>
                        <a:t>NFR-04</a:t>
                      </a:r>
                      <a:endParaRPr lang="en-US" sz="900" dirty="0"/>
                    </a:p>
                  </a:txBody>
                  <a:tcPr marL="50800" marR="50800" marT="38100" marB="38100">
                    <a:lnL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213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FFD166"/>
                          </a:solidFill>
                        </a:rPr>
                        <a:t>Reliability</a:t>
                      </a:r>
                      <a:endParaRPr lang="en-US" sz="900" dirty="0"/>
                    </a:p>
                  </a:txBody>
                  <a:tcPr marL="50800" marR="50800" marT="38100" marB="38100">
                    <a:lnL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213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E8F4FD"/>
                          </a:solidFill>
                        </a:rPr>
                        <a:t>System handles user errors gracefully</a:t>
                      </a:r>
                      <a:endParaRPr lang="en-US" sz="900" dirty="0"/>
                    </a:p>
                  </a:txBody>
                  <a:tcPr marL="50800" marR="50800" marT="38100" marB="38100">
                    <a:lnL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213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06D6A0"/>
                          </a:solidFill>
                        </a:rPr>
                        <a:t>✓ Fully Met</a:t>
                      </a:r>
                      <a:endParaRPr lang="en-US" sz="900" dirty="0"/>
                    </a:p>
                  </a:txBody>
                  <a:tcPr marL="50800" marR="50800" marT="38100" marB="38100">
                    <a:lnL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2137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320040" y="4736592"/>
            <a:ext cx="8503920" cy="274320"/>
          </a:xfrm>
          <a:prstGeom prst="rect">
            <a:avLst/>
          </a:prstGeom>
          <a:solidFill>
            <a:srgbClr val="06D6A0"/>
          </a:solidFill>
          <a:ln w="12700">
            <a:solidFill>
              <a:srgbClr val="1E5FAD"/>
            </a:solidFill>
            <a:prstDash val="solid"/>
          </a:ln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320040" y="4736592"/>
            <a:ext cx="8503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A16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/ 12 Requirements — 100% Fully Met</a:t>
            </a:r>
            <a:endParaRPr lang="en-US" sz="1100" dirty="0"/>
          </a:p>
        </p:txBody>
      </p:sp>
      <p:sp>
        <p:nvSpPr>
          <p:cNvPr id="7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</p:spTree>
  </p:cSld>
  <p:clrMapOvr>
    <a:masterClrMapping/>
  </p:clrMapOvr>
  <p:transition spd="slow">
    <p:wipe/>
  </p:transition>
  <p:timing>
    <p:tnLst>
      <p:par>
        <p:cTn id="1" dur="indefinite" restart="never" nodeType="tmRoot"/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0206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Achievements &amp; Contributions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804672"/>
            <a:ext cx="8229600" cy="36576"/>
          </a:xfrm>
          <a:prstGeom prst="rect">
            <a:avLst/>
          </a:prstGeom>
          <a:solidFill>
            <a:srgbClr val="1E5FAD"/>
          </a:solidFill>
          <a:ln w="12700">
            <a:solidFill>
              <a:srgbClr val="1E5FAD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20040" y="960120"/>
            <a:ext cx="2633472" cy="2743200"/>
          </a:xfrm>
          <a:prstGeom prst="rect">
            <a:avLst/>
          </a:prstGeom>
          <a:solidFill>
            <a:srgbClr val="1E5FAD"/>
          </a:solidFill>
          <a:ln w="12700">
            <a:solidFill>
              <a:srgbClr val="1E5FAD"/>
            </a:solidFill>
            <a:prstDash val="solid"/>
          </a:ln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9768" y="1024128"/>
            <a:ext cx="411480" cy="41148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914400" y="1005840"/>
            <a:ext cx="1920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Practical Contributions</a:t>
            </a:r>
            <a:endParaRPr lang="en-US" sz="1100" dirty="0"/>
          </a:p>
        </p:txBody>
      </p:sp>
      <p:pic>
        <p:nvPicPr>
          <p:cNvPr id="7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8056" y="1554480"/>
            <a:ext cx="274320" cy="27432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795528" y="1554480"/>
            <a:ext cx="208483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95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Fully functional, deployable web application</a:t>
            </a:r>
            <a:endParaRPr lang="en-US" sz="950" dirty="0"/>
          </a:p>
        </p:txBody>
      </p:sp>
      <p:pic>
        <p:nvPicPr>
          <p:cNvPr id="9" name="Image 2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8056" y="2066544"/>
            <a:ext cx="274320" cy="274320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795528" y="2066544"/>
            <a:ext cx="208483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95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Directly addresses real recruitment problems</a:t>
            </a:r>
            <a:endParaRPr lang="en-US" sz="950" dirty="0"/>
          </a:p>
        </p:txBody>
      </p:sp>
      <p:pic>
        <p:nvPicPr>
          <p:cNvPr id="11" name="Image 3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8056" y="2578608"/>
            <a:ext cx="274320" cy="274320"/>
          </a:xfrm>
          <a:prstGeom prst="rect">
            <a:avLst/>
          </a:prstGeom>
        </p:spPr>
      </p:pic>
      <p:sp>
        <p:nvSpPr>
          <p:cNvPr id="12" name="Text 6"/>
          <p:cNvSpPr/>
          <p:nvPr/>
        </p:nvSpPr>
        <p:spPr>
          <a:xfrm>
            <a:off x="795528" y="2578608"/>
            <a:ext cx="208483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95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user roles with distinct dashboards</a:t>
            </a:r>
            <a:endParaRPr lang="en-US" sz="950" dirty="0"/>
          </a:p>
        </p:txBody>
      </p:sp>
      <p:pic>
        <p:nvPicPr>
          <p:cNvPr id="13" name="Image 4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8056" y="3090672"/>
            <a:ext cx="274320" cy="274320"/>
          </a:xfrm>
          <a:prstGeom prst="rect">
            <a:avLst/>
          </a:prstGeom>
        </p:spPr>
      </p:pic>
      <p:sp>
        <p:nvSpPr>
          <p:cNvPr id="14" name="Text 7"/>
          <p:cNvSpPr/>
          <p:nvPr/>
        </p:nvSpPr>
        <p:spPr>
          <a:xfrm>
            <a:off x="795528" y="3090672"/>
            <a:ext cx="208483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95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12 defined requirements fulfilled</a:t>
            </a:r>
            <a:endParaRPr lang="en-US" sz="950" dirty="0"/>
          </a:p>
        </p:txBody>
      </p:sp>
      <p:sp>
        <p:nvSpPr>
          <p:cNvPr id="15" name="Shape 8"/>
          <p:cNvSpPr/>
          <p:nvPr/>
        </p:nvSpPr>
        <p:spPr>
          <a:xfrm>
            <a:off x="3172968" y="960120"/>
            <a:ext cx="2633472" cy="2743200"/>
          </a:xfrm>
          <a:prstGeom prst="rect">
            <a:avLst/>
          </a:prstGeom>
          <a:solidFill>
            <a:srgbClr val="145A32"/>
          </a:solidFill>
          <a:ln w="12700">
            <a:solidFill>
              <a:srgbClr val="1E5FAD"/>
            </a:solidFill>
            <a:prstDash val="solid"/>
          </a:ln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</p:sp>
      <p:pic>
        <p:nvPicPr>
          <p:cNvPr id="16" name="Image 5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282696" y="1024128"/>
            <a:ext cx="411480" cy="411480"/>
          </a:xfrm>
          <a:prstGeom prst="rect">
            <a:avLst/>
          </a:prstGeom>
        </p:spPr>
      </p:pic>
      <p:sp>
        <p:nvSpPr>
          <p:cNvPr id="17" name="Text 9"/>
          <p:cNvSpPr/>
          <p:nvPr/>
        </p:nvSpPr>
        <p:spPr>
          <a:xfrm>
            <a:off x="3767328" y="1005840"/>
            <a:ext cx="1920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Technical Contributions</a:t>
            </a:r>
            <a:endParaRPr lang="en-US" sz="1100" dirty="0"/>
          </a:p>
        </p:txBody>
      </p:sp>
      <p:pic>
        <p:nvPicPr>
          <p:cNvPr id="18" name="Image 6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00984" y="1554480"/>
            <a:ext cx="274320" cy="274320"/>
          </a:xfrm>
          <a:prstGeom prst="rect">
            <a:avLst/>
          </a:prstGeom>
        </p:spPr>
      </p:pic>
      <p:sp>
        <p:nvSpPr>
          <p:cNvPr id="19" name="Text 10"/>
          <p:cNvSpPr/>
          <p:nvPr/>
        </p:nvSpPr>
        <p:spPr>
          <a:xfrm>
            <a:off x="3648456" y="1554480"/>
            <a:ext cx="208483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95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Django MVT with MS SQL Server integration</a:t>
            </a:r>
            <a:endParaRPr lang="en-US" sz="950" dirty="0"/>
          </a:p>
        </p:txBody>
      </p:sp>
      <p:pic>
        <p:nvPicPr>
          <p:cNvPr id="20" name="Image 7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00984" y="2066544"/>
            <a:ext cx="274320" cy="274320"/>
          </a:xfrm>
          <a:prstGeom prst="rect">
            <a:avLst/>
          </a:prstGeom>
        </p:spPr>
      </p:pic>
      <p:sp>
        <p:nvSpPr>
          <p:cNvPr id="21" name="Text 11"/>
          <p:cNvSpPr/>
          <p:nvPr/>
        </p:nvSpPr>
        <p:spPr>
          <a:xfrm>
            <a:off x="3648456" y="2066544"/>
            <a:ext cx="208483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95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43 passing unit tests &amp; 7 integration scenarios</a:t>
            </a:r>
            <a:endParaRPr lang="en-US" sz="950" dirty="0"/>
          </a:p>
        </p:txBody>
      </p:sp>
      <p:pic>
        <p:nvPicPr>
          <p:cNvPr id="22" name="Image 8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00984" y="2578608"/>
            <a:ext cx="274320" cy="274320"/>
          </a:xfrm>
          <a:prstGeom prst="rect">
            <a:avLst/>
          </a:prstGeom>
        </p:spPr>
      </p:pic>
      <p:sp>
        <p:nvSpPr>
          <p:cNvPr id="23" name="Text 12"/>
          <p:cNvSpPr/>
          <p:nvPr/>
        </p:nvSpPr>
        <p:spPr>
          <a:xfrm>
            <a:off x="3648456" y="2578608"/>
            <a:ext cx="208483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95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Multi-layer security (CSRF, XSS, SQLi, RBAC)</a:t>
            </a:r>
            <a:endParaRPr lang="en-US" sz="950" dirty="0"/>
          </a:p>
        </p:txBody>
      </p:sp>
      <p:pic>
        <p:nvPicPr>
          <p:cNvPr id="24" name="Image 9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00984" y="3090672"/>
            <a:ext cx="274320" cy="274320"/>
          </a:xfrm>
          <a:prstGeom prst="rect">
            <a:avLst/>
          </a:prstGeom>
        </p:spPr>
      </p:pic>
      <p:sp>
        <p:nvSpPr>
          <p:cNvPr id="25" name="Text 13"/>
          <p:cNvSpPr/>
          <p:nvPr/>
        </p:nvSpPr>
        <p:spPr>
          <a:xfrm>
            <a:off x="3648456" y="3090672"/>
            <a:ext cx="208483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95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Responsive Bootstrap 5 UI (320px+)</a:t>
            </a:r>
            <a:endParaRPr lang="en-US" sz="950" dirty="0"/>
          </a:p>
        </p:txBody>
      </p:sp>
      <p:sp>
        <p:nvSpPr>
          <p:cNvPr id="26" name="Shape 14"/>
          <p:cNvSpPr/>
          <p:nvPr/>
        </p:nvSpPr>
        <p:spPr>
          <a:xfrm>
            <a:off x="6025896" y="960120"/>
            <a:ext cx="2633472" cy="2743200"/>
          </a:xfrm>
          <a:prstGeom prst="rect">
            <a:avLst/>
          </a:prstGeom>
          <a:solidFill>
            <a:srgbClr val="7D6608"/>
          </a:solidFill>
          <a:ln w="12700">
            <a:solidFill>
              <a:srgbClr val="1E5FAD"/>
            </a:solidFill>
            <a:prstDash val="solid"/>
          </a:ln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</p:sp>
      <p:pic>
        <p:nvPicPr>
          <p:cNvPr id="27" name="Image 10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135624" y="1024128"/>
            <a:ext cx="411480" cy="411480"/>
          </a:xfrm>
          <a:prstGeom prst="rect">
            <a:avLst/>
          </a:prstGeom>
        </p:spPr>
      </p:pic>
      <p:sp>
        <p:nvSpPr>
          <p:cNvPr id="28" name="Text 15"/>
          <p:cNvSpPr/>
          <p:nvPr/>
        </p:nvSpPr>
        <p:spPr>
          <a:xfrm>
            <a:off x="6620256" y="1005840"/>
            <a:ext cx="1920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Academic Contributions</a:t>
            </a:r>
            <a:endParaRPr lang="en-US" sz="1100" dirty="0"/>
          </a:p>
        </p:txBody>
      </p:sp>
      <p:pic>
        <p:nvPicPr>
          <p:cNvPr id="29" name="Image 1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53912" y="1554480"/>
            <a:ext cx="274320" cy="274320"/>
          </a:xfrm>
          <a:prstGeom prst="rect">
            <a:avLst/>
          </a:prstGeom>
        </p:spPr>
      </p:pic>
      <p:sp>
        <p:nvSpPr>
          <p:cNvPr id="30" name="Text 16"/>
          <p:cNvSpPr/>
          <p:nvPr/>
        </p:nvSpPr>
        <p:spPr>
          <a:xfrm>
            <a:off x="6501384" y="1554480"/>
            <a:ext cx="208483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95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Documents modern web dev for local context</a:t>
            </a:r>
            <a:endParaRPr lang="en-US" sz="950" dirty="0"/>
          </a:p>
        </p:txBody>
      </p:sp>
      <p:pic>
        <p:nvPicPr>
          <p:cNvPr id="31" name="Image 12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53912" y="2066544"/>
            <a:ext cx="274320" cy="274320"/>
          </a:xfrm>
          <a:prstGeom prst="rect">
            <a:avLst/>
          </a:prstGeom>
        </p:spPr>
      </p:pic>
      <p:sp>
        <p:nvSpPr>
          <p:cNvPr id="32" name="Text 17"/>
          <p:cNvSpPr/>
          <p:nvPr/>
        </p:nvSpPr>
        <p:spPr>
          <a:xfrm>
            <a:off x="6501384" y="2066544"/>
            <a:ext cx="208483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95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Agile methodology applied end-to-end</a:t>
            </a:r>
            <a:endParaRPr lang="en-US" sz="950" dirty="0"/>
          </a:p>
        </p:txBody>
      </p:sp>
      <p:pic>
        <p:nvPicPr>
          <p:cNvPr id="33" name="Image 13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53912" y="2578608"/>
            <a:ext cx="274320" cy="274320"/>
          </a:xfrm>
          <a:prstGeom prst="rect">
            <a:avLst/>
          </a:prstGeom>
        </p:spPr>
      </p:pic>
      <p:sp>
        <p:nvSpPr>
          <p:cNvPr id="34" name="Text 18"/>
          <p:cNvSpPr/>
          <p:nvPr/>
        </p:nvSpPr>
        <p:spPr>
          <a:xfrm>
            <a:off x="6501384" y="2578608"/>
            <a:ext cx="208483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95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Demonstrates technology for social impact</a:t>
            </a:r>
            <a:endParaRPr lang="en-US" sz="950" dirty="0"/>
          </a:p>
        </p:txBody>
      </p:sp>
      <p:pic>
        <p:nvPicPr>
          <p:cNvPr id="35" name="Image 14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53912" y="3090672"/>
            <a:ext cx="274320" cy="274320"/>
          </a:xfrm>
          <a:prstGeom prst="rect">
            <a:avLst/>
          </a:prstGeom>
        </p:spPr>
      </p:pic>
      <p:sp>
        <p:nvSpPr>
          <p:cNvPr id="36" name="Text 19"/>
          <p:cNvSpPr/>
          <p:nvPr/>
        </p:nvSpPr>
        <p:spPr>
          <a:xfrm>
            <a:off x="6501384" y="3090672"/>
            <a:ext cx="208483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95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 for future developers in the region</a:t>
            </a:r>
            <a:endParaRPr lang="en-US" sz="950" dirty="0"/>
          </a:p>
        </p:txBody>
      </p:sp>
      <p:sp>
        <p:nvSpPr>
          <p:cNvPr id="5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</p:spTree>
  </p:cSld>
  <p:clrMapOvr>
    <a:masterClrMapping/>
  </p:clrMapOvr>
  <p:transition spd="slow">
    <p:wipe/>
  </p:transition>
  <p:timing>
    <p:tnLst>
      <p:par>
        <p:cTn id="1" dur="indefinite" restart="never" nodeType="tmRoot"/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0206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 </a:t>
            </a:r>
            <a:r>
              <a:rPr lang="en-US" sz="2600" b="1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&amp; </a:t>
            </a:r>
            <a:r>
              <a:rPr lang="en-US" sz="2600" b="1" smtClean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Future Recommendations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804672"/>
            <a:ext cx="8229600" cy="36576"/>
          </a:xfrm>
          <a:prstGeom prst="rect">
            <a:avLst/>
          </a:prstGeom>
          <a:solidFill>
            <a:srgbClr val="1E5FAD"/>
          </a:solidFill>
          <a:ln w="12700">
            <a:solidFill>
              <a:srgbClr val="1E5FAD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20040" y="960120"/>
            <a:ext cx="4160520" cy="3931920"/>
          </a:xfrm>
          <a:prstGeom prst="rect">
            <a:avLst/>
          </a:prstGeom>
          <a:solidFill>
            <a:srgbClr val="102845"/>
          </a:solidFill>
          <a:ln w="12700">
            <a:solidFill>
              <a:srgbClr val="1E5FAD"/>
            </a:solidFill>
            <a:prstDash val="solid"/>
          </a:ln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024128"/>
            <a:ext cx="384048" cy="38404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914400" y="1005840"/>
            <a:ext cx="34747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</a:t>
            </a:r>
            <a:endParaRPr lang="en-US" sz="1400" dirty="0"/>
          </a:p>
        </p:txBody>
      </p:sp>
      <p:pic>
        <p:nvPicPr>
          <p:cNvPr id="7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508760"/>
            <a:ext cx="219456" cy="219456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749808" y="1481328"/>
            <a:ext cx="363931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8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Fursad is a fully functional, secure web-based job portal</a:t>
            </a:r>
            <a:endParaRPr lang="en-US" sz="980" dirty="0"/>
          </a:p>
        </p:txBody>
      </p:sp>
      <p:pic>
        <p:nvPicPr>
          <p:cNvPr id="9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965960"/>
            <a:ext cx="219456" cy="219456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749808" y="1938528"/>
            <a:ext cx="363931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8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Successfully addresses informal recruitment challenges in Puntland</a:t>
            </a:r>
            <a:endParaRPr lang="en-US" sz="980" dirty="0"/>
          </a:p>
        </p:txBody>
      </p:sp>
      <p:pic>
        <p:nvPicPr>
          <p:cNvPr id="11" name="Image 3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2423160"/>
            <a:ext cx="219456" cy="219456"/>
          </a:xfrm>
          <a:prstGeom prst="rect">
            <a:avLst/>
          </a:prstGeom>
        </p:spPr>
      </p:pic>
      <p:sp>
        <p:nvSpPr>
          <p:cNvPr id="12" name="Text 6"/>
          <p:cNvSpPr/>
          <p:nvPr/>
        </p:nvSpPr>
        <p:spPr>
          <a:xfrm>
            <a:off x="749808" y="2395728"/>
            <a:ext cx="363931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8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Django MVT + MSSQL proved ideal for this multi-role platform</a:t>
            </a:r>
            <a:endParaRPr lang="en-US" sz="980" dirty="0"/>
          </a:p>
        </p:txBody>
      </p:sp>
      <p:pic>
        <p:nvPicPr>
          <p:cNvPr id="13" name="Image 4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2880360"/>
            <a:ext cx="219456" cy="219456"/>
          </a:xfrm>
          <a:prstGeom prst="rect">
            <a:avLst/>
          </a:prstGeom>
        </p:spPr>
      </p:pic>
      <p:sp>
        <p:nvSpPr>
          <p:cNvPr id="14" name="Text 7"/>
          <p:cNvSpPr/>
          <p:nvPr/>
        </p:nvSpPr>
        <p:spPr>
          <a:xfrm>
            <a:off x="749808" y="2852928"/>
            <a:ext cx="363931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8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12 requirements met; 100% UAT satisfaction achieved</a:t>
            </a:r>
            <a:endParaRPr lang="en-US" sz="980" dirty="0"/>
          </a:p>
        </p:txBody>
      </p:sp>
      <p:pic>
        <p:nvPicPr>
          <p:cNvPr id="15" name="Image 5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3337560"/>
            <a:ext cx="219456" cy="219456"/>
          </a:xfrm>
          <a:prstGeom prst="rect">
            <a:avLst/>
          </a:prstGeom>
        </p:spPr>
      </p:pic>
      <p:sp>
        <p:nvSpPr>
          <p:cNvPr id="16" name="Text 8"/>
          <p:cNvSpPr/>
          <p:nvPr/>
        </p:nvSpPr>
        <p:spPr>
          <a:xfrm>
            <a:off x="749808" y="3310128"/>
            <a:ext cx="363931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8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Demonstrates that modern web tech can solve local real-world problems</a:t>
            </a:r>
            <a:endParaRPr lang="en-US" sz="980" dirty="0"/>
          </a:p>
        </p:txBody>
      </p:sp>
      <p:pic>
        <p:nvPicPr>
          <p:cNvPr id="17" name="Image 6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3794760"/>
            <a:ext cx="219456" cy="219456"/>
          </a:xfrm>
          <a:prstGeom prst="rect">
            <a:avLst/>
          </a:prstGeom>
        </p:spPr>
      </p:pic>
      <p:sp>
        <p:nvSpPr>
          <p:cNvPr id="18" name="Text 9"/>
          <p:cNvSpPr/>
          <p:nvPr/>
        </p:nvSpPr>
        <p:spPr>
          <a:xfrm>
            <a:off x="749808" y="3767328"/>
            <a:ext cx="363931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8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Agile methodology ensured structured, iterative delivery</a:t>
            </a:r>
            <a:endParaRPr lang="en-US" sz="980" dirty="0"/>
          </a:p>
        </p:txBody>
      </p:sp>
      <p:pic>
        <p:nvPicPr>
          <p:cNvPr id="19" name="Image 7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4251960"/>
            <a:ext cx="219456" cy="219456"/>
          </a:xfrm>
          <a:prstGeom prst="rect">
            <a:avLst/>
          </a:prstGeom>
        </p:spPr>
      </p:pic>
      <p:sp>
        <p:nvSpPr>
          <p:cNvPr id="20" name="Text 10"/>
          <p:cNvSpPr/>
          <p:nvPr/>
        </p:nvSpPr>
        <p:spPr>
          <a:xfrm>
            <a:off x="749808" y="4224528"/>
            <a:ext cx="363931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8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is ready for deployment and further development</a:t>
            </a:r>
            <a:endParaRPr lang="en-US" sz="980" dirty="0"/>
          </a:p>
        </p:txBody>
      </p:sp>
      <p:sp>
        <p:nvSpPr>
          <p:cNvPr id="21" name="Shape 11"/>
          <p:cNvSpPr/>
          <p:nvPr/>
        </p:nvSpPr>
        <p:spPr>
          <a:xfrm>
            <a:off x="4663440" y="960120"/>
            <a:ext cx="4160520" cy="3931920"/>
          </a:xfrm>
          <a:prstGeom prst="rect">
            <a:avLst/>
          </a:prstGeom>
          <a:solidFill>
            <a:srgbClr val="102845"/>
          </a:solidFill>
          <a:ln w="12700">
            <a:solidFill>
              <a:srgbClr val="1E5FAD"/>
            </a:solidFill>
            <a:prstDash val="solid"/>
          </a:ln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</p:sp>
      <p:pic>
        <p:nvPicPr>
          <p:cNvPr id="22" name="Image 8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73168" y="1024128"/>
            <a:ext cx="384048" cy="384048"/>
          </a:xfrm>
          <a:prstGeom prst="rect">
            <a:avLst/>
          </a:prstGeom>
        </p:spPr>
      </p:pic>
      <p:sp>
        <p:nvSpPr>
          <p:cNvPr id="23" name="Text 12"/>
          <p:cNvSpPr/>
          <p:nvPr/>
        </p:nvSpPr>
        <p:spPr>
          <a:xfrm>
            <a:off x="5230368" y="1005840"/>
            <a:ext cx="34747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D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Future Work</a:t>
            </a:r>
            <a:endParaRPr lang="en-US" sz="1400" dirty="0"/>
          </a:p>
        </p:txBody>
      </p:sp>
      <p:sp>
        <p:nvSpPr>
          <p:cNvPr id="24" name="Shape 13"/>
          <p:cNvSpPr/>
          <p:nvPr/>
        </p:nvSpPr>
        <p:spPr>
          <a:xfrm>
            <a:off x="4773168" y="1508760"/>
            <a:ext cx="219456" cy="219456"/>
          </a:xfrm>
          <a:prstGeom prst="rect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25" name="Text 14"/>
          <p:cNvSpPr/>
          <p:nvPr/>
        </p:nvSpPr>
        <p:spPr>
          <a:xfrm>
            <a:off x="5065776" y="1481328"/>
            <a:ext cx="363931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FFD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Email Notifications: </a:t>
            </a:r>
            <a:endParaRPr lang="en-US" sz="950" dirty="0"/>
          </a:p>
        </p:txBody>
      </p:sp>
      <p:sp>
        <p:nvSpPr>
          <p:cNvPr id="26" name="Text 15"/>
          <p:cNvSpPr/>
          <p:nvPr/>
        </p:nvSpPr>
        <p:spPr>
          <a:xfrm>
            <a:off x="5065776" y="1664208"/>
            <a:ext cx="3639312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B0C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 alerts via SendGrid/Mailgun on status changes</a:t>
            </a:r>
            <a:endParaRPr lang="en-US" sz="850" dirty="0"/>
          </a:p>
        </p:txBody>
      </p:sp>
      <p:sp>
        <p:nvSpPr>
          <p:cNvPr id="27" name="Shape 16"/>
          <p:cNvSpPr/>
          <p:nvPr/>
        </p:nvSpPr>
        <p:spPr>
          <a:xfrm>
            <a:off x="4773168" y="1965960"/>
            <a:ext cx="219456" cy="219456"/>
          </a:xfrm>
          <a:prstGeom prst="rect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28" name="Text 17"/>
          <p:cNvSpPr/>
          <p:nvPr/>
        </p:nvSpPr>
        <p:spPr>
          <a:xfrm>
            <a:off x="5065776" y="1938528"/>
            <a:ext cx="363931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FFD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AI-Powered Job Matching: </a:t>
            </a:r>
            <a:endParaRPr lang="en-US" sz="950" dirty="0"/>
          </a:p>
        </p:txBody>
      </p:sp>
      <p:sp>
        <p:nvSpPr>
          <p:cNvPr id="29" name="Text 18"/>
          <p:cNvSpPr/>
          <p:nvPr/>
        </p:nvSpPr>
        <p:spPr>
          <a:xfrm>
            <a:off x="5065776" y="2121408"/>
            <a:ext cx="3639312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B0C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scikit-learn / NLP recommendation engine</a:t>
            </a:r>
            <a:endParaRPr lang="en-US" sz="850" dirty="0"/>
          </a:p>
        </p:txBody>
      </p:sp>
      <p:sp>
        <p:nvSpPr>
          <p:cNvPr id="30" name="Shape 19"/>
          <p:cNvSpPr/>
          <p:nvPr/>
        </p:nvSpPr>
        <p:spPr>
          <a:xfrm>
            <a:off x="4773168" y="2423160"/>
            <a:ext cx="219456" cy="219456"/>
          </a:xfrm>
          <a:prstGeom prst="rect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31" name="Text 20"/>
          <p:cNvSpPr/>
          <p:nvPr/>
        </p:nvSpPr>
        <p:spPr>
          <a:xfrm>
            <a:off x="5065776" y="2395728"/>
            <a:ext cx="363931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FFD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Native Mobile App: </a:t>
            </a:r>
            <a:endParaRPr lang="en-US" sz="950" dirty="0"/>
          </a:p>
        </p:txBody>
      </p:sp>
      <p:sp>
        <p:nvSpPr>
          <p:cNvPr id="32" name="Text 21"/>
          <p:cNvSpPr/>
          <p:nvPr/>
        </p:nvSpPr>
        <p:spPr>
          <a:xfrm>
            <a:off x="5065776" y="2578608"/>
            <a:ext cx="3639312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B0C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Native / Flutter with Django REST API</a:t>
            </a:r>
            <a:endParaRPr lang="en-US" sz="850" dirty="0"/>
          </a:p>
        </p:txBody>
      </p:sp>
      <p:sp>
        <p:nvSpPr>
          <p:cNvPr id="33" name="Shape 22"/>
          <p:cNvSpPr/>
          <p:nvPr/>
        </p:nvSpPr>
        <p:spPr>
          <a:xfrm>
            <a:off x="4773168" y="2880360"/>
            <a:ext cx="219456" cy="219456"/>
          </a:xfrm>
          <a:prstGeom prst="rect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34" name="Text 23"/>
          <p:cNvSpPr/>
          <p:nvPr/>
        </p:nvSpPr>
        <p:spPr>
          <a:xfrm>
            <a:off x="5065776" y="2852928"/>
            <a:ext cx="363931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FFD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Real-Time Messaging: </a:t>
            </a:r>
            <a:endParaRPr lang="en-US" sz="950" dirty="0"/>
          </a:p>
        </p:txBody>
      </p:sp>
      <p:sp>
        <p:nvSpPr>
          <p:cNvPr id="35" name="Text 24"/>
          <p:cNvSpPr/>
          <p:nvPr/>
        </p:nvSpPr>
        <p:spPr>
          <a:xfrm>
            <a:off x="5065776" y="3035808"/>
            <a:ext cx="3639312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B0C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Django Channels + WebSockets for employer-seeker chat</a:t>
            </a:r>
            <a:endParaRPr lang="en-US" sz="850" dirty="0"/>
          </a:p>
        </p:txBody>
      </p:sp>
      <p:sp>
        <p:nvSpPr>
          <p:cNvPr id="36" name="Shape 25"/>
          <p:cNvSpPr/>
          <p:nvPr/>
        </p:nvSpPr>
        <p:spPr>
          <a:xfrm>
            <a:off x="4773168" y="3337560"/>
            <a:ext cx="219456" cy="219456"/>
          </a:xfrm>
          <a:prstGeom prst="rect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37" name="Text 26"/>
          <p:cNvSpPr/>
          <p:nvPr/>
        </p:nvSpPr>
        <p:spPr>
          <a:xfrm>
            <a:off x="5065776" y="3310128"/>
            <a:ext cx="363931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FFD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Advanced Analytics Dashboard: </a:t>
            </a:r>
            <a:endParaRPr lang="en-US" sz="950" dirty="0"/>
          </a:p>
        </p:txBody>
      </p:sp>
      <p:sp>
        <p:nvSpPr>
          <p:cNvPr id="38" name="Text 27"/>
          <p:cNvSpPr/>
          <p:nvPr/>
        </p:nvSpPr>
        <p:spPr>
          <a:xfrm>
            <a:off x="5065776" y="3493008"/>
            <a:ext cx="3639312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B0C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Platform usage, job market trends, skills insights</a:t>
            </a:r>
            <a:endParaRPr lang="en-US" sz="850" dirty="0"/>
          </a:p>
        </p:txBody>
      </p:sp>
      <p:sp>
        <p:nvSpPr>
          <p:cNvPr id="39" name="Shape 28"/>
          <p:cNvSpPr/>
          <p:nvPr/>
        </p:nvSpPr>
        <p:spPr>
          <a:xfrm>
            <a:off x="4773168" y="3794760"/>
            <a:ext cx="219456" cy="219456"/>
          </a:xfrm>
          <a:prstGeom prst="rect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40" name="Text 29"/>
          <p:cNvSpPr/>
          <p:nvPr/>
        </p:nvSpPr>
        <p:spPr>
          <a:xfrm>
            <a:off x="5065776" y="3767328"/>
            <a:ext cx="363931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FFD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Social Authentication: </a:t>
            </a:r>
            <a:endParaRPr lang="en-US" sz="950" dirty="0"/>
          </a:p>
        </p:txBody>
      </p:sp>
      <p:sp>
        <p:nvSpPr>
          <p:cNvPr id="41" name="Text 30"/>
          <p:cNvSpPr/>
          <p:nvPr/>
        </p:nvSpPr>
        <p:spPr>
          <a:xfrm>
            <a:off x="5065776" y="3950208"/>
            <a:ext cx="3639312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B0C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OAuth 2.0: Google / LinkedIn sign-in</a:t>
            </a:r>
            <a:endParaRPr lang="en-US" sz="850" dirty="0"/>
          </a:p>
        </p:txBody>
      </p:sp>
      <p:sp>
        <p:nvSpPr>
          <p:cNvPr id="42" name="Shape 31"/>
          <p:cNvSpPr/>
          <p:nvPr/>
        </p:nvSpPr>
        <p:spPr>
          <a:xfrm>
            <a:off x="4773168" y="4251960"/>
            <a:ext cx="219456" cy="219456"/>
          </a:xfrm>
          <a:prstGeom prst="rect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43" name="Text 32"/>
          <p:cNvSpPr/>
          <p:nvPr/>
        </p:nvSpPr>
        <p:spPr>
          <a:xfrm>
            <a:off x="5065776" y="4224528"/>
            <a:ext cx="363931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FFD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Resume Parsing: </a:t>
            </a:r>
            <a:endParaRPr lang="en-US" sz="950" dirty="0"/>
          </a:p>
        </p:txBody>
      </p:sp>
      <p:sp>
        <p:nvSpPr>
          <p:cNvPr id="44" name="Text 33"/>
          <p:cNvSpPr/>
          <p:nvPr/>
        </p:nvSpPr>
        <p:spPr>
          <a:xfrm>
            <a:off x="5065776" y="4407408"/>
            <a:ext cx="3639312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B0C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Auto-populate profile from uploaded resume files</a:t>
            </a:r>
            <a:endParaRPr lang="en-US" sz="850" dirty="0"/>
          </a:p>
        </p:txBody>
      </p:sp>
      <p:sp>
        <p:nvSpPr>
          <p:cNvPr id="45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FF0000"/>
          </a:solidFill>
          <a:ln w="12700">
            <a:solidFill>
              <a:srgbClr val="00B4D8"/>
            </a:solidFill>
            <a:prstDash val="solid"/>
          </a:ln>
        </p:spPr>
      </p:sp>
    </p:spTree>
  </p:cSld>
  <p:clrMapOvr>
    <a:masterClrMapping/>
  </p:clrMapOvr>
  <p:transition spd="slow">
    <p:wipe/>
  </p:transition>
  <p:timing>
    <p:tnLst>
      <p:par>
        <p:cTn id="1" dur="indefinite" restart="never" nodeType="tmRoot"/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206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FF0000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47" name="Rounded Rectangle 46"/>
          <p:cNvSpPr/>
          <p:nvPr/>
        </p:nvSpPr>
        <p:spPr>
          <a:xfrm>
            <a:off x="164592" y="1"/>
            <a:ext cx="4746172" cy="5143499"/>
          </a:xfrm>
          <a:prstGeom prst="roundRect">
            <a:avLst/>
          </a:prstGeom>
          <a:blipFill dpi="0"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Rounded Rectangle 47"/>
          <p:cNvSpPr/>
          <p:nvPr/>
        </p:nvSpPr>
        <p:spPr>
          <a:xfrm>
            <a:off x="4910764" y="384628"/>
            <a:ext cx="4238171" cy="4158343"/>
          </a:xfrm>
          <a:prstGeom prst="roundRect">
            <a:avLst/>
          </a:prstGeom>
          <a:blipFill dpi="0" rotWithShape="1"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0431526"/>
      </p:ext>
    </p:extLst>
  </p:cSld>
  <p:clrMapOvr>
    <a:masterClrMapping/>
  </p:clrMapOvr>
  <p:transition spd="slow">
    <p:wipe/>
  </p:transition>
  <p:timing>
    <p:tnLst>
      <p:par>
        <p:cTn id="1" dur="indefinite" restart="never" nodeType="tmRoot"/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0206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FF0000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365760" y="822960"/>
            <a:ext cx="59436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60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Thank You</a:t>
            </a:r>
            <a:endParaRPr lang="en-US" sz="6000" dirty="0"/>
          </a:p>
        </p:txBody>
      </p:sp>
      <p:sp>
        <p:nvSpPr>
          <p:cNvPr id="6" name="Text 3"/>
          <p:cNvSpPr/>
          <p:nvPr/>
        </p:nvSpPr>
        <p:spPr>
          <a:xfrm>
            <a:off x="365760" y="1828800"/>
            <a:ext cx="6400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FURSAD — Web-Based Job Portal System</a:t>
            </a:r>
            <a:endParaRPr lang="en-US" sz="1600" dirty="0"/>
          </a:p>
        </p:txBody>
      </p:sp>
      <p:sp>
        <p:nvSpPr>
          <p:cNvPr id="7" name="Shape 4"/>
          <p:cNvSpPr/>
          <p:nvPr/>
        </p:nvSpPr>
        <p:spPr>
          <a:xfrm>
            <a:off x="365760" y="2304288"/>
            <a:ext cx="4114800" cy="36576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365760" y="2423160"/>
            <a:ext cx="5943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B0C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Puntland University of Science and Technology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365760" y="2697480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B0C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Department of Computer Science  |  B.Sc. Graduation Project  |  2026–2027</a:t>
            </a:r>
            <a:endParaRPr lang="en-US" sz="1000" dirty="0"/>
          </a:p>
        </p:txBody>
      </p:sp>
      <p:sp>
        <p:nvSpPr>
          <p:cNvPr id="10" name="Text 7"/>
          <p:cNvSpPr/>
          <p:nvPr/>
        </p:nvSpPr>
        <p:spPr>
          <a:xfrm>
            <a:off x="365760" y="3127248"/>
            <a:ext cx="2286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48CA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Presented by:</a:t>
            </a:r>
            <a:endParaRPr lang="en-US" sz="950" dirty="0"/>
          </a:p>
        </p:txBody>
      </p:sp>
      <p:sp>
        <p:nvSpPr>
          <p:cNvPr id="11" name="Text 8"/>
          <p:cNvSpPr/>
          <p:nvPr/>
        </p:nvSpPr>
        <p:spPr>
          <a:xfrm>
            <a:off x="365760" y="3364992"/>
            <a:ext cx="7315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Sundus Ahmed Mohamed  |  Ayub Sicid Cabdiraxman  |  Ibrahim Ahmed Abdulahi</a:t>
            </a:r>
            <a:endParaRPr lang="en-US" sz="1050" dirty="0"/>
          </a:p>
        </p:txBody>
      </p:sp>
      <p:sp>
        <p:nvSpPr>
          <p:cNvPr id="12" name="Text 9"/>
          <p:cNvSpPr/>
          <p:nvPr/>
        </p:nvSpPr>
        <p:spPr>
          <a:xfrm>
            <a:off x="365760" y="3621024"/>
            <a:ext cx="4572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B0C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Supervised by: Mr. Omar Gaciye</a:t>
            </a:r>
            <a:endParaRPr lang="en-US" sz="1000" dirty="0"/>
          </a:p>
        </p:txBody>
      </p:sp>
      <p:sp>
        <p:nvSpPr>
          <p:cNvPr id="13" name="Shape 10"/>
          <p:cNvSpPr/>
          <p:nvPr/>
        </p:nvSpPr>
        <p:spPr>
          <a:xfrm>
            <a:off x="365760" y="4206240"/>
            <a:ext cx="3200400" cy="457200"/>
          </a:xfrm>
          <a:prstGeom prst="rect">
            <a:avLst/>
          </a:prstGeom>
          <a:solidFill>
            <a:srgbClr val="1E5FAD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365760" y="420624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 &amp; Discussion</a:t>
            </a:r>
            <a:endParaRPr lang="en-US" sz="1300" dirty="0"/>
          </a:p>
        </p:txBody>
      </p:sp>
      <p:sp>
        <p:nvSpPr>
          <p:cNvPr id="17" name="Shape 1"/>
          <p:cNvSpPr/>
          <p:nvPr/>
        </p:nvSpPr>
        <p:spPr>
          <a:xfrm>
            <a:off x="5596128" y="419100"/>
            <a:ext cx="3474720" cy="3474720"/>
          </a:xfrm>
          <a:prstGeom prst="ellipse">
            <a:avLst/>
          </a:prstGeom>
          <a:solidFill>
            <a:srgbClr val="1E5FAD">
              <a:alpha val="22000"/>
            </a:srgbClr>
          </a:solidFill>
          <a:ln w="12700">
            <a:noFill/>
            <a:prstDash val="solid"/>
          </a:ln>
          <a:effectLst>
            <a:glow rad="228600">
              <a:schemeClr val="tx1">
                <a:alpha val="40000"/>
              </a:schemeClr>
            </a:glow>
            <a:reflection blurRad="6350" stA="50000" endA="300" endPos="55500" dist="50800" dir="5400000" sy="-100000" algn="bl" rotWithShape="0"/>
            <a:softEdge rad="31750"/>
          </a:effectLst>
          <a:scene3d>
            <a:camera prst="perspectiveRight"/>
            <a:lightRig rig="contrasting" dir="t">
              <a:rot lat="0" lon="0" rev="7800000"/>
            </a:lightRig>
          </a:scene3d>
          <a:sp3d>
            <a:bevelT w="139700" h="139700"/>
          </a:sp3d>
        </p:spPr>
      </p:sp>
      <p:pic>
        <p:nvPicPr>
          <p:cNvPr id="18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61029" y="1306068"/>
            <a:ext cx="1554480" cy="1554480"/>
          </a:xfrm>
          <a:prstGeom prst="rect">
            <a:avLst/>
          </a:prstGeom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  <a:softEdge rad="31750"/>
          </a:effectLst>
          <a:scene3d>
            <a:camera prst="obliqueTopLeft"/>
            <a:lightRig rig="balanced" dir="t">
              <a:rot lat="0" lon="0" rev="8700000"/>
            </a:lightRig>
          </a:scene3d>
          <a:sp3d>
            <a:bevelT w="190500" h="38100"/>
          </a:sp3d>
        </p:spPr>
      </p:pic>
    </p:spTree>
  </p:cSld>
  <p:clrMapOvr>
    <a:masterClrMapping/>
  </p:clrMapOvr>
  <p:transition spd="slow">
    <p:wipe/>
  </p:transition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webextensions/_rels/taskpanes.xml.rels><?xml version="1.0" encoding="UTF-8" standalone="yes"?>
<Relationships xmlns="http://schemas.openxmlformats.org/package/2006/relationships"><Relationship Id="rId3" Type="http://schemas.microsoft.com/office/2011/relationships/webextension" Target="webextension3.xml"/><Relationship Id="rId2" Type="http://schemas.microsoft.com/office/2011/relationships/webextension" Target="webextension2.xml"/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437" row="4">
    <wetp:webextensionref xmlns:r="http://schemas.openxmlformats.org/officeDocument/2006/relationships" r:id="rId1"/>
  </wetp:taskpane>
  <wetp:taskpane dockstate="right" visibility="0" width="437" row="5">
    <wetp:webextensionref xmlns:r="http://schemas.openxmlformats.org/officeDocument/2006/relationships" r:id="rId2"/>
  </wetp:taskpane>
  <wetp:taskpane dockstate="right" visibility="0" width="437" row="6">
    <wetp:webextensionref xmlns:r="http://schemas.openxmlformats.org/officeDocument/2006/relationships" r:id="rId3"/>
  </wetp:taskpane>
</wetp:taskpanes>
</file>

<file path=ppt/webextensions/webextension1.xml><?xml version="1.0" encoding="utf-8"?>
<we:webextension xmlns:we="http://schemas.microsoft.com/office/webextensions/webextension/2010/11" id="{6CFF6EB5-FBEC-4912-A2C7-64E011047A08}">
  <we:reference id="wa200000113" version="1.0.0.0" store="en-US" storeType="OMEX"/>
  <we:alternateReferences>
    <we:reference id="WA200000113" version="1.0.0.0" store="WA200000113" storeType="OMEX"/>
  </we:alternateReferences>
  <we:properties/>
  <we:bindings/>
  <we:snapshot xmlns:r="http://schemas.openxmlformats.org/officeDocument/2006/relationships"/>
</we:webextension>
</file>

<file path=ppt/webextensions/webextension2.xml><?xml version="1.0" encoding="utf-8"?>
<we:webextension xmlns:we="http://schemas.microsoft.com/office/webextensions/webextension/2010/11" id="{A8CFACEC-D101-4ACD-AF75-02940A33652A}">
  <we:reference id="wa104381063" version="1.0.0.1" store="en-US" storeType="OMEX"/>
  <we:alternateReferences>
    <we:reference id="WA104381063" version="1.0.0.1" store="WA104381063" storeType="OMEX"/>
  </we:alternateReferences>
  <we:properties/>
  <we:bindings/>
  <we:snapshot xmlns:r="http://schemas.openxmlformats.org/officeDocument/2006/relationships"/>
</we:webextension>
</file>

<file path=ppt/webextensions/webextension3.xml><?xml version="1.0" encoding="utf-8"?>
<we:webextension xmlns:we="http://schemas.microsoft.com/office/webextensions/webextension/2010/11" id="{346E8300-5AE2-419E-A9D3-7C8A80304B29}">
  <we:reference id="wa200008583" version="1.0.0.1" store="en-US" storeType="OMEX"/>
  <we:alternateReferences>
    <we:reference id="WA200008583" version="1.0.0.1" store="WA200008583" storeType="OMEX"/>
  </we:alternateReferences>
  <we:properties/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747</TotalTime>
  <Words>1880</Words>
  <Application>Microsoft Office PowerPoint</Application>
  <PresentationFormat>On-screen Show (16:9)</PresentationFormat>
  <Paragraphs>433</Paragraphs>
  <Slides>23</Slides>
  <Notes>23</Notes>
  <HiddenSlides>5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6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Fursad – Web-Based Job Portal System</dc:title>
  <dc:subject>PptxGenJS Presentation</dc:subject>
  <dc:creator>PptxGenJS</dc:creator>
  <cp:lastModifiedBy>Microsoft account</cp:lastModifiedBy>
  <cp:revision>48</cp:revision>
  <dcterms:created xsi:type="dcterms:W3CDTF">2026-06-08T19:47:14Z</dcterms:created>
  <dcterms:modified xsi:type="dcterms:W3CDTF">2026-07-16T04:40:56Z</dcterms:modified>
</cp:coreProperties>
</file>