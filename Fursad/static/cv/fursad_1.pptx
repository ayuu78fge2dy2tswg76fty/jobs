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Fira Mono Medium" panose="020B0604020202020204" charset="0"/>
      <p:regular r:id="rId17"/>
    </p:embeddedFont>
    <p:embeddedFont>
      <p:font typeface="Fira Sans"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48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0442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7.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5.svg"/><Relationship Id="rId5" Type="http://schemas.openxmlformats.org/officeDocument/2006/relationships/image" Target="../media/image-3-3.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7-7.sv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7-5.svg"/><Relationship Id="rId4" Type="http://schemas.openxmlformats.org/officeDocument/2006/relationships/image" Target="../media/image-7-3.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9-6.svg"/><Relationship Id="rId12" Type="http://schemas.openxmlformats.org/officeDocument/2006/relationships/image" Target="../media/image-9-12.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9-3.svg"/><Relationship Id="rId15" Type="http://schemas.openxmlformats.org/officeDocument/2006/relationships/image" Target="../media/image-9-15.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9-9.svg"/></Relationships>
</file>

<file path=ppt/slides/_rels/slide10.xml.rels><?xml version="1.0" encoding="UTF-8" standalone="yes"?>
<Relationships xmlns="http://schemas.openxmlformats.org/package/2006/relationships"><Relationship Id="rId3" Type="http://schemas.openxmlformats.org/officeDocument/2006/relationships/hyperlink" Target="https://www.example.com"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Fursad: Empowering Your Job Search</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Welcome to Fursad, a modern, intuitive mobile application designed to streamline the job search experience. We're here to guide you through its core features and future vision, built upon a robust and user-centric design system.</a:t>
            </a:r>
            <a:endParaRPr lang="en-US" sz="175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1105" y="-21021"/>
            <a:ext cx="3839295" cy="82296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52" y="0"/>
            <a:ext cx="3839295" cy="8229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Text 0"/>
          <p:cNvSpPr/>
          <p:nvPr/>
        </p:nvSpPr>
        <p:spPr>
          <a:xfrm>
            <a:off x="724138" y="3325416"/>
            <a:ext cx="13182124" cy="1293019"/>
          </a:xfrm>
          <a:prstGeom prst="rect">
            <a:avLst/>
          </a:prstGeom>
          <a:noFill/>
          <a:ln/>
        </p:spPr>
        <p:txBody>
          <a:bodyPr wrap="square" lIns="0" tIns="0" rIns="0" bIns="0" rtlCol="0" anchor="t"/>
          <a:lstStyle/>
          <a:p>
            <a:pPr marL="0" indent="0" algn="l">
              <a:lnSpc>
                <a:spcPts val="5050"/>
              </a:lnSpc>
              <a:buNone/>
            </a:pPr>
            <a:r>
              <a:rPr lang="en-US" sz="4050" dirty="0">
                <a:solidFill>
                  <a:srgbClr val="FBF3FA"/>
                </a:solidFill>
                <a:latin typeface="Fira Mono Medium" pitchFamily="34" charset="0"/>
                <a:ea typeface="Fira Mono Medium" pitchFamily="34" charset="-122"/>
                <a:cs typeface="Fira Mono Medium" pitchFamily="34" charset="-120"/>
              </a:rPr>
              <a:t>The Onboarding Journey: Discovering Your Dream Role</a:t>
            </a:r>
            <a:endParaRPr lang="en-US" sz="4050" dirty="0"/>
          </a:p>
        </p:txBody>
      </p:sp>
      <p:sp>
        <p:nvSpPr>
          <p:cNvPr id="4" name="Shape 1"/>
          <p:cNvSpPr/>
          <p:nvPr/>
        </p:nvSpPr>
        <p:spPr>
          <a:xfrm>
            <a:off x="724138" y="4928711"/>
            <a:ext cx="4256127" cy="2561630"/>
          </a:xfrm>
          <a:prstGeom prst="roundRect">
            <a:avLst>
              <a:gd name="adj" fmla="val 4284"/>
            </a:avLst>
          </a:prstGeom>
          <a:solidFill>
            <a:srgbClr val="0F0F10"/>
          </a:solidFill>
          <a:ln w="22860">
            <a:solidFill>
              <a:srgbClr val="474748"/>
            </a:solidFill>
            <a:prstDash val="solid"/>
          </a:ln>
        </p:spPr>
      </p:sp>
      <p:sp>
        <p:nvSpPr>
          <p:cNvPr id="5" name="Shape 2"/>
          <p:cNvSpPr/>
          <p:nvPr/>
        </p:nvSpPr>
        <p:spPr>
          <a:xfrm>
            <a:off x="701278" y="4928711"/>
            <a:ext cx="91440" cy="2561630"/>
          </a:xfrm>
          <a:prstGeom prst="roundRect">
            <a:avLst>
              <a:gd name="adj" fmla="val 33941"/>
            </a:avLst>
          </a:prstGeom>
          <a:solidFill>
            <a:srgbClr val="FF6BD8"/>
          </a:solidFill>
          <a:ln/>
        </p:spPr>
      </p:sp>
      <p:sp>
        <p:nvSpPr>
          <p:cNvPr id="6" name="Text 3"/>
          <p:cNvSpPr/>
          <p:nvPr/>
        </p:nvSpPr>
        <p:spPr>
          <a:xfrm>
            <a:off x="1022390" y="5158383"/>
            <a:ext cx="2586276" cy="323255"/>
          </a:xfrm>
          <a:prstGeom prst="rect">
            <a:avLst/>
          </a:prstGeom>
          <a:noFill/>
          <a:ln/>
        </p:spPr>
        <p:txBody>
          <a:bodyPr wrap="none" lIns="0" tIns="0" rIns="0" bIns="0" rtlCol="0" anchor="t"/>
          <a:lstStyle/>
          <a:p>
            <a:pPr marL="0" indent="0" algn="l">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Visible UI</a:t>
            </a:r>
            <a:endParaRPr lang="en-US" sz="2000" dirty="0"/>
          </a:p>
        </p:txBody>
      </p:sp>
      <p:sp>
        <p:nvSpPr>
          <p:cNvPr id="7" name="Text 4"/>
          <p:cNvSpPr/>
          <p:nvPr/>
        </p:nvSpPr>
        <p:spPr>
          <a:xfrm>
            <a:off x="1022390" y="5605701"/>
            <a:ext cx="3728204" cy="1654969"/>
          </a:xfrm>
          <a:prstGeom prst="rect">
            <a:avLst/>
          </a:prstGeom>
          <a:noFill/>
          <a:ln/>
        </p:spPr>
        <p:txBody>
          <a:bodyPr wrap="square" lIns="0" tIns="0" rIns="0" bIns="0" rtlCol="0" anchor="t"/>
          <a:lstStyle/>
          <a:p>
            <a:pPr marL="0" indent="0" algn="l">
              <a:lnSpc>
                <a:spcPts val="2600"/>
              </a:lnSpc>
              <a:buNone/>
            </a:pPr>
            <a:r>
              <a:rPr lang="en-US" sz="1600" dirty="0">
                <a:solidFill>
                  <a:srgbClr val="E0D6DE"/>
                </a:solidFill>
                <a:latin typeface="Fira Sans" pitchFamily="34" charset="0"/>
                <a:ea typeface="Fira Sans" pitchFamily="34" charset="-122"/>
                <a:cs typeface="Fira Sans" pitchFamily="34" charset="-120"/>
              </a:rPr>
              <a:t>A dark-themed screen highlights a large, glowing purple search icon, with the headline "Find Your Dream Job" and descriptive subtext. Navigation controls and a "Next" button guide the user.</a:t>
            </a:r>
            <a:endParaRPr lang="en-US" sz="1600" dirty="0"/>
          </a:p>
        </p:txBody>
      </p:sp>
      <p:sp>
        <p:nvSpPr>
          <p:cNvPr id="8" name="Shape 5"/>
          <p:cNvSpPr/>
          <p:nvPr/>
        </p:nvSpPr>
        <p:spPr>
          <a:xfrm>
            <a:off x="5187077" y="4928711"/>
            <a:ext cx="4256127" cy="2561630"/>
          </a:xfrm>
          <a:prstGeom prst="roundRect">
            <a:avLst>
              <a:gd name="adj" fmla="val 4284"/>
            </a:avLst>
          </a:prstGeom>
          <a:solidFill>
            <a:srgbClr val="0F0F10"/>
          </a:solidFill>
          <a:ln w="22860">
            <a:solidFill>
              <a:srgbClr val="474748"/>
            </a:solidFill>
            <a:prstDash val="solid"/>
          </a:ln>
        </p:spPr>
      </p:sp>
      <p:sp>
        <p:nvSpPr>
          <p:cNvPr id="9" name="Shape 6"/>
          <p:cNvSpPr/>
          <p:nvPr/>
        </p:nvSpPr>
        <p:spPr>
          <a:xfrm>
            <a:off x="5164217" y="4928711"/>
            <a:ext cx="91440" cy="2561630"/>
          </a:xfrm>
          <a:prstGeom prst="roundRect">
            <a:avLst>
              <a:gd name="adj" fmla="val 33941"/>
            </a:avLst>
          </a:prstGeom>
          <a:solidFill>
            <a:srgbClr val="FF6BD8"/>
          </a:solidFill>
          <a:ln/>
        </p:spPr>
      </p:sp>
      <p:sp>
        <p:nvSpPr>
          <p:cNvPr id="10" name="Text 7"/>
          <p:cNvSpPr/>
          <p:nvPr/>
        </p:nvSpPr>
        <p:spPr>
          <a:xfrm>
            <a:off x="5485328" y="5158383"/>
            <a:ext cx="2586276" cy="323255"/>
          </a:xfrm>
          <a:prstGeom prst="rect">
            <a:avLst/>
          </a:prstGeom>
          <a:noFill/>
          <a:ln/>
        </p:spPr>
        <p:txBody>
          <a:bodyPr wrap="none" lIns="0" tIns="0" rIns="0" bIns="0" rtlCol="0" anchor="t"/>
          <a:lstStyle/>
          <a:p>
            <a:pPr marL="0" indent="0" algn="l">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User Action</a:t>
            </a:r>
            <a:endParaRPr lang="en-US" sz="2000" dirty="0"/>
          </a:p>
        </p:txBody>
      </p:sp>
      <p:sp>
        <p:nvSpPr>
          <p:cNvPr id="11" name="Text 8"/>
          <p:cNvSpPr/>
          <p:nvPr/>
        </p:nvSpPr>
        <p:spPr>
          <a:xfrm>
            <a:off x="5485328" y="5605701"/>
            <a:ext cx="3728204" cy="1323975"/>
          </a:xfrm>
          <a:prstGeom prst="rect">
            <a:avLst/>
          </a:prstGeom>
          <a:noFill/>
          <a:ln/>
        </p:spPr>
        <p:txBody>
          <a:bodyPr wrap="square" lIns="0" tIns="0" rIns="0" bIns="0" rtlCol="0" anchor="t"/>
          <a:lstStyle/>
          <a:p>
            <a:pPr marL="0" indent="0" algn="l">
              <a:lnSpc>
                <a:spcPts val="2600"/>
              </a:lnSpc>
              <a:buNone/>
            </a:pPr>
            <a:r>
              <a:rPr lang="en-US" sz="1600" dirty="0">
                <a:solidFill>
                  <a:srgbClr val="E0D6DE"/>
                </a:solidFill>
                <a:latin typeface="Fira Sans" pitchFamily="34" charset="0"/>
                <a:ea typeface="Fira Sans" pitchFamily="34" charset="-122"/>
                <a:cs typeface="Fira Sans" pitchFamily="34" charset="-120"/>
              </a:rPr>
              <a:t>Users can swipe through introductory slides to grasp the app's value proposition or skip directly to authentication, offering flexibility.</a:t>
            </a:r>
            <a:endParaRPr lang="en-US" sz="1600" dirty="0"/>
          </a:p>
        </p:txBody>
      </p:sp>
      <p:sp>
        <p:nvSpPr>
          <p:cNvPr id="12" name="Shape 9"/>
          <p:cNvSpPr/>
          <p:nvPr/>
        </p:nvSpPr>
        <p:spPr>
          <a:xfrm>
            <a:off x="9650016" y="4928711"/>
            <a:ext cx="4256127" cy="2561630"/>
          </a:xfrm>
          <a:prstGeom prst="roundRect">
            <a:avLst>
              <a:gd name="adj" fmla="val 4284"/>
            </a:avLst>
          </a:prstGeom>
          <a:solidFill>
            <a:srgbClr val="0F0F10"/>
          </a:solidFill>
          <a:ln w="22860">
            <a:solidFill>
              <a:srgbClr val="474748"/>
            </a:solidFill>
            <a:prstDash val="solid"/>
          </a:ln>
        </p:spPr>
      </p:sp>
      <p:sp>
        <p:nvSpPr>
          <p:cNvPr id="13" name="Shape 10"/>
          <p:cNvSpPr/>
          <p:nvPr/>
        </p:nvSpPr>
        <p:spPr>
          <a:xfrm>
            <a:off x="9627156" y="4928711"/>
            <a:ext cx="91440" cy="2561630"/>
          </a:xfrm>
          <a:prstGeom prst="roundRect">
            <a:avLst>
              <a:gd name="adj" fmla="val 33941"/>
            </a:avLst>
          </a:prstGeom>
          <a:solidFill>
            <a:srgbClr val="FF6BD8"/>
          </a:solidFill>
          <a:ln/>
        </p:spPr>
      </p:sp>
      <p:sp>
        <p:nvSpPr>
          <p:cNvPr id="14" name="Text 11"/>
          <p:cNvSpPr/>
          <p:nvPr/>
        </p:nvSpPr>
        <p:spPr>
          <a:xfrm>
            <a:off x="9948267" y="5158383"/>
            <a:ext cx="2637830" cy="323255"/>
          </a:xfrm>
          <a:prstGeom prst="rect">
            <a:avLst/>
          </a:prstGeom>
          <a:noFill/>
          <a:ln/>
        </p:spPr>
        <p:txBody>
          <a:bodyPr wrap="none" lIns="0" tIns="0" rIns="0" bIns="0" rtlCol="0" anchor="t"/>
          <a:lstStyle/>
          <a:p>
            <a:pPr marL="0" indent="0" algn="l">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Layout Principles</a:t>
            </a:r>
            <a:endParaRPr lang="en-US" sz="2000" dirty="0"/>
          </a:p>
        </p:txBody>
      </p:sp>
      <p:sp>
        <p:nvSpPr>
          <p:cNvPr id="15" name="Text 12"/>
          <p:cNvSpPr/>
          <p:nvPr/>
        </p:nvSpPr>
        <p:spPr>
          <a:xfrm>
            <a:off x="9948267" y="5605701"/>
            <a:ext cx="3728204" cy="1323975"/>
          </a:xfrm>
          <a:prstGeom prst="rect">
            <a:avLst/>
          </a:prstGeom>
          <a:noFill/>
          <a:ln/>
        </p:spPr>
        <p:txBody>
          <a:bodyPr wrap="square" lIns="0" tIns="0" rIns="0" bIns="0" rtlCol="0" anchor="t"/>
          <a:lstStyle/>
          <a:p>
            <a:pPr marL="0" indent="0" algn="l">
              <a:lnSpc>
                <a:spcPts val="2600"/>
              </a:lnSpc>
              <a:buNone/>
            </a:pPr>
            <a:r>
              <a:rPr lang="en-US" sz="1600" dirty="0">
                <a:solidFill>
                  <a:srgbClr val="E0D6DE"/>
                </a:solidFill>
                <a:latin typeface="Fira Sans" pitchFamily="34" charset="0"/>
                <a:ea typeface="Fira Sans" pitchFamily="34" charset="-122"/>
                <a:cs typeface="Fira Sans" pitchFamily="34" charset="-120"/>
              </a:rPr>
              <a:t>The "glassmorphism" effect on the central icon card and the prominent "Next" button strategically direct the user's focus towards progress.</a:t>
            </a:r>
            <a:endParaRPr lang="en-US" sz="1600" dirty="0"/>
          </a:p>
        </p:txBody>
      </p:sp>
      <p:sp>
        <p:nvSpPr>
          <p:cNvPr id="16" name="Rectangle 15"/>
          <p:cNvSpPr/>
          <p:nvPr/>
        </p:nvSpPr>
        <p:spPr>
          <a:xfrm>
            <a:off x="12586097" y="7777655"/>
            <a:ext cx="1939200" cy="357352"/>
          </a:xfrm>
          <a:prstGeom prst="rect">
            <a:avLst/>
          </a:prstGeom>
          <a:solidFill>
            <a:schemeClr val="tx1">
              <a:lumMod val="95000"/>
              <a:lumOff val="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1143"/>
          </a:xfrm>
          <a:prstGeom prst="rect">
            <a:avLst/>
          </a:prstGeom>
        </p:spPr>
      </p:pic>
      <p:sp>
        <p:nvSpPr>
          <p:cNvPr id="3" name="Text 0"/>
          <p:cNvSpPr/>
          <p:nvPr/>
        </p:nvSpPr>
        <p:spPr>
          <a:xfrm>
            <a:off x="694730" y="3180874"/>
            <a:ext cx="11609546" cy="620316"/>
          </a:xfrm>
          <a:prstGeom prst="rect">
            <a:avLst/>
          </a:prstGeom>
          <a:noFill/>
          <a:ln/>
        </p:spPr>
        <p:txBody>
          <a:bodyPr wrap="none" lIns="0" tIns="0" rIns="0" bIns="0" rtlCol="0" anchor="t"/>
          <a:lstStyle/>
          <a:p>
            <a:pPr marL="0" indent="0" algn="l">
              <a:lnSpc>
                <a:spcPts val="4850"/>
              </a:lnSpc>
              <a:buNone/>
            </a:pPr>
            <a:r>
              <a:rPr lang="en-US" sz="3900" dirty="0">
                <a:solidFill>
                  <a:srgbClr val="FBF3FA"/>
                </a:solidFill>
                <a:latin typeface="Fira Mono Medium" pitchFamily="34" charset="0"/>
                <a:ea typeface="Fira Mono Medium" pitchFamily="34" charset="-122"/>
                <a:cs typeface="Fira Mono Medium" pitchFamily="34" charset="-120"/>
              </a:rPr>
              <a:t>Seamless Access: Authentication &amp; Login</a:t>
            </a:r>
            <a:endParaRPr lang="en-US" sz="3900" dirty="0"/>
          </a:p>
        </p:txBody>
      </p:sp>
      <p:sp>
        <p:nvSpPr>
          <p:cNvPr id="4" name="Text 1"/>
          <p:cNvSpPr/>
          <p:nvPr/>
        </p:nvSpPr>
        <p:spPr>
          <a:xfrm>
            <a:off x="694730" y="4098846"/>
            <a:ext cx="13240941"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Fira Sans" pitchFamily="34" charset="0"/>
                <a:ea typeface="Fira Sans" pitchFamily="34" charset="-122"/>
                <a:cs typeface="Fira Sans" pitchFamily="34" charset="-120"/>
              </a:rPr>
              <a:t>The login screen balances security with ease of use, ensuring a smooth entry into the Fursad ecosystem.</a:t>
            </a:r>
            <a:endParaRPr lang="en-US" sz="1550" dirty="0"/>
          </a:p>
        </p:txBody>
      </p:sp>
      <p:sp>
        <p:nvSpPr>
          <p:cNvPr id="5" name="Shape 2"/>
          <p:cNvSpPr/>
          <p:nvPr/>
        </p:nvSpPr>
        <p:spPr>
          <a:xfrm>
            <a:off x="694730" y="4639628"/>
            <a:ext cx="4281249" cy="2890242"/>
          </a:xfrm>
          <a:prstGeom prst="roundRect">
            <a:avLst>
              <a:gd name="adj" fmla="val 1030"/>
            </a:avLst>
          </a:prstGeom>
          <a:solidFill>
            <a:srgbClr val="2E2E2F"/>
          </a:solidFill>
          <a:ln/>
        </p:spPr>
      </p:sp>
      <p:sp>
        <p:nvSpPr>
          <p:cNvPr id="6" name="Shape 3"/>
          <p:cNvSpPr/>
          <p:nvPr/>
        </p:nvSpPr>
        <p:spPr>
          <a:xfrm>
            <a:off x="893207" y="4838105"/>
            <a:ext cx="595432" cy="595432"/>
          </a:xfrm>
          <a:prstGeom prst="roundRect">
            <a:avLst>
              <a:gd name="adj" fmla="val 15355382"/>
            </a:avLst>
          </a:prstGeom>
          <a:solidFill>
            <a:srgbClr val="FF6BD8"/>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56918" y="5001816"/>
            <a:ext cx="267891" cy="267891"/>
          </a:xfrm>
          <a:prstGeom prst="rect">
            <a:avLst/>
          </a:prstGeom>
        </p:spPr>
      </p:pic>
      <p:sp>
        <p:nvSpPr>
          <p:cNvPr id="8" name="Text 4"/>
          <p:cNvSpPr/>
          <p:nvPr/>
        </p:nvSpPr>
        <p:spPr>
          <a:xfrm>
            <a:off x="893207" y="5632013"/>
            <a:ext cx="2481143"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Fira Mono Medium" pitchFamily="34" charset="0"/>
                <a:ea typeface="Fira Mono Medium" pitchFamily="34" charset="-122"/>
                <a:cs typeface="Fira Mono Medium" pitchFamily="34" charset="-120"/>
              </a:rPr>
              <a:t>Visible UI</a:t>
            </a:r>
            <a:endParaRPr lang="en-US" sz="1950" dirty="0"/>
          </a:p>
        </p:txBody>
      </p:sp>
      <p:sp>
        <p:nvSpPr>
          <p:cNvPr id="9" name="Text 5"/>
          <p:cNvSpPr/>
          <p:nvPr/>
        </p:nvSpPr>
        <p:spPr>
          <a:xfrm>
            <a:off x="893207" y="6061234"/>
            <a:ext cx="3884295" cy="127015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Fira Sans" pitchFamily="34" charset="0"/>
                <a:ea typeface="Fira Sans" pitchFamily="34" charset="-122"/>
                <a:cs typeface="Fira Sans" pitchFamily="34" charset="-120"/>
              </a:rPr>
              <a:t>A "Welcome Back!" header complements a semi-transparent card for credentials, alongside social login options for Google and LinkedIn.</a:t>
            </a:r>
            <a:endParaRPr lang="en-US" sz="1550" dirty="0"/>
          </a:p>
        </p:txBody>
      </p:sp>
      <p:sp>
        <p:nvSpPr>
          <p:cNvPr id="10" name="Shape 6"/>
          <p:cNvSpPr/>
          <p:nvPr/>
        </p:nvSpPr>
        <p:spPr>
          <a:xfrm>
            <a:off x="5174456" y="4639628"/>
            <a:ext cx="4281368" cy="2890242"/>
          </a:xfrm>
          <a:prstGeom prst="roundRect">
            <a:avLst>
              <a:gd name="adj" fmla="val 1030"/>
            </a:avLst>
          </a:prstGeom>
          <a:solidFill>
            <a:srgbClr val="2E2E2F"/>
          </a:solidFill>
          <a:ln/>
        </p:spPr>
      </p:sp>
      <p:sp>
        <p:nvSpPr>
          <p:cNvPr id="11" name="Shape 7"/>
          <p:cNvSpPr/>
          <p:nvPr/>
        </p:nvSpPr>
        <p:spPr>
          <a:xfrm>
            <a:off x="5372933" y="4838105"/>
            <a:ext cx="595432" cy="595432"/>
          </a:xfrm>
          <a:prstGeom prst="roundRect">
            <a:avLst>
              <a:gd name="adj" fmla="val 15355382"/>
            </a:avLst>
          </a:prstGeom>
          <a:solidFill>
            <a:srgbClr val="FF6BD8"/>
          </a:solidFill>
          <a:ln/>
        </p:spPr>
      </p:sp>
      <p:pic>
        <p:nvPicPr>
          <p:cNvPr id="12"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5536644" y="5001816"/>
            <a:ext cx="267891" cy="267891"/>
          </a:xfrm>
          <a:prstGeom prst="rect">
            <a:avLst/>
          </a:prstGeom>
        </p:spPr>
      </p:pic>
      <p:sp>
        <p:nvSpPr>
          <p:cNvPr id="13" name="Text 8"/>
          <p:cNvSpPr/>
          <p:nvPr/>
        </p:nvSpPr>
        <p:spPr>
          <a:xfrm>
            <a:off x="5372933" y="5632013"/>
            <a:ext cx="2481143"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Fira Mono Medium" pitchFamily="34" charset="0"/>
                <a:ea typeface="Fira Mono Medium" pitchFamily="34" charset="-122"/>
                <a:cs typeface="Fira Mono Medium" pitchFamily="34" charset="-120"/>
              </a:rPr>
              <a:t>User Action</a:t>
            </a:r>
            <a:endParaRPr lang="en-US" sz="1950" dirty="0"/>
          </a:p>
        </p:txBody>
      </p:sp>
      <p:sp>
        <p:nvSpPr>
          <p:cNvPr id="14" name="Text 9"/>
          <p:cNvSpPr/>
          <p:nvPr/>
        </p:nvSpPr>
        <p:spPr>
          <a:xfrm>
            <a:off x="5372933" y="6061234"/>
            <a:ext cx="3884414" cy="95261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Fira Sans" pitchFamily="34" charset="0"/>
                <a:ea typeface="Fira Sans" pitchFamily="34" charset="-122"/>
                <a:cs typeface="Fira Sans" pitchFamily="34" charset="-120"/>
              </a:rPr>
              <a:t>Users can either input their credentials directly or leverage social providers for a quick and secure authentication process.</a:t>
            </a:r>
            <a:endParaRPr lang="en-US" sz="1550" dirty="0"/>
          </a:p>
        </p:txBody>
      </p:sp>
      <p:sp>
        <p:nvSpPr>
          <p:cNvPr id="15" name="Shape 10"/>
          <p:cNvSpPr/>
          <p:nvPr/>
        </p:nvSpPr>
        <p:spPr>
          <a:xfrm>
            <a:off x="9654302" y="4639628"/>
            <a:ext cx="4281249" cy="2890242"/>
          </a:xfrm>
          <a:prstGeom prst="roundRect">
            <a:avLst>
              <a:gd name="adj" fmla="val 1030"/>
            </a:avLst>
          </a:prstGeom>
          <a:solidFill>
            <a:srgbClr val="2E2E2F"/>
          </a:solidFill>
          <a:ln/>
        </p:spPr>
      </p:sp>
      <p:sp>
        <p:nvSpPr>
          <p:cNvPr id="16" name="Shape 11"/>
          <p:cNvSpPr/>
          <p:nvPr/>
        </p:nvSpPr>
        <p:spPr>
          <a:xfrm>
            <a:off x="9852779" y="4838105"/>
            <a:ext cx="595432" cy="595432"/>
          </a:xfrm>
          <a:prstGeom prst="roundRect">
            <a:avLst>
              <a:gd name="adj" fmla="val 15355382"/>
            </a:avLst>
          </a:prstGeom>
          <a:solidFill>
            <a:srgbClr val="FF6BD8"/>
          </a:solidFill>
          <a:ln/>
        </p:spPr>
      </p:sp>
      <p:pic>
        <p:nvPicPr>
          <p:cNvPr id="17"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10016490" y="5001816"/>
            <a:ext cx="267891" cy="267891"/>
          </a:xfrm>
          <a:prstGeom prst="rect">
            <a:avLst/>
          </a:prstGeom>
        </p:spPr>
      </p:pic>
      <p:sp>
        <p:nvSpPr>
          <p:cNvPr id="18" name="Text 12"/>
          <p:cNvSpPr/>
          <p:nvPr/>
        </p:nvSpPr>
        <p:spPr>
          <a:xfrm>
            <a:off x="9852779" y="5632013"/>
            <a:ext cx="2481143"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Fira Mono Medium" pitchFamily="34" charset="0"/>
                <a:ea typeface="Fira Mono Medium" pitchFamily="34" charset="-122"/>
                <a:cs typeface="Fira Mono Medium" pitchFamily="34" charset="-120"/>
              </a:rPr>
              <a:t>Layout Choices</a:t>
            </a:r>
            <a:endParaRPr lang="en-US" sz="1950" dirty="0"/>
          </a:p>
        </p:txBody>
      </p:sp>
      <p:sp>
        <p:nvSpPr>
          <p:cNvPr id="19" name="Text 13"/>
          <p:cNvSpPr/>
          <p:nvPr/>
        </p:nvSpPr>
        <p:spPr>
          <a:xfrm>
            <a:off x="9852779" y="6061234"/>
            <a:ext cx="3884295" cy="127015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Fira Sans" pitchFamily="34" charset="0"/>
                <a:ea typeface="Fira Sans" pitchFamily="34" charset="-122"/>
                <a:cs typeface="Fira Sans" pitchFamily="34" charset="-120"/>
              </a:rPr>
              <a:t>The card-based design isolates the form for readability, and tabs efficiently manage different login methods, reducing visual clutter.</a:t>
            </a:r>
            <a:endParaRPr lang="en-US" sz="1550" dirty="0"/>
          </a:p>
        </p:txBody>
      </p:sp>
      <p:sp>
        <p:nvSpPr>
          <p:cNvPr id="20" name="Rectangle 19"/>
          <p:cNvSpPr/>
          <p:nvPr/>
        </p:nvSpPr>
        <p:spPr>
          <a:xfrm>
            <a:off x="12496800" y="7620000"/>
            <a:ext cx="2049517" cy="52551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8066" y="854750"/>
            <a:ext cx="7707868" cy="1282303"/>
          </a:xfrm>
          <a:prstGeom prst="rect">
            <a:avLst/>
          </a:prstGeom>
          <a:noFill/>
          <a:ln/>
        </p:spPr>
        <p:txBody>
          <a:bodyPr wrap="square" lIns="0" tIns="0" rIns="0" bIns="0" rtlCol="0" anchor="t"/>
          <a:lstStyle/>
          <a:p>
            <a:pPr marL="0" indent="0" algn="l">
              <a:lnSpc>
                <a:spcPts val="5000"/>
              </a:lnSpc>
              <a:buNone/>
            </a:pPr>
            <a:r>
              <a:rPr lang="en-US" sz="4000" dirty="0">
                <a:solidFill>
                  <a:srgbClr val="FBF3FA"/>
                </a:solidFill>
                <a:latin typeface="Fira Mono Medium" pitchFamily="34" charset="0"/>
                <a:ea typeface="Fira Mono Medium" pitchFamily="34" charset="-122"/>
                <a:cs typeface="Fira Mono Medium" pitchFamily="34" charset="-120"/>
              </a:rPr>
              <a:t>Your Personalized Hub: The Home Dashboard</a:t>
            </a:r>
            <a:endParaRPr lang="en-US" sz="4000" dirty="0"/>
          </a:p>
        </p:txBody>
      </p:sp>
      <p:sp>
        <p:nvSpPr>
          <p:cNvPr id="4" name="Text 1"/>
          <p:cNvSpPr/>
          <p:nvPr/>
        </p:nvSpPr>
        <p:spPr>
          <a:xfrm>
            <a:off x="718066" y="2444710"/>
            <a:ext cx="7707868" cy="656273"/>
          </a:xfrm>
          <a:prstGeom prst="rect">
            <a:avLst/>
          </a:prstGeom>
          <a:noFill/>
          <a:ln/>
        </p:spPr>
        <p:txBody>
          <a:bodyPr wrap="square" lIns="0" tIns="0" rIns="0" bIns="0" rtlCol="0" anchor="t"/>
          <a:lstStyle/>
          <a:p>
            <a:pPr marL="0" indent="0" algn="l">
              <a:lnSpc>
                <a:spcPts val="2550"/>
              </a:lnSpc>
              <a:buNone/>
            </a:pPr>
            <a:r>
              <a:rPr lang="en-US" sz="1600" dirty="0">
                <a:solidFill>
                  <a:srgbClr val="E0D6DE"/>
                </a:solidFill>
                <a:latin typeface="Fira Sans" pitchFamily="34" charset="0"/>
                <a:ea typeface="Fira Sans" pitchFamily="34" charset="-122"/>
                <a:cs typeface="Fira Sans" pitchFamily="34" charset="-120"/>
              </a:rPr>
              <a:t>The Fursad home dashboard is designed for immediate engagement, putting key job-seeking tools at your fingertips.</a:t>
            </a:r>
            <a:endParaRPr lang="en-US" sz="1600" dirty="0"/>
          </a:p>
        </p:txBody>
      </p:sp>
      <p:sp>
        <p:nvSpPr>
          <p:cNvPr id="5" name="Text 2"/>
          <p:cNvSpPr/>
          <p:nvPr/>
        </p:nvSpPr>
        <p:spPr>
          <a:xfrm>
            <a:off x="718066" y="3536871"/>
            <a:ext cx="2564606" cy="320516"/>
          </a:xfrm>
          <a:prstGeom prst="rect">
            <a:avLst/>
          </a:prstGeom>
          <a:noFill/>
          <a:ln/>
        </p:spPr>
        <p:txBody>
          <a:bodyPr wrap="none" lIns="0" tIns="0" rIns="0" bIns="0" rtlCol="0" anchor="t"/>
          <a:lstStyle/>
          <a:p>
            <a:pPr marL="0" indent="0" algn="l">
              <a:lnSpc>
                <a:spcPts val="2500"/>
              </a:lnSpc>
              <a:buNone/>
            </a:pPr>
            <a:r>
              <a:rPr lang="en-US" sz="2000" dirty="0">
                <a:solidFill>
                  <a:srgbClr val="FBF3FA"/>
                </a:solidFill>
                <a:latin typeface="Fira Mono Medium" pitchFamily="34" charset="0"/>
                <a:ea typeface="Fira Mono Medium" pitchFamily="34" charset="-122"/>
                <a:cs typeface="Fira Mono Medium" pitchFamily="34" charset="-120"/>
              </a:rPr>
              <a:t>Dynamic Content</a:t>
            </a:r>
            <a:endParaRPr lang="en-US" sz="2000" dirty="0"/>
          </a:p>
        </p:txBody>
      </p:sp>
      <p:sp>
        <p:nvSpPr>
          <p:cNvPr id="6" name="Text 3"/>
          <p:cNvSpPr/>
          <p:nvPr/>
        </p:nvSpPr>
        <p:spPr>
          <a:xfrm>
            <a:off x="718066" y="4062532"/>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Personalized greeting: "Hello, mr_ayub"</a:t>
            </a:r>
            <a:endParaRPr lang="en-US" sz="1600" dirty="0"/>
          </a:p>
        </p:txBody>
      </p:sp>
      <p:sp>
        <p:nvSpPr>
          <p:cNvPr id="7" name="Text 4"/>
          <p:cNvSpPr/>
          <p:nvPr/>
        </p:nvSpPr>
        <p:spPr>
          <a:xfrm>
            <a:off x="718066" y="4790599"/>
            <a:ext cx="3603665" cy="328136"/>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Prominent Search Bar</a:t>
            </a:r>
            <a:endParaRPr lang="en-US" sz="1600" dirty="0"/>
          </a:p>
        </p:txBody>
      </p:sp>
      <p:sp>
        <p:nvSpPr>
          <p:cNvPr id="8" name="Text 5"/>
          <p:cNvSpPr/>
          <p:nvPr/>
        </p:nvSpPr>
        <p:spPr>
          <a:xfrm>
            <a:off x="718066" y="5190530"/>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Horizontally scrolling "Featured Jobs" with gradients</a:t>
            </a:r>
            <a:endParaRPr lang="en-US" sz="1600" dirty="0"/>
          </a:p>
        </p:txBody>
      </p:sp>
      <p:sp>
        <p:nvSpPr>
          <p:cNvPr id="9" name="Text 6"/>
          <p:cNvSpPr/>
          <p:nvPr/>
        </p:nvSpPr>
        <p:spPr>
          <a:xfrm>
            <a:off x="718066" y="5918597"/>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Categorized chip list for easy browsing</a:t>
            </a:r>
            <a:endParaRPr lang="en-US" sz="1600" dirty="0"/>
          </a:p>
        </p:txBody>
      </p:sp>
      <p:sp>
        <p:nvSpPr>
          <p:cNvPr id="10" name="Text 7"/>
          <p:cNvSpPr/>
          <p:nvPr/>
        </p:nvSpPr>
        <p:spPr>
          <a:xfrm>
            <a:off x="718066" y="6646664"/>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Row of "Top Companies" logos for quick access</a:t>
            </a:r>
            <a:endParaRPr lang="en-US" sz="1600" dirty="0"/>
          </a:p>
        </p:txBody>
      </p:sp>
      <p:sp>
        <p:nvSpPr>
          <p:cNvPr id="11" name="Text 8"/>
          <p:cNvSpPr/>
          <p:nvPr/>
        </p:nvSpPr>
        <p:spPr>
          <a:xfrm>
            <a:off x="4829889" y="3536871"/>
            <a:ext cx="3603665" cy="641033"/>
          </a:xfrm>
          <a:prstGeom prst="rect">
            <a:avLst/>
          </a:prstGeom>
          <a:noFill/>
          <a:ln/>
        </p:spPr>
        <p:txBody>
          <a:bodyPr wrap="square" lIns="0" tIns="0" rIns="0" bIns="0" rtlCol="0" anchor="t"/>
          <a:lstStyle/>
          <a:p>
            <a:pPr marL="0" indent="0" algn="l">
              <a:lnSpc>
                <a:spcPts val="2500"/>
              </a:lnSpc>
              <a:buNone/>
            </a:pPr>
            <a:r>
              <a:rPr lang="en-US" sz="2000" dirty="0">
                <a:solidFill>
                  <a:srgbClr val="FBF3FA"/>
                </a:solidFill>
                <a:latin typeface="Fira Mono Medium" pitchFamily="34" charset="0"/>
                <a:ea typeface="Fira Mono Medium" pitchFamily="34" charset="-122"/>
                <a:cs typeface="Fira Mono Medium" pitchFamily="34" charset="-120"/>
              </a:rPr>
              <a:t>User Interaction &amp; Layout</a:t>
            </a:r>
            <a:endParaRPr lang="en-US" sz="2000" dirty="0"/>
          </a:p>
        </p:txBody>
      </p:sp>
      <p:sp>
        <p:nvSpPr>
          <p:cNvPr id="12" name="Text 9"/>
          <p:cNvSpPr/>
          <p:nvPr/>
        </p:nvSpPr>
        <p:spPr>
          <a:xfrm>
            <a:off x="4829889" y="4383048"/>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Quickly search for jobs or browse by category.</a:t>
            </a:r>
            <a:endParaRPr lang="en-US" sz="1600" dirty="0"/>
          </a:p>
        </p:txBody>
      </p:sp>
      <p:sp>
        <p:nvSpPr>
          <p:cNvPr id="13" name="Text 10"/>
          <p:cNvSpPr/>
          <p:nvPr/>
        </p:nvSpPr>
        <p:spPr>
          <a:xfrm>
            <a:off x="4829889" y="5111115"/>
            <a:ext cx="3603665" cy="328136"/>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Effortlessly view top employers.</a:t>
            </a:r>
            <a:endParaRPr lang="en-US" sz="1600" dirty="0"/>
          </a:p>
        </p:txBody>
      </p:sp>
      <p:sp>
        <p:nvSpPr>
          <p:cNvPr id="14" name="Text 11"/>
          <p:cNvSpPr/>
          <p:nvPr/>
        </p:nvSpPr>
        <p:spPr>
          <a:xfrm>
            <a:off x="4829889" y="5511046"/>
            <a:ext cx="3603665" cy="65627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Click on featured job cards for detailed information.</a:t>
            </a:r>
            <a:endParaRPr lang="en-US" sz="1600" dirty="0"/>
          </a:p>
        </p:txBody>
      </p:sp>
      <p:sp>
        <p:nvSpPr>
          <p:cNvPr id="15" name="Text 12"/>
          <p:cNvSpPr/>
          <p:nvPr/>
        </p:nvSpPr>
        <p:spPr>
          <a:xfrm>
            <a:off x="4829889" y="6239113"/>
            <a:ext cx="3603665" cy="984409"/>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E0D6DE"/>
                </a:solidFill>
                <a:latin typeface="Fira Sans" pitchFamily="34" charset="0"/>
                <a:ea typeface="Fira Sans" pitchFamily="34" charset="-122"/>
                <a:cs typeface="Fira Sans" pitchFamily="34" charset="-120"/>
              </a:rPr>
              <a:t>Hierarchy prioritizes the Search action, followed by visually engaging featured cards.</a:t>
            </a:r>
            <a:endParaRPr lang="en-US" sz="1600" dirty="0"/>
          </a:p>
        </p:txBody>
      </p:sp>
      <p:sp>
        <p:nvSpPr>
          <p:cNvPr id="16" name="Rectangle 15"/>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37830"/>
          </a:xfrm>
          <a:prstGeom prst="rect">
            <a:avLst/>
          </a:prstGeom>
        </p:spPr>
      </p:pic>
      <p:sp>
        <p:nvSpPr>
          <p:cNvPr id="3" name="Text 0"/>
          <p:cNvSpPr/>
          <p:nvPr/>
        </p:nvSpPr>
        <p:spPr>
          <a:xfrm>
            <a:off x="738545" y="3227546"/>
            <a:ext cx="11076384" cy="659368"/>
          </a:xfrm>
          <a:prstGeom prst="rect">
            <a:avLst/>
          </a:prstGeom>
          <a:noFill/>
          <a:ln/>
        </p:spPr>
        <p:txBody>
          <a:bodyPr wrap="none" lIns="0" tIns="0" rIns="0" bIns="0" rtlCol="0" anchor="t"/>
          <a:lstStyle/>
          <a:p>
            <a:pPr marL="0" indent="0" algn="l">
              <a:lnSpc>
                <a:spcPts val="5150"/>
              </a:lnSpc>
              <a:buNone/>
            </a:pPr>
            <a:r>
              <a:rPr lang="en-US" sz="4150" dirty="0">
                <a:solidFill>
                  <a:srgbClr val="FBF3FA"/>
                </a:solidFill>
                <a:latin typeface="Fira Mono Medium" pitchFamily="34" charset="0"/>
                <a:ea typeface="Fira Mono Medium" pitchFamily="34" charset="-122"/>
                <a:cs typeface="Fira Mono Medium" pitchFamily="34" charset="-120"/>
              </a:rPr>
              <a:t>In-Depth Insights: Job Details View</a:t>
            </a:r>
            <a:endParaRPr lang="en-US" sz="4150" dirty="0"/>
          </a:p>
        </p:txBody>
      </p:sp>
      <p:sp>
        <p:nvSpPr>
          <p:cNvPr id="4" name="Text 1"/>
          <p:cNvSpPr/>
          <p:nvPr/>
        </p:nvSpPr>
        <p:spPr>
          <a:xfrm>
            <a:off x="738545" y="4203383"/>
            <a:ext cx="13153311" cy="337542"/>
          </a:xfrm>
          <a:prstGeom prst="rect">
            <a:avLst/>
          </a:prstGeom>
          <a:noFill/>
          <a:ln/>
        </p:spPr>
        <p:txBody>
          <a:bodyPr wrap="non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Every job opening comes to life with a detailed view, providing all the necessary information to make informed decisions.</a:t>
            </a:r>
            <a:endParaRPr lang="en-US" sz="1650" dirty="0"/>
          </a:p>
        </p:txBody>
      </p:sp>
      <p:sp>
        <p:nvSpPr>
          <p:cNvPr id="5" name="Shape 2"/>
          <p:cNvSpPr/>
          <p:nvPr/>
        </p:nvSpPr>
        <p:spPr>
          <a:xfrm>
            <a:off x="738545" y="4778216"/>
            <a:ext cx="4243745" cy="633055"/>
          </a:xfrm>
          <a:prstGeom prst="roundRect">
            <a:avLst>
              <a:gd name="adj" fmla="val 480024"/>
            </a:avLst>
          </a:prstGeom>
          <a:solidFill>
            <a:srgbClr val="2E2E2F"/>
          </a:solidFill>
          <a:ln/>
        </p:spPr>
      </p:sp>
      <p:sp>
        <p:nvSpPr>
          <p:cNvPr id="6" name="Text 3"/>
          <p:cNvSpPr/>
          <p:nvPr/>
        </p:nvSpPr>
        <p:spPr>
          <a:xfrm>
            <a:off x="2702123" y="4896922"/>
            <a:ext cx="316468" cy="395645"/>
          </a:xfrm>
          <a:prstGeom prst="rect">
            <a:avLst/>
          </a:prstGeom>
          <a:noFill/>
          <a:ln/>
        </p:spPr>
        <p:txBody>
          <a:bodyPr wrap="none" lIns="0" tIns="0" rIns="0" bIns="0" rtlCol="0" anchor="t"/>
          <a:lstStyle/>
          <a:p>
            <a:pPr marL="0" indent="0" algn="l">
              <a:lnSpc>
                <a:spcPts val="2450"/>
              </a:lnSpc>
              <a:buNone/>
            </a:pPr>
            <a:r>
              <a:rPr lang="en-US" sz="2450" dirty="0">
                <a:solidFill>
                  <a:srgbClr val="E0D6DE"/>
                </a:solidFill>
                <a:latin typeface="Fira Mono Medium" pitchFamily="34" charset="0"/>
                <a:ea typeface="Fira Mono Medium" pitchFamily="34" charset="-122"/>
                <a:cs typeface="Fira Mono Medium" pitchFamily="34" charset="-120"/>
              </a:rPr>
              <a:t>1</a:t>
            </a:r>
            <a:endParaRPr lang="en-US" sz="2450" dirty="0"/>
          </a:p>
        </p:txBody>
      </p:sp>
      <p:sp>
        <p:nvSpPr>
          <p:cNvPr id="7" name="Text 4"/>
          <p:cNvSpPr/>
          <p:nvPr/>
        </p:nvSpPr>
        <p:spPr>
          <a:xfrm>
            <a:off x="949523" y="5622250"/>
            <a:ext cx="3481149" cy="329803"/>
          </a:xfrm>
          <a:prstGeom prst="rect">
            <a:avLst/>
          </a:prstGeom>
          <a:noFill/>
          <a:ln/>
        </p:spPr>
        <p:txBody>
          <a:bodyPr wrap="none" lIns="0" tIns="0" rIns="0" bIns="0" rtlCol="0" anchor="t"/>
          <a:lstStyle/>
          <a:p>
            <a:pPr marL="0" indent="0" algn="l">
              <a:lnSpc>
                <a:spcPts val="2550"/>
              </a:lnSpc>
              <a:buNone/>
            </a:pPr>
            <a:r>
              <a:rPr lang="en-US" sz="2050" dirty="0">
                <a:solidFill>
                  <a:srgbClr val="E0D6DE"/>
                </a:solidFill>
                <a:latin typeface="Fira Mono Medium" pitchFamily="34" charset="0"/>
                <a:ea typeface="Fira Mono Medium" pitchFamily="34" charset="-122"/>
                <a:cs typeface="Fira Mono Medium" pitchFamily="34" charset="-120"/>
              </a:rPr>
              <a:t>Comprehensive Overview</a:t>
            </a:r>
            <a:endParaRPr lang="en-US" sz="2050" dirty="0"/>
          </a:p>
        </p:txBody>
      </p:sp>
      <p:sp>
        <p:nvSpPr>
          <p:cNvPr id="8" name="Text 5"/>
          <p:cNvSpPr/>
          <p:nvPr/>
        </p:nvSpPr>
        <p:spPr>
          <a:xfrm>
            <a:off x="949523" y="6078617"/>
            <a:ext cx="3821787" cy="1350169"/>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A header with the company logo (Hormuud) against a branded gradient, followed by key information like Title, Rating, Salary, and Date.</a:t>
            </a:r>
            <a:endParaRPr lang="en-US" sz="1650" dirty="0"/>
          </a:p>
        </p:txBody>
      </p:sp>
      <p:sp>
        <p:nvSpPr>
          <p:cNvPr id="9" name="Shape 6"/>
          <p:cNvSpPr/>
          <p:nvPr/>
        </p:nvSpPr>
        <p:spPr>
          <a:xfrm>
            <a:off x="5193268" y="4778216"/>
            <a:ext cx="4243745" cy="633055"/>
          </a:xfrm>
          <a:prstGeom prst="roundRect">
            <a:avLst>
              <a:gd name="adj" fmla="val 480024"/>
            </a:avLst>
          </a:prstGeom>
          <a:solidFill>
            <a:srgbClr val="2E2E2F"/>
          </a:solidFill>
          <a:ln/>
        </p:spPr>
      </p:sp>
      <p:sp>
        <p:nvSpPr>
          <p:cNvPr id="10" name="Text 7"/>
          <p:cNvSpPr/>
          <p:nvPr/>
        </p:nvSpPr>
        <p:spPr>
          <a:xfrm>
            <a:off x="7156847" y="4896922"/>
            <a:ext cx="316468" cy="395645"/>
          </a:xfrm>
          <a:prstGeom prst="rect">
            <a:avLst/>
          </a:prstGeom>
          <a:noFill/>
          <a:ln/>
        </p:spPr>
        <p:txBody>
          <a:bodyPr wrap="none" lIns="0" tIns="0" rIns="0" bIns="0" rtlCol="0" anchor="t"/>
          <a:lstStyle/>
          <a:p>
            <a:pPr marL="0" indent="0" algn="l">
              <a:lnSpc>
                <a:spcPts val="2450"/>
              </a:lnSpc>
              <a:buNone/>
            </a:pPr>
            <a:r>
              <a:rPr lang="en-US" sz="2450" dirty="0">
                <a:solidFill>
                  <a:srgbClr val="E0D6DE"/>
                </a:solidFill>
                <a:latin typeface="Fira Mono Medium" pitchFamily="34" charset="0"/>
                <a:ea typeface="Fira Mono Medium" pitchFamily="34" charset="-122"/>
                <a:cs typeface="Fira Mono Medium" pitchFamily="34" charset="-120"/>
              </a:rPr>
              <a:t>2</a:t>
            </a:r>
            <a:endParaRPr lang="en-US" sz="2450" dirty="0"/>
          </a:p>
        </p:txBody>
      </p:sp>
      <p:sp>
        <p:nvSpPr>
          <p:cNvPr id="11" name="Text 8"/>
          <p:cNvSpPr/>
          <p:nvPr/>
        </p:nvSpPr>
        <p:spPr>
          <a:xfrm>
            <a:off x="5404247" y="5622250"/>
            <a:ext cx="3164681" cy="329803"/>
          </a:xfrm>
          <a:prstGeom prst="rect">
            <a:avLst/>
          </a:prstGeom>
          <a:noFill/>
          <a:ln/>
        </p:spPr>
        <p:txBody>
          <a:bodyPr wrap="none" lIns="0" tIns="0" rIns="0" bIns="0" rtlCol="0" anchor="t"/>
          <a:lstStyle/>
          <a:p>
            <a:pPr marL="0" indent="0" algn="l">
              <a:lnSpc>
                <a:spcPts val="2550"/>
              </a:lnSpc>
              <a:buNone/>
            </a:pPr>
            <a:r>
              <a:rPr lang="en-US" sz="2050" dirty="0">
                <a:solidFill>
                  <a:srgbClr val="E0D6DE"/>
                </a:solidFill>
                <a:latin typeface="Fira Mono Medium" pitchFamily="34" charset="0"/>
                <a:ea typeface="Fira Mono Medium" pitchFamily="34" charset="-122"/>
                <a:cs typeface="Fira Mono Medium" pitchFamily="34" charset="-120"/>
              </a:rPr>
              <a:t>Detailed Description</a:t>
            </a:r>
            <a:endParaRPr lang="en-US" sz="2050" dirty="0"/>
          </a:p>
        </p:txBody>
      </p:sp>
      <p:sp>
        <p:nvSpPr>
          <p:cNvPr id="12" name="Text 9"/>
          <p:cNvSpPr/>
          <p:nvPr/>
        </p:nvSpPr>
        <p:spPr>
          <a:xfrm>
            <a:off x="5404247" y="6078617"/>
            <a:ext cx="3821787" cy="1012627"/>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A comprehensive text description allows users to fully understand the role's requirements and benefits.</a:t>
            </a:r>
            <a:endParaRPr lang="en-US" sz="1650" dirty="0"/>
          </a:p>
        </p:txBody>
      </p:sp>
      <p:sp>
        <p:nvSpPr>
          <p:cNvPr id="13" name="Shape 10"/>
          <p:cNvSpPr/>
          <p:nvPr/>
        </p:nvSpPr>
        <p:spPr>
          <a:xfrm>
            <a:off x="9647992" y="4778216"/>
            <a:ext cx="4243745" cy="633055"/>
          </a:xfrm>
          <a:prstGeom prst="roundRect">
            <a:avLst>
              <a:gd name="adj" fmla="val 480024"/>
            </a:avLst>
          </a:prstGeom>
          <a:solidFill>
            <a:srgbClr val="2E2E2F"/>
          </a:solidFill>
          <a:ln/>
        </p:spPr>
      </p:sp>
      <p:sp>
        <p:nvSpPr>
          <p:cNvPr id="14" name="Text 11"/>
          <p:cNvSpPr/>
          <p:nvPr/>
        </p:nvSpPr>
        <p:spPr>
          <a:xfrm>
            <a:off x="11611570" y="4896922"/>
            <a:ext cx="316468" cy="395645"/>
          </a:xfrm>
          <a:prstGeom prst="rect">
            <a:avLst/>
          </a:prstGeom>
          <a:noFill/>
          <a:ln/>
        </p:spPr>
        <p:txBody>
          <a:bodyPr wrap="none" lIns="0" tIns="0" rIns="0" bIns="0" rtlCol="0" anchor="t"/>
          <a:lstStyle/>
          <a:p>
            <a:pPr marL="0" indent="0" algn="l">
              <a:lnSpc>
                <a:spcPts val="2450"/>
              </a:lnSpc>
              <a:buNone/>
            </a:pPr>
            <a:r>
              <a:rPr lang="en-US" sz="2450" dirty="0">
                <a:solidFill>
                  <a:srgbClr val="E0D6DE"/>
                </a:solidFill>
                <a:latin typeface="Fira Mono Medium" pitchFamily="34" charset="0"/>
                <a:ea typeface="Fira Mono Medium" pitchFamily="34" charset="-122"/>
                <a:cs typeface="Fira Mono Medium" pitchFamily="34" charset="-120"/>
              </a:rPr>
              <a:t>3</a:t>
            </a:r>
            <a:endParaRPr lang="en-US" sz="2450" dirty="0"/>
          </a:p>
        </p:txBody>
      </p:sp>
      <p:sp>
        <p:nvSpPr>
          <p:cNvPr id="15" name="Text 12"/>
          <p:cNvSpPr/>
          <p:nvPr/>
        </p:nvSpPr>
        <p:spPr>
          <a:xfrm>
            <a:off x="9858970" y="5622250"/>
            <a:ext cx="2637830" cy="329803"/>
          </a:xfrm>
          <a:prstGeom prst="rect">
            <a:avLst/>
          </a:prstGeom>
          <a:noFill/>
          <a:ln/>
        </p:spPr>
        <p:txBody>
          <a:bodyPr wrap="none" lIns="0" tIns="0" rIns="0" bIns="0" rtlCol="0" anchor="t"/>
          <a:lstStyle/>
          <a:p>
            <a:pPr marL="0" indent="0" algn="l">
              <a:lnSpc>
                <a:spcPts val="2550"/>
              </a:lnSpc>
              <a:buNone/>
            </a:pPr>
            <a:r>
              <a:rPr lang="en-US" sz="2050" dirty="0">
                <a:solidFill>
                  <a:srgbClr val="E0D6DE"/>
                </a:solidFill>
                <a:latin typeface="Fira Mono Medium" pitchFamily="34" charset="0"/>
                <a:ea typeface="Fira Mono Medium" pitchFamily="34" charset="-122"/>
                <a:cs typeface="Fira Mono Medium" pitchFamily="34" charset="-120"/>
              </a:rPr>
              <a:t>Call to Action</a:t>
            </a:r>
            <a:endParaRPr lang="en-US" sz="2050" dirty="0"/>
          </a:p>
        </p:txBody>
      </p:sp>
      <p:sp>
        <p:nvSpPr>
          <p:cNvPr id="16" name="Text 13"/>
          <p:cNvSpPr/>
          <p:nvPr/>
        </p:nvSpPr>
        <p:spPr>
          <a:xfrm>
            <a:off x="9858970" y="6078617"/>
            <a:ext cx="3821787" cy="1012627"/>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A fixed "Apply Now" button at the bottom ensures the application process is always prominent and accessible.</a:t>
            </a:r>
            <a:endParaRPr lang="en-US" sz="1650" dirty="0"/>
          </a:p>
        </p:txBody>
      </p:sp>
      <p:sp>
        <p:nvSpPr>
          <p:cNvPr id="17" name="Rectangle 16"/>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280190" y="969288"/>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Tracking Your Journey: Profile &amp; Settings</a:t>
            </a:r>
            <a:endParaRPr lang="en-US" sz="4450" dirty="0"/>
          </a:p>
        </p:txBody>
      </p:sp>
      <p:sp>
        <p:nvSpPr>
          <p:cNvPr id="4" name="Text 1"/>
          <p:cNvSpPr/>
          <p:nvPr/>
        </p:nvSpPr>
        <p:spPr>
          <a:xfrm>
            <a:off x="6280190" y="272700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The Profile &amp; Settings screen offers users a personalized space to manage their job search journey and personal information effectively.</a:t>
            </a:r>
            <a:endParaRPr lang="en-US" sz="1750" dirty="0"/>
          </a:p>
        </p:txBody>
      </p:sp>
      <p:sp>
        <p:nvSpPr>
          <p:cNvPr id="5" name="Text 2"/>
          <p:cNvSpPr/>
          <p:nvPr/>
        </p:nvSpPr>
        <p:spPr>
          <a:xfrm>
            <a:off x="6280190" y="39347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Visible UI</a:t>
            </a:r>
            <a:endParaRPr lang="en-US" sz="2200" dirty="0"/>
          </a:p>
        </p:txBody>
      </p:sp>
      <p:sp>
        <p:nvSpPr>
          <p:cNvPr id="6" name="Text 3"/>
          <p:cNvSpPr/>
          <p:nvPr/>
        </p:nvSpPr>
        <p:spPr>
          <a:xfrm>
            <a:off x="6280190" y="4515922"/>
            <a:ext cx="3501509" cy="254031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A gradient header with the user's avatar and role ("Software Developer"). A dashboard displays key metrics: "24 Applied", "12 Saved", "85 Views". Actionable tiles link to "Edit Profile", "My Resume", and "Settings".</a:t>
            </a:r>
            <a:endParaRPr lang="en-US" sz="1750" dirty="0"/>
          </a:p>
        </p:txBody>
      </p:sp>
      <p:sp>
        <p:nvSpPr>
          <p:cNvPr id="7" name="Text 4"/>
          <p:cNvSpPr/>
          <p:nvPr/>
        </p:nvSpPr>
        <p:spPr>
          <a:xfrm>
            <a:off x="10342721" y="39347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User Action</a:t>
            </a:r>
            <a:endParaRPr lang="en-US" sz="2200" dirty="0"/>
          </a:p>
        </p:txBody>
      </p:sp>
      <p:sp>
        <p:nvSpPr>
          <p:cNvPr id="8" name="Text 5"/>
          <p:cNvSpPr/>
          <p:nvPr/>
        </p:nvSpPr>
        <p:spPr>
          <a:xfrm>
            <a:off x="10342721" y="4515922"/>
            <a:ext cx="3501509"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Users can easily track their job search progress and manage their personal information, keeping their profile up-to-date.</a:t>
            </a:r>
            <a:endParaRPr lang="en-US" sz="1750" dirty="0"/>
          </a:p>
        </p:txBody>
      </p:sp>
      <p:sp>
        <p:nvSpPr>
          <p:cNvPr id="9" name="Rectangle 8"/>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020"/>
            <a:ext cx="3839295" cy="82296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169462" y="794266"/>
            <a:ext cx="7777877" cy="1219676"/>
          </a:xfrm>
          <a:prstGeom prst="rect">
            <a:avLst/>
          </a:prstGeom>
          <a:noFill/>
          <a:ln/>
        </p:spPr>
        <p:txBody>
          <a:bodyPr wrap="square" lIns="0" tIns="0" rIns="0" bIns="0" rtlCol="0" anchor="t"/>
          <a:lstStyle/>
          <a:p>
            <a:pPr marL="0" indent="0" algn="l">
              <a:lnSpc>
                <a:spcPts val="4800"/>
              </a:lnSpc>
              <a:buNone/>
            </a:pPr>
            <a:r>
              <a:rPr lang="en-US" sz="3800" dirty="0">
                <a:solidFill>
                  <a:srgbClr val="FBF3FA"/>
                </a:solidFill>
                <a:latin typeface="Fira Mono Medium" pitchFamily="34" charset="0"/>
                <a:ea typeface="Fira Mono Medium" pitchFamily="34" charset="-122"/>
                <a:cs typeface="Fira Mono Medium" pitchFamily="34" charset="-120"/>
              </a:rPr>
              <a:t>Precision Job Discovery: Search &amp; Filters</a:t>
            </a:r>
            <a:endParaRPr lang="en-US" sz="3800" dirty="0"/>
          </a:p>
        </p:txBody>
      </p:sp>
      <p:sp>
        <p:nvSpPr>
          <p:cNvPr id="4" name="Text 1"/>
          <p:cNvSpPr/>
          <p:nvPr/>
        </p:nvSpPr>
        <p:spPr>
          <a:xfrm>
            <a:off x="6169462" y="2306598"/>
            <a:ext cx="7777877" cy="624364"/>
          </a:xfrm>
          <a:prstGeom prst="rect">
            <a:avLst/>
          </a:prstGeom>
          <a:noFill/>
          <a:ln/>
        </p:spPr>
        <p:txBody>
          <a:bodyPr wrap="square" lIns="0" tIns="0" rIns="0" bIns="0" rtlCol="0" anchor="t"/>
          <a:lstStyle/>
          <a:p>
            <a:pPr marL="0" indent="0" algn="l">
              <a:lnSpc>
                <a:spcPts val="2450"/>
              </a:lnSpc>
              <a:buNone/>
            </a:pPr>
            <a:r>
              <a:rPr lang="en-US" sz="1500" dirty="0">
                <a:solidFill>
                  <a:srgbClr val="E0D6DE"/>
                </a:solidFill>
                <a:latin typeface="Fira Sans" pitchFamily="34" charset="0"/>
                <a:ea typeface="Fira Sans" pitchFamily="34" charset="-122"/>
                <a:cs typeface="Fira Sans" pitchFamily="34" charset="-120"/>
              </a:rPr>
              <a:t>Fursad's robust search and filter capabilities empower users to pinpoint their ideal job opportunities with precision.</a:t>
            </a:r>
            <a:endParaRPr lang="en-US" sz="1500" dirty="0"/>
          </a:p>
        </p:txBody>
      </p:sp>
      <p:sp>
        <p:nvSpPr>
          <p:cNvPr id="5" name="Shape 2"/>
          <p:cNvSpPr/>
          <p:nvPr/>
        </p:nvSpPr>
        <p:spPr>
          <a:xfrm>
            <a:off x="6169462" y="3443168"/>
            <a:ext cx="3791307" cy="2064306"/>
          </a:xfrm>
          <a:prstGeom prst="roundRect">
            <a:avLst>
              <a:gd name="adj" fmla="val 5315"/>
            </a:avLst>
          </a:prstGeom>
          <a:solidFill>
            <a:srgbClr val="0F0F10"/>
          </a:solidFill>
          <a:ln/>
        </p:spPr>
      </p:sp>
      <p:sp>
        <p:nvSpPr>
          <p:cNvPr id="6" name="Shape 3"/>
          <p:cNvSpPr/>
          <p:nvPr/>
        </p:nvSpPr>
        <p:spPr>
          <a:xfrm>
            <a:off x="6169462" y="3420308"/>
            <a:ext cx="3791307" cy="91440"/>
          </a:xfrm>
          <a:prstGeom prst="roundRect">
            <a:avLst>
              <a:gd name="adj" fmla="val 32016"/>
            </a:avLst>
          </a:prstGeom>
          <a:solidFill>
            <a:srgbClr val="FF6BD8"/>
          </a:solidFill>
          <a:ln/>
        </p:spPr>
      </p:sp>
      <p:sp>
        <p:nvSpPr>
          <p:cNvPr id="7" name="Shape 4"/>
          <p:cNvSpPr/>
          <p:nvPr/>
        </p:nvSpPr>
        <p:spPr>
          <a:xfrm>
            <a:off x="7772340" y="3150513"/>
            <a:ext cx="585430" cy="585430"/>
          </a:xfrm>
          <a:prstGeom prst="roundRect">
            <a:avLst>
              <a:gd name="adj" fmla="val 156193"/>
            </a:avLst>
          </a:prstGeom>
          <a:solidFill>
            <a:srgbClr val="FF6BD8"/>
          </a:solidFill>
          <a:ln/>
        </p:spPr>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7947958" y="3326011"/>
            <a:ext cx="234196" cy="234196"/>
          </a:xfrm>
          <a:prstGeom prst="rect">
            <a:avLst/>
          </a:prstGeom>
        </p:spPr>
      </p:pic>
      <p:sp>
        <p:nvSpPr>
          <p:cNvPr id="9" name="Text 5"/>
          <p:cNvSpPr/>
          <p:nvPr/>
        </p:nvSpPr>
        <p:spPr>
          <a:xfrm>
            <a:off x="6387465" y="3930968"/>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0D6DE"/>
                </a:solidFill>
                <a:latin typeface="Fira Mono Medium" pitchFamily="34" charset="0"/>
                <a:ea typeface="Fira Mono Medium" pitchFamily="34" charset="-122"/>
                <a:cs typeface="Fira Mono Medium" pitchFamily="34" charset="-120"/>
              </a:rPr>
              <a:t>Intuitive Search</a:t>
            </a:r>
            <a:endParaRPr lang="en-US" sz="1900" dirty="0"/>
          </a:p>
        </p:txBody>
      </p:sp>
      <p:sp>
        <p:nvSpPr>
          <p:cNvPr id="10" name="Text 6"/>
          <p:cNvSpPr/>
          <p:nvPr/>
        </p:nvSpPr>
        <p:spPr>
          <a:xfrm>
            <a:off x="6387465" y="4352925"/>
            <a:ext cx="3355300" cy="936546"/>
          </a:xfrm>
          <a:prstGeom prst="rect">
            <a:avLst/>
          </a:prstGeom>
          <a:noFill/>
          <a:ln/>
        </p:spPr>
        <p:txBody>
          <a:bodyPr wrap="square" lIns="0" tIns="0" rIns="0" bIns="0" rtlCol="0" anchor="t"/>
          <a:lstStyle/>
          <a:p>
            <a:pPr marL="0" indent="0" algn="l">
              <a:lnSpc>
                <a:spcPts val="2450"/>
              </a:lnSpc>
              <a:buNone/>
            </a:pPr>
            <a:r>
              <a:rPr lang="en-US" sz="1500" dirty="0">
                <a:solidFill>
                  <a:srgbClr val="E0D6DE"/>
                </a:solidFill>
                <a:latin typeface="Fira Sans" pitchFamily="34" charset="0"/>
                <a:ea typeface="Fira Sans" pitchFamily="34" charset="-122"/>
                <a:cs typeface="Fira Sans" pitchFamily="34" charset="-120"/>
              </a:rPr>
              <a:t>A dedicated search interface with a text field at the top for quick entry of keywords.</a:t>
            </a:r>
            <a:endParaRPr lang="en-US" sz="1500" dirty="0"/>
          </a:p>
        </p:txBody>
      </p:sp>
      <p:sp>
        <p:nvSpPr>
          <p:cNvPr id="11" name="Shape 7"/>
          <p:cNvSpPr/>
          <p:nvPr/>
        </p:nvSpPr>
        <p:spPr>
          <a:xfrm>
            <a:off x="10155912" y="3443168"/>
            <a:ext cx="3791426" cy="2064306"/>
          </a:xfrm>
          <a:prstGeom prst="roundRect">
            <a:avLst>
              <a:gd name="adj" fmla="val 5315"/>
            </a:avLst>
          </a:prstGeom>
          <a:solidFill>
            <a:srgbClr val="0F0F10"/>
          </a:solidFill>
          <a:ln/>
        </p:spPr>
      </p:sp>
      <p:sp>
        <p:nvSpPr>
          <p:cNvPr id="12" name="Shape 8"/>
          <p:cNvSpPr/>
          <p:nvPr/>
        </p:nvSpPr>
        <p:spPr>
          <a:xfrm>
            <a:off x="10155912" y="3420308"/>
            <a:ext cx="3791426" cy="91440"/>
          </a:xfrm>
          <a:prstGeom prst="roundRect">
            <a:avLst>
              <a:gd name="adj" fmla="val 32016"/>
            </a:avLst>
          </a:prstGeom>
          <a:solidFill>
            <a:srgbClr val="FF6BD8"/>
          </a:solidFill>
          <a:ln/>
        </p:spPr>
      </p:sp>
      <p:sp>
        <p:nvSpPr>
          <p:cNvPr id="13" name="Shape 9"/>
          <p:cNvSpPr/>
          <p:nvPr/>
        </p:nvSpPr>
        <p:spPr>
          <a:xfrm>
            <a:off x="11758910" y="3150513"/>
            <a:ext cx="585430" cy="585430"/>
          </a:xfrm>
          <a:prstGeom prst="roundRect">
            <a:avLst>
              <a:gd name="adj" fmla="val 156193"/>
            </a:avLst>
          </a:prstGeom>
          <a:solidFill>
            <a:srgbClr val="FF6BD8"/>
          </a:solidFill>
          <a:ln/>
        </p:spPr>
      </p:sp>
      <p:pic>
        <p:nvPicPr>
          <p:cNvPr id="14" name="Image 2"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11934527" y="3326011"/>
            <a:ext cx="234196" cy="234196"/>
          </a:xfrm>
          <a:prstGeom prst="rect">
            <a:avLst/>
          </a:prstGeom>
        </p:spPr>
      </p:pic>
      <p:sp>
        <p:nvSpPr>
          <p:cNvPr id="15" name="Text 10"/>
          <p:cNvSpPr/>
          <p:nvPr/>
        </p:nvSpPr>
        <p:spPr>
          <a:xfrm>
            <a:off x="10373916" y="3930968"/>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0D6DE"/>
                </a:solidFill>
                <a:latin typeface="Fira Mono Medium" pitchFamily="34" charset="0"/>
                <a:ea typeface="Fira Mono Medium" pitchFamily="34" charset="-122"/>
                <a:cs typeface="Fira Mono Medium" pitchFamily="34" charset="-120"/>
              </a:rPr>
              <a:t>Quick Filters</a:t>
            </a:r>
            <a:endParaRPr lang="en-US" sz="1900" dirty="0"/>
          </a:p>
        </p:txBody>
      </p:sp>
      <p:sp>
        <p:nvSpPr>
          <p:cNvPr id="16" name="Text 11"/>
          <p:cNvSpPr/>
          <p:nvPr/>
        </p:nvSpPr>
        <p:spPr>
          <a:xfrm>
            <a:off x="10373916" y="4352925"/>
            <a:ext cx="3355419" cy="936546"/>
          </a:xfrm>
          <a:prstGeom prst="rect">
            <a:avLst/>
          </a:prstGeom>
          <a:noFill/>
          <a:ln/>
        </p:spPr>
        <p:txBody>
          <a:bodyPr wrap="square" lIns="0" tIns="0" rIns="0" bIns="0" rtlCol="0" anchor="t"/>
          <a:lstStyle/>
          <a:p>
            <a:pPr marL="0" indent="0" algn="l">
              <a:lnSpc>
                <a:spcPts val="2450"/>
              </a:lnSpc>
              <a:buNone/>
            </a:pPr>
            <a:r>
              <a:rPr lang="en-US" sz="1500" dirty="0">
                <a:solidFill>
                  <a:srgbClr val="E0D6DE"/>
                </a:solidFill>
                <a:latin typeface="Fira Sans" pitchFamily="34" charset="0"/>
                <a:ea typeface="Fira Sans" pitchFamily="34" charset="-122"/>
                <a:cs typeface="Fira Sans" pitchFamily="34" charset="-120"/>
              </a:rPr>
              <a:t>A row of quick filters for Location, Job Type, and Salary to rapidly narrow down results.</a:t>
            </a:r>
            <a:endParaRPr lang="en-US" sz="1500" dirty="0"/>
          </a:p>
        </p:txBody>
      </p:sp>
      <p:sp>
        <p:nvSpPr>
          <p:cNvPr id="17" name="Shape 12"/>
          <p:cNvSpPr/>
          <p:nvPr/>
        </p:nvSpPr>
        <p:spPr>
          <a:xfrm>
            <a:off x="6169462" y="5995273"/>
            <a:ext cx="7777877" cy="1439942"/>
          </a:xfrm>
          <a:prstGeom prst="roundRect">
            <a:avLst>
              <a:gd name="adj" fmla="val 7620"/>
            </a:avLst>
          </a:prstGeom>
          <a:solidFill>
            <a:srgbClr val="0F0F10"/>
          </a:solidFill>
          <a:ln/>
        </p:spPr>
      </p:sp>
      <p:sp>
        <p:nvSpPr>
          <p:cNvPr id="18" name="Shape 13"/>
          <p:cNvSpPr/>
          <p:nvPr/>
        </p:nvSpPr>
        <p:spPr>
          <a:xfrm>
            <a:off x="6169462" y="5972413"/>
            <a:ext cx="7777877" cy="91440"/>
          </a:xfrm>
          <a:prstGeom prst="roundRect">
            <a:avLst>
              <a:gd name="adj" fmla="val 32016"/>
            </a:avLst>
          </a:prstGeom>
          <a:solidFill>
            <a:srgbClr val="FF6BD8"/>
          </a:solidFill>
          <a:ln/>
        </p:spPr>
      </p:sp>
      <p:sp>
        <p:nvSpPr>
          <p:cNvPr id="19" name="Shape 14"/>
          <p:cNvSpPr/>
          <p:nvPr/>
        </p:nvSpPr>
        <p:spPr>
          <a:xfrm>
            <a:off x="9765685" y="5702618"/>
            <a:ext cx="585430" cy="585430"/>
          </a:xfrm>
          <a:prstGeom prst="roundRect">
            <a:avLst>
              <a:gd name="adj" fmla="val 156193"/>
            </a:avLst>
          </a:prstGeom>
          <a:solidFill>
            <a:srgbClr val="FF6BD8"/>
          </a:solidFill>
          <a:ln/>
        </p:spPr>
      </p:sp>
      <p:pic>
        <p:nvPicPr>
          <p:cNvPr id="20" name="Image 3" descr="preencoded.png"/>
          <p:cNvPicPr>
            <a:picLocks noChangeAspect="1"/>
          </p:cNvPicPr>
          <p:nvPr/>
        </p:nvPicPr>
        <p:blipFill>
          <a:blip r:embed="rId3">
            <a:extLst>
              <a:ext uri="{96DAC541-7B7A-43D3-8B79-37D633B846F1}">
                <asvg:svgBlip xmlns:asvg="http://schemas.microsoft.com/office/drawing/2016/SVG/main" xmlns="" r:embed="rId7"/>
              </a:ext>
            </a:extLst>
          </a:blip>
          <a:stretch>
            <a:fillRect/>
          </a:stretch>
        </p:blipFill>
        <p:spPr>
          <a:xfrm>
            <a:off x="9941302" y="5878116"/>
            <a:ext cx="234196" cy="234196"/>
          </a:xfrm>
          <a:prstGeom prst="rect">
            <a:avLst/>
          </a:prstGeom>
        </p:spPr>
      </p:pic>
      <p:sp>
        <p:nvSpPr>
          <p:cNvPr id="21" name="Text 15"/>
          <p:cNvSpPr/>
          <p:nvPr/>
        </p:nvSpPr>
        <p:spPr>
          <a:xfrm>
            <a:off x="6387465" y="6483072"/>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0D6DE"/>
                </a:solidFill>
                <a:latin typeface="Fira Mono Medium" pitchFamily="34" charset="0"/>
                <a:ea typeface="Fira Mono Medium" pitchFamily="34" charset="-122"/>
                <a:cs typeface="Fira Mono Medium" pitchFamily="34" charset="-120"/>
              </a:rPr>
              <a:t>Matching Results</a:t>
            </a:r>
            <a:endParaRPr lang="en-US" sz="1900" dirty="0"/>
          </a:p>
        </p:txBody>
      </p:sp>
      <p:sp>
        <p:nvSpPr>
          <p:cNvPr id="22" name="Text 16"/>
          <p:cNvSpPr/>
          <p:nvPr/>
        </p:nvSpPr>
        <p:spPr>
          <a:xfrm>
            <a:off x="6387465" y="6905030"/>
            <a:ext cx="7341870" cy="312182"/>
          </a:xfrm>
          <a:prstGeom prst="rect">
            <a:avLst/>
          </a:prstGeom>
          <a:noFill/>
          <a:ln/>
        </p:spPr>
        <p:txBody>
          <a:bodyPr wrap="none" lIns="0" tIns="0" rIns="0" bIns="0" rtlCol="0" anchor="t"/>
          <a:lstStyle/>
          <a:p>
            <a:pPr marL="0" indent="0" algn="l">
              <a:lnSpc>
                <a:spcPts val="2450"/>
              </a:lnSpc>
              <a:buNone/>
            </a:pPr>
            <a:r>
              <a:rPr lang="en-US" sz="1500" dirty="0">
                <a:solidFill>
                  <a:srgbClr val="E0D6DE"/>
                </a:solidFill>
                <a:latin typeface="Fira Sans" pitchFamily="34" charset="0"/>
                <a:ea typeface="Fira Sans" pitchFamily="34" charset="-122"/>
                <a:cs typeface="Fira Sans" pitchFamily="34" charset="-120"/>
              </a:rPr>
              <a:t>The body lists job cards that precisely match the applied search criteria.</a:t>
            </a:r>
            <a:endParaRPr lang="en-US" sz="1500" dirty="0"/>
          </a:p>
        </p:txBody>
      </p:sp>
      <p:sp>
        <p:nvSpPr>
          <p:cNvPr id="23" name="Rectangle 22"/>
          <p:cNvSpPr/>
          <p:nvPr/>
        </p:nvSpPr>
        <p:spPr>
          <a:xfrm>
            <a:off x="12496800" y="7620000"/>
            <a:ext cx="2049517" cy="52551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837" y="0"/>
            <a:ext cx="3839295" cy="8229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4737" y="767715"/>
            <a:ext cx="7634526" cy="1347788"/>
          </a:xfrm>
          <a:prstGeom prst="rect">
            <a:avLst/>
          </a:prstGeom>
          <a:noFill/>
          <a:ln/>
        </p:spPr>
        <p:txBody>
          <a:bodyPr wrap="square" lIns="0" tIns="0" rIns="0" bIns="0" rtlCol="0" anchor="t"/>
          <a:lstStyle/>
          <a:p>
            <a:pPr marL="0" indent="0" algn="l">
              <a:lnSpc>
                <a:spcPts val="5300"/>
              </a:lnSpc>
              <a:buNone/>
            </a:pPr>
            <a:r>
              <a:rPr lang="en-US" sz="4200" dirty="0">
                <a:solidFill>
                  <a:srgbClr val="FBF3FA"/>
                </a:solidFill>
                <a:latin typeface="Fira Mono Medium" pitchFamily="34" charset="0"/>
                <a:ea typeface="Fira Mono Medium" pitchFamily="34" charset="-122"/>
                <a:cs typeface="Fira Mono Medium" pitchFamily="34" charset="-120"/>
              </a:rPr>
              <a:t>The Future is Now: AI Roadmap &amp; Enhancements</a:t>
            </a:r>
            <a:endParaRPr lang="en-US" sz="4200" dirty="0"/>
          </a:p>
        </p:txBody>
      </p:sp>
      <p:sp>
        <p:nvSpPr>
          <p:cNvPr id="4" name="Text 1"/>
          <p:cNvSpPr/>
          <p:nvPr/>
        </p:nvSpPr>
        <p:spPr>
          <a:xfrm>
            <a:off x="754737" y="2438876"/>
            <a:ext cx="7634526" cy="689848"/>
          </a:xfrm>
          <a:prstGeom prst="rect">
            <a:avLst/>
          </a:prstGeom>
          <a:noFill/>
          <a:ln/>
        </p:spPr>
        <p:txBody>
          <a:bodyPr wrap="square" lIns="0" tIns="0" rIns="0" bIns="0" rtlCol="0" anchor="t"/>
          <a:lstStyle/>
          <a:p>
            <a:pPr marL="0" indent="0" algn="l">
              <a:lnSpc>
                <a:spcPts val="2700"/>
              </a:lnSpc>
              <a:buNone/>
            </a:pPr>
            <a:r>
              <a:rPr lang="en-US" sz="1650" dirty="0">
                <a:solidFill>
                  <a:srgbClr val="E0D6DE"/>
                </a:solidFill>
                <a:latin typeface="Fira Sans" pitchFamily="34" charset="0"/>
                <a:ea typeface="Fira Sans" pitchFamily="34" charset="-122"/>
                <a:cs typeface="Fira Sans" pitchFamily="34" charset="-120"/>
              </a:rPr>
              <a:t>Fursad is continuously evolving, with exciting AI-driven features on the horizon to give users an even greater edge in their job search.</a:t>
            </a:r>
            <a:endParaRPr lang="en-US" sz="1650" dirty="0"/>
          </a:p>
        </p:txBody>
      </p:sp>
      <p:sp>
        <p:nvSpPr>
          <p:cNvPr id="5" name="Text 2"/>
          <p:cNvSpPr/>
          <p:nvPr/>
        </p:nvSpPr>
        <p:spPr>
          <a:xfrm>
            <a:off x="754737" y="3586877"/>
            <a:ext cx="2910007" cy="336947"/>
          </a:xfrm>
          <a:prstGeom prst="rect">
            <a:avLst/>
          </a:prstGeom>
          <a:noFill/>
          <a:ln/>
        </p:spPr>
        <p:txBody>
          <a:bodyPr wrap="none" lIns="0" tIns="0" rIns="0" bIns="0" rtlCol="0" anchor="t"/>
          <a:lstStyle/>
          <a:p>
            <a:pPr marL="0" indent="0" algn="l">
              <a:lnSpc>
                <a:spcPts val="2650"/>
              </a:lnSpc>
              <a:buNone/>
            </a:pPr>
            <a:r>
              <a:rPr lang="en-US" sz="2100" dirty="0">
                <a:solidFill>
                  <a:srgbClr val="FBF3FA"/>
                </a:solidFill>
                <a:latin typeface="Fira Mono Medium" pitchFamily="34" charset="0"/>
                <a:ea typeface="Fira Mono Medium" pitchFamily="34" charset="-122"/>
                <a:cs typeface="Fira Mono Medium" pitchFamily="34" charset="-120"/>
              </a:rPr>
              <a:t>AI Resume Analyzer</a:t>
            </a:r>
            <a:endParaRPr lang="en-US" sz="2100" dirty="0"/>
          </a:p>
        </p:txBody>
      </p:sp>
      <p:sp>
        <p:nvSpPr>
          <p:cNvPr id="6" name="Text 3"/>
          <p:cNvSpPr/>
          <p:nvPr/>
        </p:nvSpPr>
        <p:spPr>
          <a:xfrm>
            <a:off x="754737" y="4139446"/>
            <a:ext cx="4370308" cy="2069544"/>
          </a:xfrm>
          <a:prstGeom prst="rect">
            <a:avLst/>
          </a:prstGeom>
          <a:noFill/>
          <a:ln/>
        </p:spPr>
        <p:txBody>
          <a:bodyPr wrap="square" lIns="0" tIns="0" rIns="0" bIns="0" rtlCol="0" anchor="t"/>
          <a:lstStyle/>
          <a:p>
            <a:pPr marL="0" indent="0" algn="l">
              <a:lnSpc>
                <a:spcPts val="2700"/>
              </a:lnSpc>
              <a:buNone/>
            </a:pPr>
            <a:r>
              <a:rPr lang="en-US" sz="1650" dirty="0">
                <a:solidFill>
                  <a:srgbClr val="E0D6DE"/>
                </a:solidFill>
                <a:latin typeface="Fira Sans" pitchFamily="34" charset="0"/>
                <a:ea typeface="Fira Sans" pitchFamily="34" charset="-122"/>
                <a:cs typeface="Fira Sans" pitchFamily="34" charset="-120"/>
              </a:rPr>
              <a:t>A futuristic concept screen showcases an "AI Resume Analyzer" with a large holographic circular progress gauge indicating an "85% Score." An automated checklist provides actionable feedback, such as "Strong Action Verbs."</a:t>
            </a:r>
            <a:endParaRPr lang="en-US" sz="1650" dirty="0"/>
          </a:p>
        </p:txBody>
      </p:sp>
      <p:sp>
        <p:nvSpPr>
          <p:cNvPr id="7" name="Text 4"/>
          <p:cNvSpPr/>
          <p:nvPr/>
        </p:nvSpPr>
        <p:spPr>
          <a:xfrm>
            <a:off x="5658683" y="3586877"/>
            <a:ext cx="2738199" cy="673894"/>
          </a:xfrm>
          <a:prstGeom prst="rect">
            <a:avLst/>
          </a:prstGeom>
          <a:noFill/>
          <a:ln/>
        </p:spPr>
        <p:txBody>
          <a:bodyPr wrap="square" lIns="0" tIns="0" rIns="0" bIns="0" rtlCol="0" anchor="t"/>
          <a:lstStyle/>
          <a:p>
            <a:pPr marL="0" indent="0" algn="l">
              <a:lnSpc>
                <a:spcPts val="2650"/>
              </a:lnSpc>
              <a:buNone/>
            </a:pPr>
            <a:r>
              <a:rPr lang="en-US" sz="2100" dirty="0">
                <a:solidFill>
                  <a:srgbClr val="FBF3FA"/>
                </a:solidFill>
                <a:latin typeface="Fira Mono Medium" pitchFamily="34" charset="0"/>
                <a:ea typeface="Fira Mono Medium" pitchFamily="34" charset="-122"/>
                <a:cs typeface="Fira Mono Medium" pitchFamily="34" charset="-120"/>
              </a:rPr>
              <a:t>Impactful Functionality</a:t>
            </a:r>
            <a:endParaRPr lang="en-US" sz="2100" dirty="0"/>
          </a:p>
        </p:txBody>
      </p:sp>
      <p:sp>
        <p:nvSpPr>
          <p:cNvPr id="8" name="Text 5"/>
          <p:cNvSpPr/>
          <p:nvPr/>
        </p:nvSpPr>
        <p:spPr>
          <a:xfrm>
            <a:off x="5658683" y="4476393"/>
            <a:ext cx="2738199" cy="689848"/>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0D6DE"/>
                </a:solidFill>
                <a:latin typeface="Fira Sans" pitchFamily="34" charset="0"/>
                <a:ea typeface="Fira Sans" pitchFamily="34" charset="-122"/>
                <a:cs typeface="Fira Sans" pitchFamily="34" charset="-120"/>
              </a:rPr>
              <a:t>Upload CVs for instant, AI-driven feedback.</a:t>
            </a:r>
            <a:endParaRPr lang="en-US" sz="1650" dirty="0"/>
          </a:p>
        </p:txBody>
      </p:sp>
      <p:sp>
        <p:nvSpPr>
          <p:cNvPr id="9" name="Text 6"/>
          <p:cNvSpPr/>
          <p:nvPr/>
        </p:nvSpPr>
        <p:spPr>
          <a:xfrm>
            <a:off x="5658683" y="5241607"/>
            <a:ext cx="2738199" cy="103477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0D6DE"/>
                </a:solidFill>
                <a:latin typeface="Fira Sans" pitchFamily="34" charset="0"/>
                <a:ea typeface="Fira Sans" pitchFamily="34" charset="-122"/>
                <a:cs typeface="Fira Sans" pitchFamily="34" charset="-120"/>
              </a:rPr>
              <a:t>Improve hiring chances with targeted suggestions.</a:t>
            </a:r>
            <a:endParaRPr lang="en-US" sz="1650" dirty="0"/>
          </a:p>
        </p:txBody>
      </p:sp>
      <p:sp>
        <p:nvSpPr>
          <p:cNvPr id="10" name="Text 7"/>
          <p:cNvSpPr/>
          <p:nvPr/>
        </p:nvSpPr>
        <p:spPr>
          <a:xfrm>
            <a:off x="5658683" y="6351746"/>
            <a:ext cx="2738199" cy="103477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0D6DE"/>
                </a:solidFill>
                <a:latin typeface="Fira Sans" pitchFamily="34" charset="0"/>
                <a:ea typeface="Fira Sans" pitchFamily="34" charset="-122"/>
                <a:cs typeface="Fira Sans" pitchFamily="34" charset="-120"/>
              </a:rPr>
              <a:t>Cybernetic aesthetic integrates advanced AI tools seamlessly.</a:t>
            </a:r>
            <a:endParaRPr lang="en-US" sz="1650" dirty="0"/>
          </a:p>
        </p:txBody>
      </p:sp>
      <p:sp>
        <p:nvSpPr>
          <p:cNvPr id="11" name="Rectangle 10"/>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5453" y="775454"/>
            <a:ext cx="13099494" cy="1367076"/>
          </a:xfrm>
          <a:prstGeom prst="rect">
            <a:avLst/>
          </a:prstGeom>
          <a:noFill/>
          <a:ln/>
        </p:spPr>
        <p:txBody>
          <a:bodyPr wrap="square" lIns="0" tIns="0" rIns="0" bIns="0" rtlCol="0" anchor="t"/>
          <a:lstStyle/>
          <a:p>
            <a:pPr marL="0" indent="0" algn="l">
              <a:lnSpc>
                <a:spcPts val="5350"/>
              </a:lnSpc>
              <a:buNone/>
            </a:pPr>
            <a:r>
              <a:rPr lang="en-US" sz="4300" dirty="0">
                <a:solidFill>
                  <a:srgbClr val="FBF3FA"/>
                </a:solidFill>
                <a:latin typeface="Fira Mono Medium" pitchFamily="34" charset="0"/>
                <a:ea typeface="Fira Mono Medium" pitchFamily="34" charset="-122"/>
                <a:cs typeface="Fira Mono Medium" pitchFamily="34" charset="-120"/>
              </a:rPr>
              <a:t>The Fursad Advantage: Key Design Principles</a:t>
            </a:r>
            <a:endParaRPr lang="en-US" sz="4300" dirty="0"/>
          </a:p>
        </p:txBody>
      </p:sp>
      <p:sp>
        <p:nvSpPr>
          <p:cNvPr id="3" name="Text 1"/>
          <p:cNvSpPr/>
          <p:nvPr/>
        </p:nvSpPr>
        <p:spPr>
          <a:xfrm>
            <a:off x="1906310" y="3042642"/>
            <a:ext cx="3116461" cy="341709"/>
          </a:xfrm>
          <a:prstGeom prst="rect">
            <a:avLst/>
          </a:prstGeom>
          <a:noFill/>
          <a:ln/>
        </p:spPr>
        <p:txBody>
          <a:bodyPr wrap="none" lIns="0" tIns="0" rIns="0" bIns="0" rtlCol="0" anchor="t"/>
          <a:lstStyle/>
          <a:p>
            <a:pPr marL="0" indent="0" algn="r">
              <a:lnSpc>
                <a:spcPts val="2650"/>
              </a:lnSpc>
              <a:buNone/>
            </a:pPr>
            <a:r>
              <a:rPr lang="en-US" sz="2150" dirty="0">
                <a:solidFill>
                  <a:srgbClr val="E0D6DE"/>
                </a:solidFill>
                <a:latin typeface="Fira Mono Medium" pitchFamily="34" charset="0"/>
                <a:ea typeface="Fira Mono Medium" pitchFamily="34" charset="-122"/>
                <a:cs typeface="Fira Mono Medium" pitchFamily="34" charset="-120"/>
              </a:rPr>
              <a:t>User-Centric Design</a:t>
            </a:r>
            <a:endParaRPr lang="en-US" sz="2150" dirty="0"/>
          </a:p>
        </p:txBody>
      </p:sp>
      <p:sp>
        <p:nvSpPr>
          <p:cNvPr id="4" name="Text 2"/>
          <p:cNvSpPr/>
          <p:nvPr/>
        </p:nvSpPr>
        <p:spPr>
          <a:xfrm>
            <a:off x="765453" y="3515558"/>
            <a:ext cx="4257318" cy="1049774"/>
          </a:xfrm>
          <a:prstGeom prst="rect">
            <a:avLst/>
          </a:prstGeom>
          <a:noFill/>
          <a:ln/>
        </p:spPr>
        <p:txBody>
          <a:bodyPr wrap="square" lIns="0" tIns="0" rIns="0" bIns="0" rtlCol="0" anchor="t"/>
          <a:lstStyle/>
          <a:p>
            <a:pPr marL="0" indent="0" algn="r">
              <a:lnSpc>
                <a:spcPts val="2750"/>
              </a:lnSpc>
              <a:buNone/>
            </a:pPr>
            <a:r>
              <a:rPr lang="en-US" sz="1700" dirty="0">
                <a:solidFill>
                  <a:srgbClr val="E0D6DE"/>
                </a:solidFill>
                <a:latin typeface="Fira Sans" pitchFamily="34" charset="0"/>
                <a:ea typeface="Fira Sans" pitchFamily="34" charset="-122"/>
                <a:cs typeface="Fira Sans" pitchFamily="34" charset="-120"/>
              </a:rPr>
              <a:t>Every feature is crafted with the job seeker in mind, prioritizing ease of use and efficiency.</a:t>
            </a:r>
            <a:endParaRPr lang="en-US" sz="1700" dirty="0"/>
          </a:p>
        </p:txBody>
      </p:sp>
      <p:pic>
        <p:nvPicPr>
          <p:cNvPr id="5" name="Image 0" descr="preencoded.png"/>
          <p:cNvPicPr>
            <a:picLocks noChangeAspect="1"/>
          </p:cNvPicPr>
          <p:nvPr/>
        </p:nvPicPr>
        <p:blipFill>
          <a:blip r:embed="rId3"/>
          <a:stretch>
            <a:fillRect/>
          </a:stretch>
        </p:blipFill>
        <p:spPr>
          <a:xfrm>
            <a:off x="5022771" y="2724626"/>
            <a:ext cx="4584740" cy="4584740"/>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206133" y="4169212"/>
            <a:ext cx="307538" cy="307538"/>
          </a:xfrm>
          <a:prstGeom prst="rect">
            <a:avLst/>
          </a:prstGeom>
        </p:spPr>
      </p:pic>
      <p:sp>
        <p:nvSpPr>
          <p:cNvPr id="7" name="Text 3"/>
          <p:cNvSpPr/>
          <p:nvPr/>
        </p:nvSpPr>
        <p:spPr>
          <a:xfrm>
            <a:off x="9607510" y="2579965"/>
            <a:ext cx="2788444" cy="341709"/>
          </a:xfrm>
          <a:prstGeom prst="rect">
            <a:avLst/>
          </a:prstGeom>
          <a:noFill/>
          <a:ln/>
        </p:spPr>
        <p:txBody>
          <a:bodyPr wrap="none" lIns="0" tIns="0" rIns="0" bIns="0" rtlCol="0" anchor="t"/>
          <a:lstStyle/>
          <a:p>
            <a:pPr marL="0" indent="0" algn="l">
              <a:lnSpc>
                <a:spcPts val="2650"/>
              </a:lnSpc>
              <a:buNone/>
            </a:pPr>
            <a:r>
              <a:rPr lang="en-US" sz="2150" dirty="0">
                <a:solidFill>
                  <a:srgbClr val="E0D6DE"/>
                </a:solidFill>
                <a:latin typeface="Fira Mono Medium" pitchFamily="34" charset="0"/>
                <a:ea typeface="Fira Mono Medium" pitchFamily="34" charset="-122"/>
                <a:cs typeface="Fira Mono Medium" pitchFamily="34" charset="-120"/>
              </a:rPr>
              <a:t>Modern Aesthetics</a:t>
            </a:r>
            <a:endParaRPr lang="en-US" sz="2150" dirty="0"/>
          </a:p>
        </p:txBody>
      </p:sp>
      <p:sp>
        <p:nvSpPr>
          <p:cNvPr id="8" name="Text 4"/>
          <p:cNvSpPr/>
          <p:nvPr/>
        </p:nvSpPr>
        <p:spPr>
          <a:xfrm>
            <a:off x="9607510" y="3052882"/>
            <a:ext cx="4257437" cy="1049774"/>
          </a:xfrm>
          <a:prstGeom prst="rect">
            <a:avLst/>
          </a:prstGeom>
          <a:noFill/>
          <a:ln/>
        </p:spPr>
        <p:txBody>
          <a:bodyPr wrap="square" lIns="0" tIns="0" rIns="0" bIns="0" rtlCol="0" anchor="t"/>
          <a:lstStyle/>
          <a:p>
            <a:pPr marL="0" indent="0" algn="l">
              <a:lnSpc>
                <a:spcPts val="2750"/>
              </a:lnSpc>
              <a:buNone/>
            </a:pPr>
            <a:r>
              <a:rPr lang="en-US" sz="1700" dirty="0">
                <a:solidFill>
                  <a:srgbClr val="E0D6DE"/>
                </a:solidFill>
                <a:latin typeface="Fira Sans" pitchFamily="34" charset="0"/>
                <a:ea typeface="Fira Sans" pitchFamily="34" charset="-122"/>
                <a:cs typeface="Fira Sans" pitchFamily="34" charset="-120"/>
              </a:rPr>
              <a:t>A dark theme with vibrant purple accents creates a sophisticated and engaging visual experience.</a:t>
            </a:r>
            <a:endParaRPr lang="en-US" sz="1700" dirty="0"/>
          </a:p>
        </p:txBody>
      </p:sp>
      <p:pic>
        <p:nvPicPr>
          <p:cNvPr id="9" name="Image 2" descr="preencoded.png"/>
          <p:cNvPicPr>
            <a:picLocks noChangeAspect="1"/>
          </p:cNvPicPr>
          <p:nvPr/>
        </p:nvPicPr>
        <p:blipFill>
          <a:blip r:embed="rId6"/>
          <a:stretch>
            <a:fillRect/>
          </a:stretch>
        </p:blipFill>
        <p:spPr>
          <a:xfrm>
            <a:off x="5022771" y="2724626"/>
            <a:ext cx="4584740" cy="4584740"/>
          </a:xfrm>
          <a:prstGeom prst="rect">
            <a:avLst/>
          </a:prstGeom>
        </p:spPr>
      </p:pic>
      <p:pic>
        <p:nvPicPr>
          <p:cNvPr id="10"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7526060" y="3740348"/>
            <a:ext cx="307538" cy="307538"/>
          </a:xfrm>
          <a:prstGeom prst="rect">
            <a:avLst/>
          </a:prstGeom>
        </p:spPr>
      </p:pic>
      <p:sp>
        <p:nvSpPr>
          <p:cNvPr id="11" name="Text 5"/>
          <p:cNvSpPr/>
          <p:nvPr/>
        </p:nvSpPr>
        <p:spPr>
          <a:xfrm>
            <a:off x="10044946" y="4430673"/>
            <a:ext cx="3116461" cy="341709"/>
          </a:xfrm>
          <a:prstGeom prst="rect">
            <a:avLst/>
          </a:prstGeom>
          <a:noFill/>
          <a:ln/>
        </p:spPr>
        <p:txBody>
          <a:bodyPr wrap="none" lIns="0" tIns="0" rIns="0" bIns="0" rtlCol="0" anchor="t"/>
          <a:lstStyle/>
          <a:p>
            <a:pPr marL="0" indent="0" algn="l">
              <a:lnSpc>
                <a:spcPts val="2650"/>
              </a:lnSpc>
              <a:buNone/>
            </a:pPr>
            <a:r>
              <a:rPr lang="en-US" sz="2150" dirty="0">
                <a:solidFill>
                  <a:srgbClr val="E0D6DE"/>
                </a:solidFill>
                <a:latin typeface="Fira Mono Medium" pitchFamily="34" charset="0"/>
                <a:ea typeface="Fira Mono Medium" pitchFamily="34" charset="-122"/>
                <a:cs typeface="Fira Mono Medium" pitchFamily="34" charset="-120"/>
              </a:rPr>
              <a:t>Clear Communication</a:t>
            </a:r>
            <a:endParaRPr lang="en-US" sz="2150" dirty="0"/>
          </a:p>
        </p:txBody>
      </p:sp>
      <p:sp>
        <p:nvSpPr>
          <p:cNvPr id="12" name="Text 6"/>
          <p:cNvSpPr/>
          <p:nvPr/>
        </p:nvSpPr>
        <p:spPr>
          <a:xfrm>
            <a:off x="10044946" y="4903589"/>
            <a:ext cx="3820001" cy="1049774"/>
          </a:xfrm>
          <a:prstGeom prst="rect">
            <a:avLst/>
          </a:prstGeom>
          <a:noFill/>
          <a:ln/>
        </p:spPr>
        <p:txBody>
          <a:bodyPr wrap="square" lIns="0" tIns="0" rIns="0" bIns="0" rtlCol="0" anchor="t"/>
          <a:lstStyle/>
          <a:p>
            <a:pPr marL="0" indent="0" algn="l">
              <a:lnSpc>
                <a:spcPts val="2750"/>
              </a:lnSpc>
              <a:buNone/>
            </a:pPr>
            <a:r>
              <a:rPr lang="en-US" sz="1700" dirty="0">
                <a:solidFill>
                  <a:srgbClr val="E0D6DE"/>
                </a:solidFill>
                <a:latin typeface="Fira Sans" pitchFamily="34" charset="0"/>
                <a:ea typeface="Fira Sans" pitchFamily="34" charset="-122"/>
                <a:cs typeface="Fira Sans" pitchFamily="34" charset="-120"/>
              </a:rPr>
              <a:t>Concise microcopy and intuitive layouts ensure information is always easy to understand.</a:t>
            </a:r>
            <a:endParaRPr lang="en-US" sz="1700" dirty="0"/>
          </a:p>
        </p:txBody>
      </p:sp>
      <p:pic>
        <p:nvPicPr>
          <p:cNvPr id="13" name="Image 4" descr="preencoded.png"/>
          <p:cNvPicPr>
            <a:picLocks noChangeAspect="1"/>
          </p:cNvPicPr>
          <p:nvPr/>
        </p:nvPicPr>
        <p:blipFill>
          <a:blip r:embed="rId8"/>
          <a:stretch>
            <a:fillRect/>
          </a:stretch>
        </p:blipFill>
        <p:spPr>
          <a:xfrm>
            <a:off x="5022771" y="2724626"/>
            <a:ext cx="4584740" cy="4584740"/>
          </a:xfrm>
          <a:prstGeom prst="rect">
            <a:avLst/>
          </a:prstGeom>
        </p:spPr>
      </p:pic>
      <p:pic>
        <p:nvPicPr>
          <p:cNvPr id="14" name="Image 5"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8341876" y="4863108"/>
            <a:ext cx="307538" cy="307538"/>
          </a:xfrm>
          <a:prstGeom prst="rect">
            <a:avLst/>
          </a:prstGeom>
        </p:spPr>
      </p:pic>
      <p:sp>
        <p:nvSpPr>
          <p:cNvPr id="15" name="Text 7"/>
          <p:cNvSpPr/>
          <p:nvPr/>
        </p:nvSpPr>
        <p:spPr>
          <a:xfrm>
            <a:off x="9607510" y="6281380"/>
            <a:ext cx="3444478" cy="341709"/>
          </a:xfrm>
          <a:prstGeom prst="rect">
            <a:avLst/>
          </a:prstGeom>
          <a:noFill/>
          <a:ln/>
        </p:spPr>
        <p:txBody>
          <a:bodyPr wrap="none" lIns="0" tIns="0" rIns="0" bIns="0" rtlCol="0" anchor="t"/>
          <a:lstStyle/>
          <a:p>
            <a:pPr marL="0" indent="0" algn="l">
              <a:lnSpc>
                <a:spcPts val="2650"/>
              </a:lnSpc>
              <a:buNone/>
            </a:pPr>
            <a:r>
              <a:rPr lang="en-US" sz="2150" dirty="0">
                <a:solidFill>
                  <a:srgbClr val="E0D6DE"/>
                </a:solidFill>
                <a:latin typeface="Fira Mono Medium" pitchFamily="34" charset="0"/>
                <a:ea typeface="Fira Mono Medium" pitchFamily="34" charset="-122"/>
                <a:cs typeface="Fira Mono Medium" pitchFamily="34" charset="-120"/>
              </a:rPr>
              <a:t>Responsive &amp; Adaptive</a:t>
            </a:r>
            <a:endParaRPr lang="en-US" sz="2150" dirty="0"/>
          </a:p>
        </p:txBody>
      </p:sp>
      <p:sp>
        <p:nvSpPr>
          <p:cNvPr id="16" name="Text 8"/>
          <p:cNvSpPr/>
          <p:nvPr/>
        </p:nvSpPr>
        <p:spPr>
          <a:xfrm>
            <a:off x="9607510" y="6754297"/>
            <a:ext cx="4257437" cy="699849"/>
          </a:xfrm>
          <a:prstGeom prst="rect">
            <a:avLst/>
          </a:prstGeom>
          <a:noFill/>
          <a:ln/>
        </p:spPr>
        <p:txBody>
          <a:bodyPr wrap="square" lIns="0" tIns="0" rIns="0" bIns="0" rtlCol="0" anchor="t"/>
          <a:lstStyle/>
          <a:p>
            <a:pPr marL="0" indent="0" algn="l">
              <a:lnSpc>
                <a:spcPts val="2750"/>
              </a:lnSpc>
              <a:buNone/>
            </a:pPr>
            <a:r>
              <a:rPr lang="en-US" sz="1700" dirty="0">
                <a:solidFill>
                  <a:srgbClr val="E0D6DE"/>
                </a:solidFill>
                <a:latin typeface="Fira Sans" pitchFamily="34" charset="0"/>
                <a:ea typeface="Fira Sans" pitchFamily="34" charset="-122"/>
                <a:cs typeface="Fira Sans" pitchFamily="34" charset="-120"/>
              </a:rPr>
              <a:t>The app adapts seamlessly across devices, providing a consistent experience.</a:t>
            </a:r>
            <a:endParaRPr lang="en-US" sz="1700" dirty="0"/>
          </a:p>
        </p:txBody>
      </p:sp>
      <p:pic>
        <p:nvPicPr>
          <p:cNvPr id="17" name="Image 6" descr="preencoded.png"/>
          <p:cNvPicPr>
            <a:picLocks noChangeAspect="1"/>
          </p:cNvPicPr>
          <p:nvPr/>
        </p:nvPicPr>
        <p:blipFill>
          <a:blip r:embed="rId10"/>
          <a:stretch>
            <a:fillRect/>
          </a:stretch>
        </p:blipFill>
        <p:spPr>
          <a:xfrm>
            <a:off x="5022771" y="2724626"/>
            <a:ext cx="4584740" cy="4584740"/>
          </a:xfrm>
          <a:prstGeom prst="rect">
            <a:avLst/>
          </a:prstGeom>
        </p:spPr>
      </p:pic>
      <p:pic>
        <p:nvPicPr>
          <p:cNvPr id="18" name="Image 7" descr="preencoded.png"/>
          <p:cNvPicPr>
            <a:picLocks noChangeAspect="1"/>
          </p:cNvPicPr>
          <p:nvPr/>
        </p:nvPicPr>
        <p:blipFill>
          <a:blip r:embed="rId4">
            <a:extLst>
              <a:ext uri="{96DAC541-7B7A-43D3-8B79-37D633B846F1}">
                <asvg:svgBlip xmlns:asvg="http://schemas.microsoft.com/office/drawing/2016/SVG/main" xmlns="" r:embed="rId12"/>
              </a:ext>
            </a:extLst>
          </a:blip>
          <a:stretch>
            <a:fillRect/>
          </a:stretch>
        </p:blipFill>
        <p:spPr>
          <a:xfrm>
            <a:off x="7526060" y="5985867"/>
            <a:ext cx="307538" cy="307538"/>
          </a:xfrm>
          <a:prstGeom prst="rect">
            <a:avLst/>
          </a:prstGeom>
        </p:spPr>
      </p:pic>
      <p:sp>
        <p:nvSpPr>
          <p:cNvPr id="19" name="Text 9"/>
          <p:cNvSpPr/>
          <p:nvPr/>
        </p:nvSpPr>
        <p:spPr>
          <a:xfrm>
            <a:off x="1906310" y="5818703"/>
            <a:ext cx="3116461" cy="341709"/>
          </a:xfrm>
          <a:prstGeom prst="rect">
            <a:avLst/>
          </a:prstGeom>
          <a:noFill/>
          <a:ln/>
        </p:spPr>
        <p:txBody>
          <a:bodyPr wrap="none" lIns="0" tIns="0" rIns="0" bIns="0" rtlCol="0" anchor="t"/>
          <a:lstStyle/>
          <a:p>
            <a:pPr marL="0" indent="0" algn="r">
              <a:lnSpc>
                <a:spcPts val="2650"/>
              </a:lnSpc>
              <a:buNone/>
            </a:pPr>
            <a:r>
              <a:rPr lang="en-US" sz="2150" dirty="0">
                <a:solidFill>
                  <a:srgbClr val="E0D6DE"/>
                </a:solidFill>
                <a:latin typeface="Fira Mono Medium" pitchFamily="34" charset="0"/>
                <a:ea typeface="Fira Mono Medium" pitchFamily="34" charset="-122"/>
                <a:cs typeface="Fira Mono Medium" pitchFamily="34" charset="-120"/>
              </a:rPr>
              <a:t>Innovative Features</a:t>
            </a:r>
            <a:endParaRPr lang="en-US" sz="2150" dirty="0"/>
          </a:p>
        </p:txBody>
      </p:sp>
      <p:sp>
        <p:nvSpPr>
          <p:cNvPr id="20" name="Text 10"/>
          <p:cNvSpPr/>
          <p:nvPr/>
        </p:nvSpPr>
        <p:spPr>
          <a:xfrm>
            <a:off x="765453" y="6291620"/>
            <a:ext cx="4257318" cy="699849"/>
          </a:xfrm>
          <a:prstGeom prst="rect">
            <a:avLst/>
          </a:prstGeom>
          <a:noFill/>
          <a:ln/>
        </p:spPr>
        <p:txBody>
          <a:bodyPr wrap="square" lIns="0" tIns="0" rIns="0" bIns="0" rtlCol="0" anchor="t"/>
          <a:lstStyle/>
          <a:p>
            <a:pPr marL="0" indent="0" algn="r">
              <a:lnSpc>
                <a:spcPts val="2750"/>
              </a:lnSpc>
              <a:buNone/>
            </a:pPr>
            <a:r>
              <a:rPr lang="en-US" sz="1700" dirty="0">
                <a:solidFill>
                  <a:srgbClr val="E0D6DE"/>
                </a:solidFill>
                <a:latin typeface="Fira Sans" pitchFamily="34" charset="0"/>
                <a:ea typeface="Fira Sans" pitchFamily="34" charset="-122"/>
                <a:cs typeface="Fira Sans" pitchFamily="34" charset="-120"/>
              </a:rPr>
              <a:t>From smart filters to AI tools, Fursad incorporates cutting-edge technology.</a:t>
            </a:r>
            <a:endParaRPr lang="en-US" sz="1700" dirty="0"/>
          </a:p>
        </p:txBody>
      </p:sp>
      <p:pic>
        <p:nvPicPr>
          <p:cNvPr id="21" name="Image 8" descr="preencoded.png"/>
          <p:cNvPicPr>
            <a:picLocks noChangeAspect="1"/>
          </p:cNvPicPr>
          <p:nvPr/>
        </p:nvPicPr>
        <p:blipFill>
          <a:blip r:embed="rId13"/>
          <a:stretch>
            <a:fillRect/>
          </a:stretch>
        </p:blipFill>
        <p:spPr>
          <a:xfrm>
            <a:off x="5022771" y="2724626"/>
            <a:ext cx="4584740" cy="4584740"/>
          </a:xfrm>
          <a:prstGeom prst="rect">
            <a:avLst/>
          </a:prstGeom>
        </p:spPr>
      </p:pic>
      <p:pic>
        <p:nvPicPr>
          <p:cNvPr id="22" name="Image 9" descr="preencoded.png"/>
          <p:cNvPicPr>
            <a:picLocks noChangeAspect="1"/>
          </p:cNvPicPr>
          <p:nvPr/>
        </p:nvPicPr>
        <p:blipFill>
          <a:blip r:embed="rId4">
            <a:extLst>
              <a:ext uri="{96DAC541-7B7A-43D3-8B79-37D633B846F1}">
                <asvg:svgBlip xmlns:asvg="http://schemas.microsoft.com/office/drawing/2016/SVG/main" xmlns="" r:embed="rId15"/>
              </a:ext>
            </a:extLst>
          </a:blip>
          <a:stretch>
            <a:fillRect/>
          </a:stretch>
        </p:blipFill>
        <p:spPr>
          <a:xfrm>
            <a:off x="6206133" y="5557004"/>
            <a:ext cx="307538" cy="307538"/>
          </a:xfrm>
          <a:prstGeom prst="rect">
            <a:avLst/>
          </a:prstGeom>
        </p:spPr>
      </p:pic>
      <p:sp>
        <p:nvSpPr>
          <p:cNvPr id="23" name="Rectangle 22"/>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280190" y="207061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Fursad: Your Partner in Career Growth</a:t>
            </a:r>
            <a:endParaRPr lang="en-US" sz="4450" dirty="0"/>
          </a:p>
        </p:txBody>
      </p:sp>
      <p:sp>
        <p:nvSpPr>
          <p:cNvPr id="4" name="Text 1"/>
          <p:cNvSpPr/>
          <p:nvPr/>
        </p:nvSpPr>
        <p:spPr>
          <a:xfrm>
            <a:off x="6280190" y="3828336"/>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Fursad isn't just an app; it's a comprehensive platform designed to support your entire job search journey, from discovery to application and beyond. We are committed to continuously enhancing the user experience and empowering you to achieve your career aspirations.</a:t>
            </a:r>
            <a:endParaRPr lang="en-US" sz="1750" dirty="0"/>
          </a:p>
        </p:txBody>
      </p:sp>
      <p:pic>
        <p:nvPicPr>
          <p:cNvPr id="6" name="Image 2" descr="preencoded.png">
            <a:hlinkClick r:id="rId3"/>
          </p:cNvPr>
          <p:cNvPicPr>
            <a:picLocks noChangeAspect="1"/>
          </p:cNvPicPr>
          <p:nvPr/>
        </p:nvPicPr>
        <p:blipFill>
          <a:blip r:embed="rId4"/>
          <a:stretch>
            <a:fillRect/>
          </a:stretch>
        </p:blipFill>
        <p:spPr>
          <a:xfrm>
            <a:off x="6280190" y="5514321"/>
            <a:ext cx="1555433" cy="623768"/>
          </a:xfrm>
          <a:prstGeom prst="rect">
            <a:avLst/>
          </a:prstGeom>
        </p:spPr>
      </p:pic>
      <p:sp>
        <p:nvSpPr>
          <p:cNvPr id="7" name="Rectangle 6"/>
          <p:cNvSpPr/>
          <p:nvPr/>
        </p:nvSpPr>
        <p:spPr>
          <a:xfrm>
            <a:off x="12496800" y="7620000"/>
            <a:ext cx="2049517" cy="52551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5"/>
          <a:stretch>
            <a:fillRect/>
          </a:stretch>
        </p:blipFill>
        <p:spPr>
          <a:xfrm>
            <a:off x="-80338" y="-21021"/>
            <a:ext cx="3839295" cy="82296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864</Words>
  <Application>Microsoft Office PowerPoint</Application>
  <PresentationFormat>Custom</PresentationFormat>
  <Paragraphs>86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Fira Mono Medium</vt:lpstr>
      <vt:lpstr>Arial</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Microsoft account</cp:lastModifiedBy>
  <cp:revision>6</cp:revision>
  <dcterms:created xsi:type="dcterms:W3CDTF">2025-12-28T13:23:39Z</dcterms:created>
  <dcterms:modified xsi:type="dcterms:W3CDTF">2025-12-28T14:58:06Z</dcterms:modified>
</cp:coreProperties>
</file>